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
  </p:handoutMasterIdLst>
  <p:sldIdLst>
    <p:sldId id="258" r:id="rId3"/>
    <p:sldId id="259" r:id="rId5"/>
    <p:sldId id="261" r:id="rId6"/>
    <p:sldId id="262" r:id="rId7"/>
    <p:sldId id="263" r:id="rId8"/>
    <p:sldId id="264" r:id="rId9"/>
    <p:sldId id="265" r:id="rId10"/>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未知用户7" initials="未知用户7" lastIdx="1" clrIdx="0"/>
  <p:cmAuthor id="2" name="未知用户8" initials="未知用户8" lastIdx="2" clrIdx="1"/>
  <p:cmAuthor id="3" name="未知用户6" initials="未知用户6" lastIdx="2" clrIdx="1"/>
  <p:cmAuthor id="4" name="gyb1" initials="g" lastIdx="1" clrIdx="2"/>
  <p:cmAuthor id="5" name="作者"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70"/>
        <p:guide pos="3898"/>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下面我带大家简单过一下业务办理流程。</a:t>
            </a:r>
            <a:endParaRPr lang="en-US" altLang="zh-CN" dirty="0"/>
          </a:p>
          <a:p>
            <a:r>
              <a:rPr lang="en-US" altLang="zh-CN" dirty="0"/>
              <a:t>以公开竞价为时间节点，整个业务流程分为三个阶段，竞价前准备工作，竞价当天工作和转让后续事项。竞价前的准备工作主要是为了确保出让方公开、公平、公正地组织竞价活动，力争实现不良贷款处置效益的最大化。转让后的事项是为了保证资产和资金实现顺利交割，对线下业务痕迹进行线上记录，保证了交易的安全性。</a:t>
            </a:r>
            <a:endParaRPr lang="en-US" altLang="zh-CN"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账户开立后，出让方自行完成资产筛选、卖方尽调、转让方案制定及内部审批等准备工作后，便可将拟转让项目通过银登中心业务系统办理资产登记。</a:t>
            </a:r>
            <a:r>
              <a:rPr lang="en-US" altLang="zh-CN" dirty="0">
                <a:sym typeface="+mn-ea"/>
              </a:rPr>
              <a:t>资产登记是不良贷款转让业务的起点，也是确保将试点业务开展情况全面纳入监管视野内的重要环节。我们坚持对转让资产逐笔穿透底层登记，并提供标准要素填写模板及指引，有效保障了转让业务规范透明开展，切实提升了不良市场标准化水平和不良资产处置效率。</a:t>
            </a:r>
            <a:endParaRPr lang="en-US" altLang="zh-CN" dirty="0">
              <a:sym typeface="+mn-ea"/>
            </a:endParaRPr>
          </a:p>
          <a:p>
            <a:endParaRPr lang="en-US" altLang="zh-CN" dirty="0">
              <a:sym typeface="+mn-ea"/>
            </a:endParaRPr>
          </a:p>
          <a:p>
            <a:r>
              <a:rPr lang="zh-CN" altLang="en-US" dirty="0"/>
              <a:t>登记环节可分为预登记和正式登记两个环节。预登记时，</a:t>
            </a:r>
            <a:r>
              <a:rPr lang="en-US" altLang="zh-CN" dirty="0"/>
              <a:t>登记</a:t>
            </a:r>
            <a:r>
              <a:rPr lang="zh-CN" altLang="en-US" dirty="0"/>
              <a:t>录入</a:t>
            </a:r>
            <a:r>
              <a:rPr lang="en-US" altLang="zh-CN" dirty="0"/>
              <a:t>内容包括项目信息、逐笔不良贷款要素信息和相关文本材料</a:t>
            </a:r>
            <a:r>
              <a:rPr lang="zh-CN" altLang="en-US" dirty="0"/>
              <a:t>。</a:t>
            </a:r>
            <a:r>
              <a:rPr lang="en-US" altLang="zh-CN" dirty="0">
                <a:sym typeface="+mn-ea"/>
              </a:rPr>
              <a:t>银登中心将对资产登记信息和材料进行完备性核对，</a:t>
            </a:r>
            <a:r>
              <a:rPr lang="zh-CN" altLang="en-US" dirty="0"/>
              <a:t>反馈核对无误后，机构即可在系统中点击</a:t>
            </a:r>
            <a:r>
              <a:rPr lang="en-US" altLang="zh-CN" dirty="0"/>
              <a:t>“</a:t>
            </a:r>
            <a:r>
              <a:rPr lang="zh-CN" altLang="en-US" dirty="0"/>
              <a:t>提交登记</a:t>
            </a:r>
            <a:r>
              <a:rPr lang="en-US" altLang="zh-CN" dirty="0"/>
              <a:t>”</a:t>
            </a:r>
            <a:r>
              <a:rPr lang="zh-CN" altLang="en-US" dirty="0"/>
              <a:t>，下载自动生成的项目说明书进行用印。</a:t>
            </a:r>
            <a:endParaRPr lang="zh-CN" altLang="en-US" dirty="0"/>
          </a:p>
          <a:p>
            <a:endParaRPr lang="en-US" altLang="zh-CN" dirty="0"/>
          </a:p>
          <a:p>
            <a:r>
              <a:rPr lang="zh-CN" altLang="en-US" dirty="0"/>
              <a:t>正式登记时，</a:t>
            </a:r>
            <a:r>
              <a:rPr lang="en-US" altLang="zh-CN" dirty="0"/>
              <a:t>上传材料包括</a:t>
            </a:r>
            <a:r>
              <a:rPr lang="zh-CN" altLang="en-US" dirty="0"/>
              <a:t>用印版</a:t>
            </a:r>
            <a:r>
              <a:rPr lang="en-US" altLang="zh-CN" dirty="0"/>
              <a:t>项目说明书、内部决策证明、转让协议文本</a:t>
            </a:r>
            <a:r>
              <a:rPr lang="zh-CN" altLang="en-US" dirty="0"/>
              <a:t>、用印版</a:t>
            </a:r>
            <a:r>
              <a:rPr lang="zh-CN" altLang="en-US" dirty="0">
                <a:solidFill>
                  <a:schemeClr val="bg1">
                    <a:lumMod val="50000"/>
                  </a:schemeClr>
                </a:solidFill>
                <a:latin typeface="微软雅黑" panose="020B0503020204020204" charset="-122"/>
                <a:sym typeface="+mn-ea"/>
              </a:rPr>
              <a:t>个人不良贷款分布信息表等</a:t>
            </a:r>
            <a:r>
              <a:rPr lang="en-US" altLang="zh-CN" dirty="0"/>
              <a:t>。银登中心核对通过后配发唯一的项目编号和资产代码。</a:t>
            </a:r>
            <a:endParaRPr lang="en-US" altLang="zh-CN" dirty="0"/>
          </a:p>
          <a:p>
            <a:endParaRPr lang="en-US" altLang="zh-CN" dirty="0"/>
          </a:p>
          <a:p>
            <a:r>
              <a:rPr lang="en-US" altLang="zh-CN" dirty="0"/>
              <a:t>值得一提的是，本次优化升级后的系统支持根据登记信息自动生成项目说明书，将过去格式不太统一的“开放式作文”变成规范标准的“填空题”，有效地减轻了机构手工准备材料的工作量，大大提高了登记业务的办理效率。</a:t>
            </a:r>
            <a:endParaRPr lang="en-US" altLang="zh-CN" dirty="0"/>
          </a:p>
          <a:p>
            <a:endParaRPr lang="en-US" altLang="zh-CN" dirty="0"/>
          </a:p>
          <a:p>
            <a:r>
              <a:rPr lang="zh-CN" altLang="en-US" dirty="0">
                <a:sym typeface="+mn-ea"/>
              </a:rPr>
              <a:t>需要注意的是，考虑到个贷笔数较多，目前文本材料选择</a:t>
            </a:r>
            <a:r>
              <a:rPr lang="en-US" altLang="zh-CN" dirty="0">
                <a:sym typeface="+mn-ea"/>
              </a:rPr>
              <a:t>1</a:t>
            </a:r>
            <a:r>
              <a:rPr lang="zh-CN" altLang="en-US" dirty="0">
                <a:sym typeface="+mn-ea"/>
              </a:rPr>
              <a:t>户</a:t>
            </a:r>
            <a:r>
              <a:rPr lang="zh-CN" altLang="en-US" dirty="0">
                <a:solidFill>
                  <a:schemeClr val="bg1">
                    <a:lumMod val="50000"/>
                  </a:schemeClr>
                </a:solidFill>
                <a:latin typeface="微软雅黑" panose="020B0503020204020204" charset="-122"/>
                <a:sym typeface="+mn-ea"/>
              </a:rPr>
              <a:t>债权、担保和诉讼材料上传即可，同时系统支持使用模板导入功能上传，提醒大家注意对姓名、身份证号、地址等个人敏感信息进行脱敏处理。</a:t>
            </a:r>
            <a:endParaRPr lang="en-US" altLang="zh-CN"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资产登记通过后，出让方便可以将项目进行挂牌公告，需要注意的是，挂牌公告应至少在公开竞价前10个工作日完成。经常做业务的市场机构朋友应该也注意到了，优化升级后的新系统将项目挂牌和转让公告合为一步，转让公告根据项目挂牌信息自动生成，在项目挂牌的同时同步在银登网发布，有效保证了挂牌信息和公告信息的一致性。</a:t>
            </a:r>
            <a:endParaRPr lang="en-US" altLang="zh-CN"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挂牌公告后，受让方就可以通过银登中心官网和业务系统查看出让方发布的挂牌公告信息，并报名截止日前通过银登中心业务系统提交报名申请，报名截止日不得晚于公开竞价前2个工作日。</a:t>
            </a:r>
            <a:endParaRPr lang="en-US" altLang="zh-CN"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报名申请提交后，出让方应至少于公开竞价前1个工作日完成全部合格意向受让方确认。这里要特别提及的是，新系统的意向受让方确认机制更加灵活，支持在公开竞价前逐个和批量确认合格意向受让方，切实降低了出让方的操作风险。此外，如受让方提交材料有误，出让方可在系统中退回并反馈原因，受让方有针对性地修改后可再次报名申请，有效保证了申请材料的准确性和完整性。</a:t>
            </a:r>
            <a:endParaRPr lang="en-US" altLang="zh-CN"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除了合格意向受让方确认之外，公开竞价前出让方还有一个非常重要的工作，那就是——设置保留价。保留价就是项目的成交底价。考虑到保留价的保密性较高，目前系统也做了风险隔离，保证业务全程只有出让方自己知道保留价，银登中心和受让方全程都无法知晓。过去保留价是竞价条件设置的一个要素，不少出让方反映内部对于保留价的知悉范围控制较为严格，需要风险隔离，还有的机构反馈保留价内部决策流程较长，项目挂牌时可能还无法确定，为解决上述问题，我们在新系统中做了优化，将保留价设置改为单独一个功能点，便于机构更加合规、灵活地开展业务。</a:t>
            </a:r>
            <a:br>
              <a:rPr lang="en-US" altLang="zh-CN" dirty="0"/>
            </a:br>
            <a:r>
              <a:rPr lang="en-US" altLang="zh-CN" dirty="0"/>
              <a:t>至此，我们的竞价前的准备工作就完成了。</a:t>
            </a:r>
            <a:endParaRPr lang="en-US" altLang="zh-CN"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竞价成功后，交易双方需要在竞价当天完成竞价结果确认，系统会在结果确认后自动出具结果确认书，作为后续流程的依据。</a:t>
            </a:r>
            <a:endParaRPr lang="en-US" altLang="zh-CN" dirty="0"/>
          </a:p>
          <a:p>
            <a:r>
              <a:rPr lang="en-US" altLang="zh-CN" dirty="0"/>
              <a:t>公开竞价结束后，交易双方原则上应在15个工作日内完成转让协议签署，并在协议签署生效后20个工作日内完成资金支付与档案移交，同时在档案移交后3个工作日内将相关文件上传到银登中心业务系统中并确认，银登中心据此出具业务办结通知书，并发布转让结果公告。至此，一单不良贷款转让业务就完成了。</a:t>
            </a:r>
            <a:endParaRPr lang="en-US" altLang="zh-CN" dirty="0"/>
          </a:p>
          <a:p>
            <a:r>
              <a:rPr lang="en-US" altLang="zh-CN" dirty="0"/>
              <a:t>目前整个业务流程设计，充分参考了现有对公不良贷款批转业务流程，同时符合市场机构的业务习惯，为交易双方保留了一定的灵活性。在业务中，中心仅作为独立第三方平台，不直接参与、不直接干预业务，相当于“足球场上的裁判和边线员”，有效保证业务公开、公平、公正。</a:t>
            </a:r>
            <a:endParaRPr lang="en-US" altLang="zh-CN"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en-GB" altLang="zh-CN" noProof="1"/>
              <a:t>Click to edit Master title style</a:t>
            </a:r>
            <a:endParaRPr lang="zh-CN" altLang="en-US" noProof="1"/>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单击以编辑母版副标题样式</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F48345D-C622-461A-9436-30A11F921A40}" type="slidenum">
              <a:rPr lang="zh-CN" altLang="en-US"/>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noProof="1"/>
              <a:t>Click to edit Master title style</a:t>
            </a:r>
            <a:endParaRPr lang="zh-CN" altLang="en-US" noProof="1"/>
          </a:p>
        </p:txBody>
      </p:sp>
      <p:sp>
        <p:nvSpPr>
          <p:cNvPr id="3" name="内容占位符 2"/>
          <p:cNvSpPr>
            <a:spLocks noGrp="1"/>
          </p:cNvSpPr>
          <p:nvPr>
            <p:ph idx="1" hasCustomPrompt="1"/>
          </p:nvPr>
        </p:nvSpPr>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199A10C-7D58-4DB9-84D4-B670E4E5FA83}" type="slidenum">
              <a:rPr lang="zh-CN" altLang="en-US"/>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en-GB" altLang="zh-CN" noProof="1"/>
              <a:t>Click to edit Master title style</a:t>
            </a:r>
            <a:endParaRPr lang="zh-CN" altLang="en-US" noProof="1"/>
          </a:p>
        </p:txBody>
      </p:sp>
      <p:sp>
        <p:nvSpPr>
          <p:cNvPr id="3" name="文本占位符 2"/>
          <p:cNvSpPr>
            <a:spLocks noGrp="1"/>
          </p:cNvSpPr>
          <p:nvPr>
            <p:ph type="body" idx="1" hasCustomPrompt="1"/>
          </p:nvPr>
        </p:nvSpPr>
        <p:spPr>
          <a:xfrm>
            <a:off x="831851" y="4589465"/>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编辑母版文本样式</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DA86370-3E6A-47A9-B14D-CED45D750444}" type="slidenum">
              <a:rPr lang="zh-CN" altLang="en-US"/>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noProof="1"/>
              <a:t>Click to edit Master title style</a:t>
            </a:r>
            <a:endParaRPr lang="zh-CN" altLang="en-US" noProof="1"/>
          </a:p>
        </p:txBody>
      </p:sp>
      <p:sp>
        <p:nvSpPr>
          <p:cNvPr id="3" name="内容占位符 2"/>
          <p:cNvSpPr>
            <a:spLocks noGrp="1"/>
          </p:cNvSpPr>
          <p:nvPr>
            <p:ph sz="half" idx="1" hasCustomPrompt="1"/>
          </p:nvPr>
        </p:nvSpPr>
        <p:spPr>
          <a:xfrm>
            <a:off x="609600" y="1600202"/>
            <a:ext cx="5384800" cy="4525963"/>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hasCustomPrompt="1"/>
          </p:nvPr>
        </p:nvSpPr>
        <p:spPr>
          <a:xfrm>
            <a:off x="6197600" y="1600202"/>
            <a:ext cx="5384800" cy="4525963"/>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643F080-0047-4271-AB79-4F94C6F2F542}" type="slidenum">
              <a:rPr lang="zh-CN" altLang="en-US"/>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7"/>
            <a:ext cx="10515600" cy="1325563"/>
          </a:xfrm>
        </p:spPr>
        <p:txBody>
          <a:bodyPr/>
          <a:lstStyle/>
          <a:p>
            <a:r>
              <a:rPr lang="en-GB" altLang="zh-CN" noProof="1"/>
              <a:t>Click to edit Master title style</a:t>
            </a:r>
            <a:endParaRPr lang="zh-CN" altLang="en-US" noProof="1"/>
          </a:p>
        </p:txBody>
      </p:sp>
      <p:sp>
        <p:nvSpPr>
          <p:cNvPr id="3" name="文本占位符 2"/>
          <p:cNvSpPr>
            <a:spLocks noGrp="1"/>
          </p:cNvSpPr>
          <p:nvPr>
            <p:ph type="body" idx="1" hasCustomPrompt="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endParaRPr lang="zh-CN" altLang="en-US" noProof="1"/>
          </a:p>
        </p:txBody>
      </p:sp>
      <p:sp>
        <p:nvSpPr>
          <p:cNvPr id="4" name="内容占位符 3"/>
          <p:cNvSpPr>
            <a:spLocks noGrp="1"/>
          </p:cNvSpPr>
          <p:nvPr>
            <p:ph sz="half" idx="2" hasCustomPrompt="1"/>
          </p:nvPr>
        </p:nvSpPr>
        <p:spPr>
          <a:xfrm>
            <a:off x="840318" y="2505075"/>
            <a:ext cx="5158316" cy="368458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hasCustomPrompt="1"/>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编辑母版文本样式</a:t>
            </a:r>
            <a:endParaRPr lang="zh-CN" altLang="en-US" noProof="1"/>
          </a:p>
        </p:txBody>
      </p:sp>
      <p:sp>
        <p:nvSpPr>
          <p:cNvPr id="6" name="内容占位符 5"/>
          <p:cNvSpPr>
            <a:spLocks noGrp="1"/>
          </p:cNvSpPr>
          <p:nvPr>
            <p:ph sz="quarter" idx="4" hasCustomPrompt="1"/>
          </p:nvPr>
        </p:nvSpPr>
        <p:spPr>
          <a:xfrm>
            <a:off x="6172200" y="2505075"/>
            <a:ext cx="5183717" cy="3684588"/>
          </a:xfrm>
        </p:spPr>
        <p:txBody>
          <a:body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Rectangle 4"/>
          <p:cNvSpPr>
            <a:spLocks noGrp="1" noChangeArrowheads="1"/>
          </p:cNvSpPr>
          <p:nvPr>
            <p:ph type="dt" sz="half" idx="10"/>
          </p:nvPr>
        </p:nvSpPr>
        <p:spPr/>
        <p:txBody>
          <a:bodyPr/>
          <a:lstStyle>
            <a:lvl1pPr>
              <a:defRPr/>
            </a:lvl1pPr>
          </a:lstStyle>
          <a:p>
            <a:pPr>
              <a:defRPr/>
            </a:pPr>
            <a:endParaRPr lang="zh-CN" altLang="en-US"/>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4A71B4B6-B216-4FE6-ABCE-2E8D5BF7FD9C}" type="slidenum">
              <a:rPr lang="zh-CN" altLang="en-US"/>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noProof="1"/>
              <a:t>Click to edit Master title style</a:t>
            </a:r>
            <a:endParaRPr lang="zh-CN" altLang="en-US" noProof="1"/>
          </a:p>
        </p:txBody>
      </p:sp>
      <p:sp>
        <p:nvSpPr>
          <p:cNvPr id="3" name="Rectangle 4"/>
          <p:cNvSpPr>
            <a:spLocks noGrp="1" noChangeArrowheads="1"/>
          </p:cNvSpPr>
          <p:nvPr>
            <p:ph type="dt" sz="half" idx="10"/>
          </p:nvPr>
        </p:nvSpPr>
        <p:spPr/>
        <p:txBody>
          <a:bodyPr/>
          <a:lstStyle>
            <a:lvl1pPr>
              <a:defRPr/>
            </a:lvl1pPr>
          </a:lstStyle>
          <a:p>
            <a:pPr>
              <a:defRPr/>
            </a:pPr>
            <a:endParaRPr lang="zh-CN" altLang="en-US"/>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ADCBAB48-D4ED-4399-AEC4-72C68795DAEB}" type="slidenum">
              <a:rPr lang="zh-CN" altLang="en-US"/>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zh-CN" altLang="en-US"/>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4C61B9DA-15B5-421C-AD6C-F638937EF1A1}" type="slidenum">
              <a:rPr lang="zh-CN" altLang="en-US"/>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en-GB" altLang="zh-CN" noProof="1"/>
              <a:t>Click to edit Master title style</a:t>
            </a:r>
            <a:endParaRPr lang="zh-CN" altLang="en-US" noProof="1"/>
          </a:p>
        </p:txBody>
      </p:sp>
      <p:sp>
        <p:nvSpPr>
          <p:cNvPr id="3" name="内容占位符 2"/>
          <p:cNvSpPr>
            <a:spLocks noGrp="1"/>
          </p:cNvSpPr>
          <p:nvPr>
            <p:ph idx="1" hasCustomPrompt="1"/>
          </p:nvPr>
        </p:nvSpPr>
        <p:spPr>
          <a:xfrm>
            <a:off x="5183717"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hasCustomPrompt="1"/>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235C9C1-719C-4C44-A505-002108181AC6}" type="slidenum">
              <a:rPr lang="zh-CN" altLang="en-US"/>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en-GB" altLang="zh-CN" noProof="1"/>
              <a:t>Click to edit Master title style</a:t>
            </a:r>
            <a:endParaRPr lang="zh-CN" altLang="en-US" noProof="1"/>
          </a:p>
        </p:txBody>
      </p:sp>
      <p:sp>
        <p:nvSpPr>
          <p:cNvPr id="3" name="图片占位符 2"/>
          <p:cNvSpPr>
            <a:spLocks noGrp="1"/>
          </p:cNvSpPr>
          <p:nvPr>
            <p:ph type="pic" idx="1"/>
          </p:nvPr>
        </p:nvSpPr>
        <p:spPr>
          <a:xfrm>
            <a:off x="5183717"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altLang="zh-CN" noProof="0"/>
              <a:t>Click icon to add picture</a:t>
            </a:r>
            <a:endParaRPr lang="zh-CN" altLang="en-US" noProof="0"/>
          </a:p>
        </p:txBody>
      </p:sp>
      <p:sp>
        <p:nvSpPr>
          <p:cNvPr id="4" name="文本占位符 3"/>
          <p:cNvSpPr>
            <a:spLocks noGrp="1"/>
          </p:cNvSpPr>
          <p:nvPr>
            <p:ph type="body" sz="half" idx="2" hasCustomPrompt="1"/>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编辑母版文本样式</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zh-CN" altLang="en-US"/>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E9A8836-93E5-4DE3-B387-85CB13069A63}" type="slidenum">
              <a:rPr lang="zh-CN" altLang="en-US"/>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GB" altLang="zh-CN" noProof="1"/>
              <a:t>Click to edit Master title style</a:t>
            </a:r>
            <a:endParaRPr lang="zh-CN" altLang="en-US" noProof="1"/>
          </a:p>
        </p:txBody>
      </p:sp>
      <p:sp>
        <p:nvSpPr>
          <p:cNvPr id="3" name="竖排文字占位符 2"/>
          <p:cNvSpPr>
            <a:spLocks noGrp="1"/>
          </p:cNvSpPr>
          <p:nvPr>
            <p:ph type="body" orient="vert" idx="1" hasCustomPrompt="1"/>
          </p:nvPr>
        </p:nvSpPr>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B36CB21-D9CB-4226-B1FF-970C98823355}" type="slidenum">
              <a:rPr lang="zh-CN" altLang="en-US"/>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en-GB" altLang="zh-CN" noProof="1"/>
              <a:t>Click to edit Master title style</a:t>
            </a:r>
            <a:endParaRPr lang="zh-CN" altLang="en-US" noProof="1"/>
          </a:p>
        </p:txBody>
      </p:sp>
      <p:sp>
        <p:nvSpPr>
          <p:cNvPr id="3" name="竖排文字占位符 2"/>
          <p:cNvSpPr>
            <a:spLocks noGrp="1"/>
          </p:cNvSpPr>
          <p:nvPr>
            <p:ph type="body" orient="vert" idx="1" hasCustomPrompt="1"/>
          </p:nvPr>
        </p:nvSpPr>
        <p:spPr>
          <a:xfrm>
            <a:off x="609600" y="274640"/>
            <a:ext cx="8026400" cy="5851525"/>
          </a:xfrm>
        </p:spPr>
        <p:txBody>
          <a:bodyPr vert="eaVert"/>
          <a:lstStyle/>
          <a:p>
            <a:pPr lvl="0"/>
            <a:r>
              <a:rPr lang="zh-CN" altLang="en-US" noProof="1"/>
              <a:t>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zh-CN" altLang="en-US"/>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403AF89-6E3E-4002-8DD8-888DDC80F50C}" type="slidenum">
              <a:rPr lang="zh-CN" altLang="en-US"/>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章节2">
    <p:bg>
      <p:bgPr>
        <a:solidFill>
          <a:schemeClr val="bg1"/>
        </a:solidFill>
        <a:effectLst/>
      </p:bgPr>
    </p:bg>
    <p:spTree>
      <p:nvGrpSpPr>
        <p:cNvPr id="1" name=""/>
        <p:cNvGrpSpPr/>
        <p:nvPr/>
      </p:nvGrpSpPr>
      <p:grpSpPr>
        <a:xfrm>
          <a:off x="0" y="0"/>
          <a:ext cx="0" cy="0"/>
          <a:chOff x="0" y="0"/>
          <a:chExt cx="0" cy="0"/>
        </a:xfrm>
      </p:grpSpPr>
      <p:sp>
        <p:nvSpPr>
          <p:cNvPr id="8" name="日期占位符 5"/>
          <p:cNvSpPr>
            <a:spLocks noGrp="1"/>
          </p:cNvSpPr>
          <p:nvPr>
            <p:ph type="dt" sz="half" idx="2"/>
          </p:nvPr>
        </p:nvSpPr>
        <p:spPr bwMode="auto">
          <a:xfrm>
            <a:off x="609600" y="6245225"/>
            <a:ext cx="2844800" cy="476250"/>
          </a:xfrm>
          <a:prstGeom prst="rect">
            <a:avLst/>
          </a:prstGeom>
          <a:noFill/>
          <a:ln>
            <a:noFill/>
          </a:ln>
        </p:spPr>
        <p:txBody>
          <a:bodyPr vert="horz" wrap="square" lIns="91440" tIns="45720" rIns="91440" bIns="45720" numCol="1" anchor="t" anchorCtr="0" compatLnSpc="1"/>
          <a:lstStyle>
            <a:lvl1pPr>
              <a:defRPr/>
            </a:lvl1pPr>
          </a:lstStyle>
          <a:p>
            <a:pPr marL="0" marR="0" indent="0" algn="l" defTabSz="914400" rtl="0" fontAlgn="base" latinLnBrk="0">
              <a:lnSpc>
                <a:spcPct val="100000"/>
              </a:lnSpc>
              <a:spcBef>
                <a:spcPct val="0"/>
              </a:spcBef>
              <a:spcAft>
                <a:spcPct val="0"/>
              </a:spcAft>
              <a:buClrTx/>
              <a:buSzTx/>
              <a:buFont typeface="Arial" panose="020B0604020202020204" pitchFamily="34" charset="0"/>
              <a:buNone/>
              <a:defRPr/>
            </a:pPr>
            <a:endParaRPr kumimoji="0" lang="zh-CN" altLang="en-US" b="0" i="0" kern="1200" cap="none" spc="0" normalizeH="0" baseline="0" noProof="1">
              <a:latin typeface="Arial" panose="020B0604020202020204" pitchFamily="34" charset="0"/>
              <a:ea typeface="宋体" panose="02010600030101010101" pitchFamily="2" charset="-122"/>
              <a:cs typeface="+mn-cs"/>
            </a:endParaRPr>
          </a:p>
        </p:txBody>
      </p:sp>
      <p:sp>
        <p:nvSpPr>
          <p:cNvPr id="9" name="页脚占位符 6"/>
          <p:cNvSpPr>
            <a:spLocks noGrp="1"/>
          </p:cNvSpPr>
          <p:nvPr>
            <p:ph type="ftr" sz="quarter" idx="3"/>
          </p:nvPr>
        </p:nvSpPr>
        <p:spPr bwMode="auto">
          <a:xfrm>
            <a:off x="4165600" y="6245225"/>
            <a:ext cx="3860800" cy="476250"/>
          </a:xfrm>
          <a:prstGeom prst="rect">
            <a:avLst/>
          </a:prstGeom>
          <a:noFill/>
          <a:ln>
            <a:noFill/>
          </a:ln>
        </p:spPr>
        <p:txBody>
          <a:bodyPr vert="horz" wrap="square" lIns="91440" tIns="45720" rIns="91440" bIns="45720" numCol="1" anchor="t" anchorCtr="0" compatLnSpc="1"/>
          <a:lstStyle>
            <a:lvl1pPr>
              <a:defRPr/>
            </a:lvl1pPr>
          </a:lstStyle>
          <a:p>
            <a:pPr marL="0" marR="0" indent="0" defTabSz="914400" rtl="0" fontAlgn="base" latinLnBrk="0">
              <a:lnSpc>
                <a:spcPct val="100000"/>
              </a:lnSpc>
              <a:spcBef>
                <a:spcPct val="0"/>
              </a:spcBef>
              <a:spcAft>
                <a:spcPct val="0"/>
              </a:spcAft>
              <a:buClrTx/>
              <a:buSzTx/>
              <a:buFont typeface="Arial" panose="020B0604020202020204" pitchFamily="34" charset="0"/>
              <a:buNone/>
              <a:defRPr/>
            </a:pPr>
            <a:endParaRPr kumimoji="0" lang="en-US" altLang="zh-CN" b="0" i="0" kern="1200" cap="none" spc="0" normalizeH="0" baseline="0" noProof="1">
              <a:latin typeface="Arial" panose="020B0604020202020204" pitchFamily="34" charset="0"/>
              <a:ea typeface="宋体" panose="02010600030101010101" pitchFamily="2" charset="-122"/>
              <a:cs typeface="+mn-cs"/>
            </a:endParaRPr>
          </a:p>
        </p:txBody>
      </p:sp>
      <p:sp>
        <p:nvSpPr>
          <p:cNvPr id="10" name="灯片编号占位符 7"/>
          <p:cNvSpPr>
            <a:spLocks noGrp="1"/>
          </p:cNvSpPr>
          <p:nvPr>
            <p:ph type="sldNum" sz="quarter" idx="4"/>
          </p:nvPr>
        </p:nvSpPr>
        <p:spPr bwMode="auto">
          <a:xfrm>
            <a:off x="8737600" y="6245225"/>
            <a:ext cx="2844800" cy="476250"/>
          </a:xfrm>
          <a:prstGeom prst="rect">
            <a:avLst/>
          </a:prstGeom>
          <a:noFill/>
          <a:ln>
            <a:noFill/>
          </a:ln>
        </p:spPr>
        <p:txBody>
          <a:bodyPr vert="horz" wrap="square" lIns="91440" tIns="45720" rIns="91440" bIns="45720" numCol="1" anchor="t" anchorCtr="0" compatLnSpc="1"/>
          <a:lstStyle/>
          <a:p>
            <a:pPr algn="r" fontAlgn="base"/>
            <a:fld id="{9A0DB2DC-4C9A-4742-B13C-FB6460FD3503}" type="slidenum">
              <a:rPr lang="zh-CN" altLang="en-US" sz="1400" noProof="1" dirty="0">
                <a:solidFill>
                  <a:srgbClr val="000000"/>
                </a:solidFill>
                <a:latin typeface="Arial" panose="020B0604020202020204" pitchFamily="34" charset="0"/>
                <a:ea typeface="宋体" panose="02010600030101010101" pitchFamily="2" charset="-122"/>
                <a:cs typeface="+mn-ea"/>
              </a:rPr>
            </a:fld>
            <a:endParaRPr lang="en-US" altLang="zh-CN" sz="1400" noProof="1">
              <a:solidFill>
                <a:srgbClr val="000000"/>
              </a:solidFill>
            </a:endParaRPr>
          </a:p>
        </p:txBody>
      </p:sp>
      <p:sp>
        <p:nvSpPr>
          <p:cNvPr id="13" name="矩形 12"/>
          <p:cNvSpPr>
            <a:spLocks noChangeArrowheads="1"/>
          </p:cNvSpPr>
          <p:nvPr userDrawn="1"/>
        </p:nvSpPr>
        <p:spPr bwMode="auto">
          <a:xfrm>
            <a:off x="336080" y="405042"/>
            <a:ext cx="6681788" cy="48323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kumimoji="0" lang="zh-CN" altLang="en-US" sz="2400" b="1" i="0" u="none" strike="noStrike" kern="1200" cap="none" spc="0" normalizeH="0" baseline="0" noProof="0" dirty="0">
                <a:ln>
                  <a:noFill/>
                </a:ln>
                <a:solidFill>
                  <a:srgbClr val="2E5B98"/>
                </a:solidFill>
                <a:effectLst/>
                <a:uLnTx/>
                <a:uFillTx/>
                <a:latin typeface="微软雅黑" panose="020B0503020204020204" charset="-122"/>
                <a:ea typeface="微软雅黑" panose="020B0503020204020204" charset="-122"/>
                <a:cs typeface="+mn-cs"/>
              </a:rPr>
              <a:t>一、</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不良贷款转让业务流程</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7_章节1">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737600" y="6245225"/>
            <a:ext cx="2844800" cy="476250"/>
          </a:xfrm>
        </p:spPr>
        <p:txBody>
          <a:bodyPr/>
          <a:lstStyle>
            <a:lvl1pPr>
              <a:defRPr lang="zh-CN" altLang="en-US" sz="1400" smtClean="0">
                <a:solidFill>
                  <a:srgbClr val="000000"/>
                </a:solidFill>
                <a:latin typeface="微软雅黑" panose="020B0503020204020204" charset="-122"/>
                <a:ea typeface="微软雅黑" panose="020B0503020204020204" charset="-122"/>
                <a:cs typeface="+mn-cs"/>
              </a:defRPr>
            </a:lvl1pPr>
          </a:lstStyle>
          <a:p>
            <a:pPr algn="r" rtl="0" eaLnBrk="1" hangingPunct="1"/>
            <a:fld id="{6D7CE8E4-7496-4C30-8EED-C0E487906FD6}" type="slidenum">
              <a:rPr lang="en-US" altLang="zh-CN" smtClean="0"/>
            </a:fld>
            <a:endParaRPr lang="en-US" dirty="0"/>
          </a:p>
        </p:txBody>
      </p:sp>
      <p:pic>
        <p:nvPicPr>
          <p:cNvPr id="13" name="图片 12" descr="背景"/>
          <p:cNvPicPr>
            <a:picLocks noChangeAspect="1"/>
          </p:cNvPicPr>
          <p:nvPr userDrawn="1"/>
        </p:nvPicPr>
        <p:blipFill>
          <a:blip r:embed="rId2"/>
          <a:stretch>
            <a:fillRect/>
          </a:stretch>
        </p:blipFill>
        <p:spPr>
          <a:xfrm>
            <a:off x="45085" y="1315085"/>
            <a:ext cx="12090400" cy="5259070"/>
          </a:xfrm>
          <a:prstGeom prst="rect">
            <a:avLst/>
          </a:prstGeom>
          <a:noFill/>
        </p:spPr>
      </p:pic>
      <p:sp>
        <p:nvSpPr>
          <p:cNvPr id="2" name="矩形 1"/>
          <p:cNvSpPr>
            <a:spLocks noChangeArrowheads="1"/>
          </p:cNvSpPr>
          <p:nvPr userDrawn="1"/>
        </p:nvSpPr>
        <p:spPr bwMode="auto">
          <a:xfrm>
            <a:off x="336080" y="405042"/>
            <a:ext cx="6681788" cy="84899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二、不良贷款转让业务流程</a:t>
            </a:r>
            <a:r>
              <a:rPr lang="en-US" altLang="zh-CN" sz="2400" b="1" noProof="0" dirty="0">
                <a:ln>
                  <a:noFill/>
                </a:ln>
                <a:solidFill>
                  <a:srgbClr val="2E5B98"/>
                </a:solidFill>
                <a:uLnTx/>
                <a:uFillTx/>
                <a:latin typeface="微软雅黑" panose="020B0503020204020204" charset="-122"/>
                <a:ea typeface="微软雅黑" panose="020B0503020204020204" charset="-122"/>
                <a:sym typeface="+mn-ea"/>
              </a:rPr>
              <a:t>-</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资产登记</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sym typeface="+mn-ea"/>
            </a:endParaRPr>
          </a:p>
          <a:p>
            <a:pPr marL="0" marR="0" lvl="0" algn="l" defTabSz="914400" rtl="0" eaLnBrk="0" fontAlgn="base" latinLnBrk="0" hangingPunct="0">
              <a:lnSpc>
                <a:spcPct val="100000"/>
              </a:lnSpc>
              <a:buClrTx/>
              <a:buSzTx/>
              <a:buFont typeface="Arial" panose="020B0604020202020204" pitchFamily="34" charset="0"/>
              <a:buNone/>
              <a:defRPr/>
            </a:pP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章节1">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737600" y="6245225"/>
            <a:ext cx="2844800" cy="476250"/>
          </a:xfrm>
        </p:spPr>
        <p:txBody>
          <a:bodyPr/>
          <a:lstStyle>
            <a:lvl1pPr>
              <a:defRPr lang="zh-CN" altLang="en-US" sz="1400" smtClean="0">
                <a:solidFill>
                  <a:srgbClr val="000000"/>
                </a:solidFill>
                <a:latin typeface="微软雅黑" panose="020B0503020204020204" charset="-122"/>
                <a:ea typeface="微软雅黑" panose="020B0503020204020204" charset="-122"/>
                <a:cs typeface="+mn-cs"/>
              </a:defRPr>
            </a:lvl1pPr>
          </a:lstStyle>
          <a:p>
            <a:pPr algn="r" rtl="0" eaLnBrk="1" hangingPunct="1"/>
            <a:fld id="{6D7CE8E4-7496-4C30-8EED-C0E487906FD6}" type="slidenum">
              <a:rPr lang="en-US" altLang="zh-CN" smtClean="0"/>
            </a:fld>
            <a:endParaRPr lang="en-US" dirty="0"/>
          </a:p>
        </p:txBody>
      </p:sp>
      <p:pic>
        <p:nvPicPr>
          <p:cNvPr id="13" name="图片 12" descr="背景"/>
          <p:cNvPicPr>
            <a:picLocks noChangeAspect="1"/>
          </p:cNvPicPr>
          <p:nvPr userDrawn="1"/>
        </p:nvPicPr>
        <p:blipFill>
          <a:blip r:embed="rId2"/>
          <a:stretch>
            <a:fillRect/>
          </a:stretch>
        </p:blipFill>
        <p:spPr>
          <a:xfrm>
            <a:off x="45085" y="1315085"/>
            <a:ext cx="12090400" cy="5259070"/>
          </a:xfrm>
          <a:prstGeom prst="rect">
            <a:avLst/>
          </a:prstGeom>
          <a:noFill/>
        </p:spPr>
      </p:pic>
      <p:sp>
        <p:nvSpPr>
          <p:cNvPr id="2" name="矩形 1"/>
          <p:cNvSpPr>
            <a:spLocks noChangeArrowheads="1"/>
          </p:cNvSpPr>
          <p:nvPr userDrawn="1"/>
        </p:nvSpPr>
        <p:spPr bwMode="auto">
          <a:xfrm>
            <a:off x="336080" y="405042"/>
            <a:ext cx="6681788" cy="84899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二、不良贷款转让业务流程</a:t>
            </a:r>
            <a:r>
              <a:rPr lang="en-US" altLang="zh-CN" sz="2400" b="1" noProof="0" dirty="0">
                <a:ln>
                  <a:noFill/>
                </a:ln>
                <a:solidFill>
                  <a:srgbClr val="2E5B98"/>
                </a:solidFill>
                <a:uLnTx/>
                <a:uFillTx/>
                <a:latin typeface="微软雅黑" panose="020B0503020204020204" charset="-122"/>
                <a:ea typeface="微软雅黑" panose="020B0503020204020204" charset="-122"/>
                <a:sym typeface="+mn-ea"/>
              </a:rPr>
              <a:t>-</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挂牌公告</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sym typeface="+mn-ea"/>
            </a:endParaRPr>
          </a:p>
          <a:p>
            <a:pPr marL="0" marR="0" lvl="0" algn="l" defTabSz="914400" rtl="0" eaLnBrk="0" fontAlgn="base" latinLnBrk="0" hangingPunct="0">
              <a:lnSpc>
                <a:spcPct val="100000"/>
              </a:lnSpc>
              <a:buClrTx/>
              <a:buSzTx/>
              <a:buFont typeface="Arial" panose="020B0604020202020204" pitchFamily="34" charset="0"/>
              <a:buNone/>
              <a:defRPr/>
            </a:pP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章节1">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737600" y="6245225"/>
            <a:ext cx="2844800" cy="476250"/>
          </a:xfrm>
        </p:spPr>
        <p:txBody>
          <a:bodyPr/>
          <a:lstStyle>
            <a:lvl1pPr>
              <a:defRPr lang="zh-CN" altLang="en-US" sz="1400" smtClean="0">
                <a:solidFill>
                  <a:srgbClr val="000000"/>
                </a:solidFill>
                <a:latin typeface="微软雅黑" panose="020B0503020204020204" charset="-122"/>
                <a:ea typeface="微软雅黑" panose="020B0503020204020204" charset="-122"/>
                <a:cs typeface="+mn-cs"/>
              </a:defRPr>
            </a:lvl1pPr>
          </a:lstStyle>
          <a:p>
            <a:pPr algn="r" rtl="0" eaLnBrk="1" hangingPunct="1"/>
            <a:fld id="{6D7CE8E4-7496-4C30-8EED-C0E487906FD6}" type="slidenum">
              <a:rPr lang="en-US" altLang="zh-CN" smtClean="0"/>
            </a:fld>
            <a:endParaRPr lang="en-US" dirty="0"/>
          </a:p>
        </p:txBody>
      </p:sp>
      <p:pic>
        <p:nvPicPr>
          <p:cNvPr id="13" name="图片 12" descr="背景"/>
          <p:cNvPicPr>
            <a:picLocks noChangeAspect="1"/>
          </p:cNvPicPr>
          <p:nvPr userDrawn="1"/>
        </p:nvPicPr>
        <p:blipFill>
          <a:blip r:embed="rId2"/>
          <a:stretch>
            <a:fillRect/>
          </a:stretch>
        </p:blipFill>
        <p:spPr>
          <a:xfrm>
            <a:off x="45085" y="1315085"/>
            <a:ext cx="12090400" cy="5259070"/>
          </a:xfrm>
          <a:prstGeom prst="rect">
            <a:avLst/>
          </a:prstGeom>
          <a:noFill/>
        </p:spPr>
      </p:pic>
      <p:sp>
        <p:nvSpPr>
          <p:cNvPr id="2" name="矩形 1"/>
          <p:cNvSpPr>
            <a:spLocks noChangeArrowheads="1"/>
          </p:cNvSpPr>
          <p:nvPr userDrawn="1"/>
        </p:nvSpPr>
        <p:spPr bwMode="auto">
          <a:xfrm>
            <a:off x="336080" y="405042"/>
            <a:ext cx="6681788" cy="84899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二、不良贷款转让业务流程</a:t>
            </a:r>
            <a:r>
              <a:rPr lang="en-US" altLang="zh-CN" sz="2400" b="1" noProof="0" dirty="0">
                <a:ln>
                  <a:noFill/>
                </a:ln>
                <a:solidFill>
                  <a:srgbClr val="2E5B98"/>
                </a:solidFill>
                <a:uLnTx/>
                <a:uFillTx/>
                <a:latin typeface="微软雅黑" panose="020B0503020204020204" charset="-122"/>
                <a:ea typeface="微软雅黑" panose="020B0503020204020204" charset="-122"/>
                <a:sym typeface="+mn-ea"/>
              </a:rPr>
              <a:t>-</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意向受让方确认</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sym typeface="+mn-ea"/>
            </a:endParaRPr>
          </a:p>
          <a:p>
            <a:pPr marL="0" marR="0" lvl="0" algn="l" defTabSz="914400" rtl="0" eaLnBrk="0" fontAlgn="base" latinLnBrk="0" hangingPunct="0">
              <a:lnSpc>
                <a:spcPct val="100000"/>
              </a:lnSpc>
              <a:buClrTx/>
              <a:buSzTx/>
              <a:buFont typeface="Arial" panose="020B0604020202020204" pitchFamily="34" charset="0"/>
              <a:buNone/>
              <a:defRPr/>
            </a:pP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章节1">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737600" y="6245225"/>
            <a:ext cx="2844800" cy="476250"/>
          </a:xfrm>
        </p:spPr>
        <p:txBody>
          <a:bodyPr/>
          <a:lstStyle>
            <a:lvl1pPr>
              <a:defRPr lang="zh-CN" altLang="en-US" sz="1400" smtClean="0">
                <a:solidFill>
                  <a:srgbClr val="000000"/>
                </a:solidFill>
                <a:latin typeface="微软雅黑" panose="020B0503020204020204" charset="-122"/>
                <a:ea typeface="微软雅黑" panose="020B0503020204020204" charset="-122"/>
                <a:cs typeface="+mn-cs"/>
              </a:defRPr>
            </a:lvl1pPr>
          </a:lstStyle>
          <a:p>
            <a:pPr algn="r" rtl="0" eaLnBrk="1" hangingPunct="1"/>
            <a:fld id="{6D7CE8E4-7496-4C30-8EED-C0E487906FD6}" type="slidenum">
              <a:rPr lang="en-US" altLang="zh-CN" smtClean="0"/>
            </a:fld>
            <a:endParaRPr lang="en-US" dirty="0"/>
          </a:p>
        </p:txBody>
      </p:sp>
      <p:pic>
        <p:nvPicPr>
          <p:cNvPr id="13" name="图片 12" descr="背景"/>
          <p:cNvPicPr>
            <a:picLocks noChangeAspect="1"/>
          </p:cNvPicPr>
          <p:nvPr userDrawn="1"/>
        </p:nvPicPr>
        <p:blipFill>
          <a:blip r:embed="rId2"/>
          <a:stretch>
            <a:fillRect/>
          </a:stretch>
        </p:blipFill>
        <p:spPr>
          <a:xfrm>
            <a:off x="45085" y="1315085"/>
            <a:ext cx="12090400" cy="5259070"/>
          </a:xfrm>
          <a:prstGeom prst="rect">
            <a:avLst/>
          </a:prstGeom>
          <a:noFill/>
        </p:spPr>
      </p:pic>
      <p:sp>
        <p:nvSpPr>
          <p:cNvPr id="2" name="矩形 1"/>
          <p:cNvSpPr>
            <a:spLocks noChangeArrowheads="1"/>
          </p:cNvSpPr>
          <p:nvPr userDrawn="1"/>
        </p:nvSpPr>
        <p:spPr bwMode="auto">
          <a:xfrm>
            <a:off x="336080" y="405042"/>
            <a:ext cx="6681788" cy="84899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二、不良贷款转让业务流程</a:t>
            </a:r>
            <a:r>
              <a:rPr lang="en-US" altLang="zh-CN" sz="2400" b="1" noProof="0" dirty="0">
                <a:ln>
                  <a:noFill/>
                </a:ln>
                <a:solidFill>
                  <a:srgbClr val="2E5B98"/>
                </a:solidFill>
                <a:uLnTx/>
                <a:uFillTx/>
                <a:latin typeface="微软雅黑" panose="020B0503020204020204" charset="-122"/>
                <a:ea typeface="微软雅黑" panose="020B0503020204020204" charset="-122"/>
                <a:sym typeface="+mn-ea"/>
              </a:rPr>
              <a:t>-</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保留价设置</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sym typeface="+mn-ea"/>
            </a:endParaRPr>
          </a:p>
          <a:p>
            <a:pPr marL="0" marR="0" lvl="0" algn="l" defTabSz="914400" rtl="0" eaLnBrk="0" fontAlgn="base" latinLnBrk="0" hangingPunct="0">
              <a:lnSpc>
                <a:spcPct val="100000"/>
              </a:lnSpc>
              <a:buClrTx/>
              <a:buSzTx/>
              <a:buFont typeface="Arial" panose="020B0604020202020204" pitchFamily="34" charset="0"/>
              <a:buNone/>
              <a:defRPr/>
            </a:pP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章节1">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737600" y="6245225"/>
            <a:ext cx="2844800" cy="476250"/>
          </a:xfrm>
        </p:spPr>
        <p:txBody>
          <a:bodyPr/>
          <a:lstStyle>
            <a:lvl1pPr>
              <a:defRPr lang="zh-CN" altLang="en-US" sz="1400" smtClean="0">
                <a:solidFill>
                  <a:srgbClr val="000000"/>
                </a:solidFill>
                <a:latin typeface="微软雅黑" panose="020B0503020204020204" charset="-122"/>
                <a:ea typeface="微软雅黑" panose="020B0503020204020204" charset="-122"/>
                <a:cs typeface="+mn-cs"/>
              </a:defRPr>
            </a:lvl1pPr>
          </a:lstStyle>
          <a:p>
            <a:pPr algn="r" rtl="0" eaLnBrk="1" hangingPunct="1"/>
            <a:fld id="{6D7CE8E4-7496-4C30-8EED-C0E487906FD6}" type="slidenum">
              <a:rPr lang="en-US" altLang="zh-CN" smtClean="0"/>
            </a:fld>
            <a:endParaRPr lang="en-US" dirty="0"/>
          </a:p>
        </p:txBody>
      </p:sp>
      <p:pic>
        <p:nvPicPr>
          <p:cNvPr id="13" name="图片 12" descr="背景"/>
          <p:cNvPicPr>
            <a:picLocks noChangeAspect="1"/>
          </p:cNvPicPr>
          <p:nvPr userDrawn="1"/>
        </p:nvPicPr>
        <p:blipFill>
          <a:blip r:embed="rId2"/>
          <a:stretch>
            <a:fillRect/>
          </a:stretch>
        </p:blipFill>
        <p:spPr>
          <a:xfrm>
            <a:off x="45085" y="1315085"/>
            <a:ext cx="12090400" cy="5259070"/>
          </a:xfrm>
          <a:prstGeom prst="rect">
            <a:avLst/>
          </a:prstGeom>
          <a:noFill/>
        </p:spPr>
      </p:pic>
      <p:sp>
        <p:nvSpPr>
          <p:cNvPr id="2" name="矩形 1"/>
          <p:cNvSpPr>
            <a:spLocks noChangeArrowheads="1"/>
          </p:cNvSpPr>
          <p:nvPr userDrawn="1"/>
        </p:nvSpPr>
        <p:spPr bwMode="auto">
          <a:xfrm>
            <a:off x="336080" y="405042"/>
            <a:ext cx="6681788" cy="84899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二、不良贷款转让业务流程</a:t>
            </a:r>
            <a:r>
              <a:rPr lang="en-US" altLang="zh-CN" sz="2400" b="1" noProof="0" dirty="0">
                <a:ln>
                  <a:noFill/>
                </a:ln>
                <a:solidFill>
                  <a:srgbClr val="2E5B98"/>
                </a:solidFill>
                <a:uLnTx/>
                <a:uFillTx/>
                <a:latin typeface="微软雅黑" panose="020B0503020204020204" charset="-122"/>
                <a:ea typeface="微软雅黑" panose="020B0503020204020204" charset="-122"/>
                <a:sym typeface="+mn-ea"/>
              </a:rPr>
              <a:t>-</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公开竞价</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sym typeface="+mn-ea"/>
            </a:endParaRPr>
          </a:p>
          <a:p>
            <a:pPr marL="0" marR="0" lvl="0" algn="l" defTabSz="914400" rtl="0" eaLnBrk="0" fontAlgn="base" latinLnBrk="0" hangingPunct="0">
              <a:lnSpc>
                <a:spcPct val="100000"/>
              </a:lnSpc>
              <a:buClrTx/>
              <a:buSzTx/>
              <a:buFont typeface="Arial" panose="020B0604020202020204" pitchFamily="34" charset="0"/>
              <a:buNone/>
              <a:defRPr/>
            </a:pP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章节1">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737600" y="6245225"/>
            <a:ext cx="2844800" cy="476250"/>
          </a:xfrm>
        </p:spPr>
        <p:txBody>
          <a:bodyPr/>
          <a:lstStyle>
            <a:lvl1pPr>
              <a:defRPr lang="zh-CN" altLang="en-US" sz="1400" smtClean="0">
                <a:solidFill>
                  <a:srgbClr val="000000"/>
                </a:solidFill>
                <a:latin typeface="微软雅黑" panose="020B0503020204020204" charset="-122"/>
                <a:ea typeface="微软雅黑" panose="020B0503020204020204" charset="-122"/>
                <a:cs typeface="+mn-cs"/>
              </a:defRPr>
            </a:lvl1pPr>
          </a:lstStyle>
          <a:p>
            <a:pPr algn="r" rtl="0" eaLnBrk="1" hangingPunct="1"/>
            <a:fld id="{6D7CE8E4-7496-4C30-8EED-C0E487906FD6}" type="slidenum">
              <a:rPr lang="en-US" altLang="zh-CN" smtClean="0"/>
            </a:fld>
            <a:endParaRPr lang="en-US" dirty="0"/>
          </a:p>
        </p:txBody>
      </p:sp>
      <p:pic>
        <p:nvPicPr>
          <p:cNvPr id="13" name="图片 12" descr="背景"/>
          <p:cNvPicPr>
            <a:picLocks noChangeAspect="1"/>
          </p:cNvPicPr>
          <p:nvPr userDrawn="1"/>
        </p:nvPicPr>
        <p:blipFill>
          <a:blip r:embed="rId2"/>
          <a:stretch>
            <a:fillRect/>
          </a:stretch>
        </p:blipFill>
        <p:spPr>
          <a:xfrm>
            <a:off x="45085" y="1315085"/>
            <a:ext cx="12090400" cy="5259070"/>
          </a:xfrm>
          <a:prstGeom prst="rect">
            <a:avLst/>
          </a:prstGeom>
          <a:noFill/>
        </p:spPr>
      </p:pic>
      <p:sp>
        <p:nvSpPr>
          <p:cNvPr id="2" name="矩形 1"/>
          <p:cNvSpPr>
            <a:spLocks noChangeArrowheads="1"/>
          </p:cNvSpPr>
          <p:nvPr userDrawn="1"/>
        </p:nvSpPr>
        <p:spPr bwMode="auto">
          <a:xfrm>
            <a:off x="336080" y="405042"/>
            <a:ext cx="6681788" cy="48323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二、不良贷款转让业务流程</a:t>
            </a:r>
            <a:r>
              <a:rPr lang="en-US" altLang="zh-CN" sz="2400" b="1" noProof="0" dirty="0">
                <a:ln>
                  <a:noFill/>
                </a:ln>
                <a:solidFill>
                  <a:srgbClr val="2E5B98"/>
                </a:solidFill>
                <a:uLnTx/>
                <a:uFillTx/>
                <a:latin typeface="微软雅黑" panose="020B0503020204020204" charset="-122"/>
                <a:ea typeface="微软雅黑" panose="020B0503020204020204" charset="-122"/>
                <a:sym typeface="+mn-ea"/>
              </a:rPr>
              <a:t>-</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确认竞价结果</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sym typeface="+mn-ea"/>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章节1">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737600" y="6245225"/>
            <a:ext cx="2844800" cy="476250"/>
          </a:xfrm>
        </p:spPr>
        <p:txBody>
          <a:bodyPr/>
          <a:lstStyle>
            <a:lvl1pPr>
              <a:defRPr lang="zh-CN" altLang="en-US" sz="1400" smtClean="0">
                <a:solidFill>
                  <a:srgbClr val="000000"/>
                </a:solidFill>
                <a:latin typeface="微软雅黑" panose="020B0503020204020204" charset="-122"/>
                <a:ea typeface="微软雅黑" panose="020B0503020204020204" charset="-122"/>
                <a:cs typeface="+mn-cs"/>
              </a:defRPr>
            </a:lvl1pPr>
          </a:lstStyle>
          <a:p>
            <a:pPr algn="r" rtl="0" eaLnBrk="1" hangingPunct="1"/>
            <a:fld id="{6D7CE8E4-7496-4C30-8EED-C0E487906FD6}" type="slidenum">
              <a:rPr lang="en-US" altLang="zh-CN" smtClean="0"/>
            </a:fld>
            <a:endParaRPr lang="en-US" dirty="0"/>
          </a:p>
        </p:txBody>
      </p:sp>
      <p:pic>
        <p:nvPicPr>
          <p:cNvPr id="13" name="图片 12" descr="背景"/>
          <p:cNvPicPr>
            <a:picLocks noChangeAspect="1"/>
          </p:cNvPicPr>
          <p:nvPr userDrawn="1"/>
        </p:nvPicPr>
        <p:blipFill>
          <a:blip r:embed="rId2"/>
          <a:stretch>
            <a:fillRect/>
          </a:stretch>
        </p:blipFill>
        <p:spPr>
          <a:xfrm>
            <a:off x="45085" y="1315085"/>
            <a:ext cx="12090400" cy="5259070"/>
          </a:xfrm>
          <a:prstGeom prst="rect">
            <a:avLst/>
          </a:prstGeom>
          <a:noFill/>
        </p:spPr>
      </p:pic>
      <p:sp>
        <p:nvSpPr>
          <p:cNvPr id="2" name="矩形 1"/>
          <p:cNvSpPr>
            <a:spLocks noChangeArrowheads="1"/>
          </p:cNvSpPr>
          <p:nvPr userDrawn="1"/>
        </p:nvSpPr>
        <p:spPr bwMode="auto">
          <a:xfrm>
            <a:off x="336080" y="405042"/>
            <a:ext cx="6681788" cy="48323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二、不良贷款转让业务流程</a:t>
            </a:r>
            <a:r>
              <a:rPr lang="en-US" altLang="zh-CN" sz="2400" b="1" noProof="0" dirty="0">
                <a:ln>
                  <a:noFill/>
                </a:ln>
                <a:solidFill>
                  <a:srgbClr val="2E5B98"/>
                </a:solidFill>
                <a:uLnTx/>
                <a:uFillTx/>
                <a:latin typeface="微软雅黑" panose="020B0503020204020204" charset="-122"/>
                <a:ea typeface="微软雅黑" panose="020B0503020204020204" charset="-122"/>
                <a:sym typeface="+mn-ea"/>
              </a:rPr>
              <a:t>-</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协议转让</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sym typeface="+mn-ea"/>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6_章节1">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737600" y="6245225"/>
            <a:ext cx="2844800" cy="476250"/>
          </a:xfrm>
        </p:spPr>
        <p:txBody>
          <a:bodyPr/>
          <a:lstStyle>
            <a:lvl1pPr>
              <a:defRPr lang="zh-CN" altLang="en-US" sz="1400" smtClean="0">
                <a:solidFill>
                  <a:srgbClr val="000000"/>
                </a:solidFill>
                <a:latin typeface="微软雅黑" panose="020B0503020204020204" charset="-122"/>
                <a:ea typeface="微软雅黑" panose="020B0503020204020204" charset="-122"/>
                <a:cs typeface="+mn-cs"/>
              </a:defRPr>
            </a:lvl1pPr>
          </a:lstStyle>
          <a:p>
            <a:pPr algn="r" rtl="0" eaLnBrk="1" hangingPunct="1"/>
            <a:fld id="{6D7CE8E4-7496-4C30-8EED-C0E487906FD6}" type="slidenum">
              <a:rPr lang="en-US" altLang="zh-CN" smtClean="0"/>
            </a:fld>
            <a:endParaRPr lang="en-US" dirty="0"/>
          </a:p>
        </p:txBody>
      </p:sp>
      <p:pic>
        <p:nvPicPr>
          <p:cNvPr id="13" name="图片 12" descr="背景"/>
          <p:cNvPicPr>
            <a:picLocks noChangeAspect="1"/>
          </p:cNvPicPr>
          <p:nvPr userDrawn="1"/>
        </p:nvPicPr>
        <p:blipFill>
          <a:blip r:embed="rId2"/>
          <a:stretch>
            <a:fillRect/>
          </a:stretch>
        </p:blipFill>
        <p:spPr>
          <a:xfrm>
            <a:off x="45085" y="1315085"/>
            <a:ext cx="12090400" cy="5259070"/>
          </a:xfrm>
          <a:prstGeom prst="rect">
            <a:avLst/>
          </a:prstGeom>
          <a:noFill/>
        </p:spPr>
      </p:pic>
      <p:sp>
        <p:nvSpPr>
          <p:cNvPr id="2" name="矩形 1"/>
          <p:cNvSpPr>
            <a:spLocks noChangeArrowheads="1"/>
          </p:cNvSpPr>
          <p:nvPr userDrawn="1"/>
        </p:nvSpPr>
        <p:spPr bwMode="auto">
          <a:xfrm>
            <a:off x="336080" y="405042"/>
            <a:ext cx="6681788" cy="48323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二、不良贷款转让业务流程</a:t>
            </a:r>
            <a:r>
              <a:rPr lang="en-US" altLang="zh-CN" sz="2400" b="1" noProof="0" dirty="0">
                <a:ln>
                  <a:noFill/>
                </a:ln>
                <a:solidFill>
                  <a:srgbClr val="2E5B98"/>
                </a:solidFill>
                <a:uLnTx/>
                <a:uFillTx/>
                <a:latin typeface="微软雅黑" panose="020B0503020204020204" charset="-122"/>
                <a:ea typeface="微软雅黑" panose="020B0503020204020204" charset="-122"/>
                <a:sym typeface="+mn-ea"/>
              </a:rPr>
              <a:t>-</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转让后续事项</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sym typeface="+mn-ea"/>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7_章节1">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737600" y="6245225"/>
            <a:ext cx="2844800" cy="476250"/>
          </a:xfrm>
        </p:spPr>
        <p:txBody>
          <a:bodyPr/>
          <a:lstStyle>
            <a:lvl1pPr>
              <a:defRPr lang="zh-CN" altLang="en-US" sz="1400" smtClean="0">
                <a:solidFill>
                  <a:srgbClr val="000000"/>
                </a:solidFill>
                <a:latin typeface="微软雅黑" panose="020B0503020204020204" charset="-122"/>
                <a:ea typeface="微软雅黑" panose="020B0503020204020204" charset="-122"/>
                <a:cs typeface="+mn-cs"/>
              </a:defRPr>
            </a:lvl1pPr>
          </a:lstStyle>
          <a:p>
            <a:pPr algn="r" rtl="0" eaLnBrk="1" hangingPunct="1"/>
            <a:fld id="{6D7CE8E4-7496-4C30-8EED-C0E487906FD6}" type="slidenum">
              <a:rPr lang="en-US" altLang="zh-CN" smtClean="0"/>
            </a:fld>
            <a:endParaRPr lang="en-US" dirty="0"/>
          </a:p>
        </p:txBody>
      </p:sp>
      <p:pic>
        <p:nvPicPr>
          <p:cNvPr id="13" name="图片 12" descr="背景"/>
          <p:cNvPicPr>
            <a:picLocks noChangeAspect="1"/>
          </p:cNvPicPr>
          <p:nvPr userDrawn="1"/>
        </p:nvPicPr>
        <p:blipFill>
          <a:blip r:embed="rId2"/>
          <a:stretch>
            <a:fillRect/>
          </a:stretch>
        </p:blipFill>
        <p:spPr>
          <a:xfrm>
            <a:off x="45085" y="1315085"/>
            <a:ext cx="12090400" cy="5259070"/>
          </a:xfrm>
          <a:prstGeom prst="rect">
            <a:avLst/>
          </a:prstGeom>
          <a:noFill/>
        </p:spPr>
      </p:pic>
      <p:sp>
        <p:nvSpPr>
          <p:cNvPr id="2" name="矩形 1"/>
          <p:cNvSpPr>
            <a:spLocks noChangeArrowheads="1"/>
          </p:cNvSpPr>
          <p:nvPr userDrawn="1"/>
        </p:nvSpPr>
        <p:spPr bwMode="auto">
          <a:xfrm>
            <a:off x="336080" y="405042"/>
            <a:ext cx="6681788" cy="48323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二、不良贷款转让业务流程</a:t>
            </a:r>
            <a:r>
              <a:rPr lang="en-US" altLang="zh-CN" sz="2400" b="1" noProof="0" dirty="0">
                <a:ln>
                  <a:noFill/>
                </a:ln>
                <a:solidFill>
                  <a:srgbClr val="2E5B98"/>
                </a:solidFill>
                <a:uLnTx/>
                <a:uFillTx/>
                <a:latin typeface="微软雅黑" panose="020B0503020204020204" charset="-122"/>
                <a:ea typeface="微软雅黑" panose="020B0503020204020204" charset="-122"/>
                <a:sym typeface="+mn-ea"/>
              </a:rPr>
              <a:t>-</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招商专区</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sym typeface="+mn-ea"/>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8_章节1">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a:xfrm>
            <a:off x="8737600" y="6245225"/>
            <a:ext cx="2844800" cy="476250"/>
          </a:xfrm>
        </p:spPr>
        <p:txBody>
          <a:bodyPr/>
          <a:lstStyle>
            <a:lvl1pPr>
              <a:defRPr lang="zh-CN" altLang="en-US" sz="1400" smtClean="0">
                <a:solidFill>
                  <a:srgbClr val="000000"/>
                </a:solidFill>
                <a:latin typeface="微软雅黑" panose="020B0503020204020204" charset="-122"/>
                <a:ea typeface="微软雅黑" panose="020B0503020204020204" charset="-122"/>
                <a:cs typeface="+mn-cs"/>
              </a:defRPr>
            </a:lvl1pPr>
          </a:lstStyle>
          <a:p>
            <a:pPr algn="r" rtl="0" eaLnBrk="1" hangingPunct="1"/>
            <a:fld id="{6D7CE8E4-7496-4C30-8EED-C0E487906FD6}" type="slidenum">
              <a:rPr lang="en-US" altLang="zh-CN" smtClean="0"/>
            </a:fld>
            <a:endParaRPr lang="en-US" dirty="0"/>
          </a:p>
        </p:txBody>
      </p:sp>
      <p:pic>
        <p:nvPicPr>
          <p:cNvPr id="13" name="图片 12" descr="背景"/>
          <p:cNvPicPr>
            <a:picLocks noChangeAspect="1"/>
          </p:cNvPicPr>
          <p:nvPr userDrawn="1"/>
        </p:nvPicPr>
        <p:blipFill>
          <a:blip r:embed="rId2"/>
          <a:stretch>
            <a:fillRect/>
          </a:stretch>
        </p:blipFill>
        <p:spPr>
          <a:xfrm>
            <a:off x="45085" y="1315085"/>
            <a:ext cx="12090400" cy="5259070"/>
          </a:xfrm>
          <a:prstGeom prst="rect">
            <a:avLst/>
          </a:prstGeom>
          <a:noFill/>
        </p:spPr>
      </p:pic>
      <p:sp>
        <p:nvSpPr>
          <p:cNvPr id="2" name="矩形 1"/>
          <p:cNvSpPr>
            <a:spLocks noChangeArrowheads="1"/>
          </p:cNvSpPr>
          <p:nvPr userDrawn="1"/>
        </p:nvSpPr>
        <p:spPr bwMode="auto">
          <a:xfrm>
            <a:off x="336080" y="405042"/>
            <a:ext cx="6681788" cy="48323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algn="l" defTabSz="914400" rtl="0" eaLnBrk="0" fontAlgn="base" latinLnBrk="0" hangingPunct="0">
              <a:lnSpc>
                <a:spcPct val="100000"/>
              </a:lnSpc>
              <a:buClrTx/>
              <a:buSzTx/>
              <a:buFont typeface="Arial" panose="020B0604020202020204" pitchFamily="34" charset="0"/>
              <a:buNone/>
              <a:defRPr/>
            </a:pP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二、不良贷款转让业务流程</a:t>
            </a:r>
            <a:r>
              <a:rPr lang="en-US" altLang="zh-CN" sz="2400" b="1" noProof="0" dirty="0">
                <a:ln>
                  <a:noFill/>
                </a:ln>
                <a:solidFill>
                  <a:srgbClr val="2E5B98"/>
                </a:solidFill>
                <a:uLnTx/>
                <a:uFillTx/>
                <a:latin typeface="微软雅黑" panose="020B0503020204020204" charset="-122"/>
                <a:ea typeface="微软雅黑" panose="020B0503020204020204" charset="-122"/>
                <a:sym typeface="+mn-ea"/>
              </a:rPr>
              <a:t>-</a:t>
            </a:r>
            <a:r>
              <a:rPr lang="zh-CN" altLang="en-US" sz="2400" b="1" noProof="0" dirty="0">
                <a:ln>
                  <a:noFill/>
                </a:ln>
                <a:solidFill>
                  <a:srgbClr val="2E5B98"/>
                </a:solidFill>
                <a:uLnTx/>
                <a:uFillTx/>
                <a:latin typeface="微软雅黑" panose="020B0503020204020204" charset="-122"/>
                <a:ea typeface="微软雅黑" panose="020B0503020204020204" charset="-122"/>
                <a:sym typeface="+mn-ea"/>
              </a:rPr>
              <a:t>资金服务</a:t>
            </a:r>
            <a:endParaRPr kumimoji="0" lang="zh-CN" altLang="en-US" sz="2400" b="1" i="0" u="none" strike="noStrike" kern="1200" cap="none" spc="0" normalizeH="0" baseline="0" noProof="0" dirty="0">
              <a:ln>
                <a:noFill/>
              </a:ln>
              <a:solidFill>
                <a:srgbClr val="2E5B98"/>
              </a:solidFill>
              <a:uLnTx/>
              <a:uFillTx/>
              <a:latin typeface="微软雅黑" panose="020B0503020204020204" charset="-122"/>
              <a:ea typeface="微软雅黑" panose="020B0503020204020204" charset="-122"/>
              <a:cs typeface="+mn-cs"/>
              <a:sym typeface="+mn-ea"/>
            </a:endParaRPr>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245225"/>
            <a:ext cx="2844800" cy="476250"/>
          </a:xfrm>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4165600" y="6245225"/>
            <a:ext cx="3860800" cy="476250"/>
          </a:xfrm>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400" b="0" i="0" u="none" strike="noStrike" kern="1200" cap="none" spc="0" normalizeH="0" baseline="0" noProof="1">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a:xfrm>
            <a:off x="8737600" y="6245225"/>
            <a:ext cx="2844800" cy="476250"/>
          </a:xfrm>
        </p:spPr>
        <p:txBody>
          <a:bodyPr/>
          <a:lstStyle/>
          <a:p>
            <a:pPr lvl="0" algn="r" eaLnBrk="1" fontAlgn="base" hangingPunct="1"/>
            <a:fld id="{9A0DB2DC-4C9A-4742-B13C-FB6460FD3503}" type="slidenum">
              <a:rPr lang="zh-CN" altLang="en-US" sz="1400" strike="noStrike" noProof="1" dirty="0">
                <a:solidFill>
                  <a:srgbClr val="000000"/>
                </a:solidFill>
                <a:latin typeface="Arial" panose="020B0604020202020204" pitchFamily="34" charset="0"/>
                <a:ea typeface="宋体" panose="02010600030101010101" pitchFamily="2" charset="-122"/>
                <a:cs typeface="+mn-ea"/>
              </a:rPr>
            </a:fld>
            <a:endParaRPr lang="en-US" altLang="zh-CN" sz="1400" strike="noStrike" noProof="1">
              <a:solidFill>
                <a:srgbClr val="000000"/>
              </a:solidFill>
            </a:endParaRPr>
          </a:p>
        </p:txBody>
      </p:sp>
      <p:sp>
        <p:nvSpPr>
          <p:cNvPr id="6" name="矩形 5"/>
          <p:cNvSpPr>
            <a:spLocks noChangeArrowheads="1"/>
          </p:cNvSpPr>
          <p:nvPr userDrawn="1"/>
        </p:nvSpPr>
        <p:spPr bwMode="auto">
          <a:xfrm>
            <a:off x="336080" y="405042"/>
            <a:ext cx="6681788" cy="46166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rgbClr val="2E5B98"/>
                </a:solidFill>
                <a:effectLst/>
                <a:uLnTx/>
                <a:uFillTx/>
                <a:latin typeface="微软雅黑" panose="020B0503020204020204" charset="-122"/>
                <a:ea typeface="微软雅黑" panose="020B0503020204020204" charset="-122"/>
              </a:rPr>
              <a:t>二、银登中心业务系统及服务内容</a:t>
            </a:r>
            <a:endParaRPr kumimoji="0" lang="zh-CN" altLang="en-US" sz="2400" b="1" i="0" u="none" strike="noStrike" kern="1200" cap="none" spc="0" normalizeH="0" baseline="0" noProof="0" dirty="0">
              <a:ln>
                <a:noFill/>
              </a:ln>
              <a:solidFill>
                <a:srgbClr val="2E5B98"/>
              </a:solidFill>
              <a:effectLst/>
              <a:uLnTx/>
              <a:uFillTx/>
              <a:latin typeface="微软雅黑" panose="020B0503020204020204" charset="-122"/>
              <a:ea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s Layout">
    <p:spTree>
      <p:nvGrpSpPr>
        <p:cNvPr id="1" name=""/>
        <p:cNvGrpSpPr/>
        <p:nvPr/>
      </p:nvGrpSpPr>
      <p:grpSpPr>
        <a:xfrm>
          <a:off x="0" y="0"/>
          <a:ext cx="0" cy="0"/>
          <a:chOff x="0" y="0"/>
          <a:chExt cx="0" cy="0"/>
        </a:xfrm>
      </p:grpSpPr>
      <p:pic>
        <p:nvPicPr>
          <p:cNvPr id="2" name="Picture 2" descr="未标题-7-0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71937" t="6214" r="2913" b="88243"/>
          <a:stretch>
            <a:fillRect/>
          </a:stretch>
        </p:blipFill>
        <p:spPr bwMode="auto">
          <a:xfrm>
            <a:off x="8747845" y="6377826"/>
            <a:ext cx="3444155" cy="42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灯片编号占位符 4"/>
          <p:cNvSpPr>
            <a:spLocks noGrp="1"/>
          </p:cNvSpPr>
          <p:nvPr>
            <p:ph type="sldNum" sz="quarter" idx="12"/>
          </p:nvPr>
        </p:nvSpPr>
        <p:spPr>
          <a:xfrm>
            <a:off x="660400" y="6438900"/>
            <a:ext cx="2661448" cy="215900"/>
          </a:xfrm>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65B630-C7FF-41C0-9923-C5E5E29EED81}" type="slidenum">
              <a:rPr kumimoji="0" lang="en-US" altLang="zh-CN" sz="1000" b="0" i="0" u="none" strike="noStrike" kern="1200" cap="none" spc="0" normalizeH="0" baseline="0" noProof="0" smtClean="0">
                <a:ln>
                  <a:noFill/>
                </a:ln>
                <a:solidFill>
                  <a:srgbClr val="000000">
                    <a:lumMod val="50000"/>
                    <a:lumOff val="50000"/>
                  </a:srgbClr>
                </a:solidFill>
                <a:effectLst/>
                <a:uLnTx/>
                <a:uFillTx/>
                <a:latin typeface="Arial" panose="020B0604020202020204"/>
                <a:ea typeface="微软雅黑" panose="020B0503020204020204" charset="-122"/>
                <a:cs typeface="+mn-cs"/>
              </a:rPr>
            </a:fld>
            <a:endParaRPr kumimoji="0" lang="en-US" altLang="zh-CN" sz="1000" b="0" i="0" u="none" strike="noStrike" kern="1200" cap="none" spc="0" normalizeH="0" baseline="0" noProof="0">
              <a:ln>
                <a:noFill/>
              </a:ln>
              <a:solidFill>
                <a:srgbClr val="000000">
                  <a:lumMod val="50000"/>
                  <a:lumOff val="50000"/>
                </a:srgbClr>
              </a:solidFill>
              <a:effectLst/>
              <a:uLnTx/>
              <a:uFillTx/>
              <a:latin typeface="Arial" panose="020B0604020202020204"/>
              <a:ea typeface="微软雅黑" panose="020B0503020204020204" charset="-122"/>
              <a:cs typeface="+mn-cs"/>
            </a:endParaRPr>
          </a:p>
        </p:txBody>
      </p:sp>
      <p:sp>
        <p:nvSpPr>
          <p:cNvPr id="6" name="矩形 5"/>
          <p:cNvSpPr>
            <a:spLocks noChangeArrowheads="1"/>
          </p:cNvSpPr>
          <p:nvPr userDrawn="1"/>
        </p:nvSpPr>
        <p:spPr bwMode="auto">
          <a:xfrm>
            <a:off x="336080" y="405042"/>
            <a:ext cx="6681788" cy="483235"/>
          </a:xfrm>
          <a:prstGeom prst="rect">
            <a:avLst/>
          </a:prstGeom>
          <a:noFill/>
          <a:ln>
            <a:noFill/>
          </a:ln>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rgbClr val="2E5B98"/>
                </a:solidFill>
                <a:effectLst/>
                <a:uLnTx/>
                <a:uFillTx/>
                <a:latin typeface="微软雅黑" panose="020B0503020204020204" charset="-122"/>
                <a:ea typeface="微软雅黑" panose="020B0503020204020204" charset="-122"/>
              </a:rPr>
              <a:t>三、个贷批转业务的注意事项</a:t>
            </a:r>
            <a:endParaRPr kumimoji="0" lang="zh-CN" altLang="en-US" sz="2400" b="1" i="0" u="none" strike="noStrike" kern="1200" cap="none" spc="0" normalizeH="0" baseline="0" noProof="0" dirty="0">
              <a:ln>
                <a:noFill/>
              </a:ln>
              <a:solidFill>
                <a:srgbClr val="2E5B98"/>
              </a:solidFill>
              <a:effectLst/>
              <a:uLnTx/>
              <a:uFillTx/>
              <a:latin typeface="微软雅黑" panose="020B0503020204020204" charset="-122"/>
              <a:ea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6" Type="http://schemas.openxmlformats.org/officeDocument/2006/relationships/theme" Target="../theme/theme1.xml"/><Relationship Id="rId25" Type="http://schemas.openxmlformats.org/officeDocument/2006/relationships/image" Target="../media/image2.jpeg"/><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7170" name="Picture 2" descr="未标题-7-02"/>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2"/>
          <p:cNvSpPr>
            <a:spLocks noGrp="1" noChangeArrowheads="1"/>
          </p:cNvSpPr>
          <p:nvPr>
            <p:ph type="title" idx="4294967295"/>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zh-CN"/>
              <a:t>单击此处编辑母版标题样式</a:t>
            </a:r>
            <a:endParaRPr lang="zh-CN" altLang="zh-CN"/>
          </a:p>
        </p:txBody>
      </p:sp>
      <p:sp>
        <p:nvSpPr>
          <p:cNvPr id="7172" name="Rectangle 3"/>
          <p:cNvSpPr>
            <a:spLocks noGrp="1" noChangeArrowheads="1"/>
          </p:cNvSpPr>
          <p:nvPr>
            <p:ph type="body" idx="9"/>
          </p:nvPr>
        </p:nvSpPr>
        <p:spPr bwMode="auto">
          <a:xfrm>
            <a:off x="609600" y="1600202"/>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zh-CN"/>
              <a:t>单击此处编辑母版文本样式</a:t>
            </a:r>
            <a:endParaRPr lang="zh-CN" altLang="zh-CN"/>
          </a:p>
          <a:p>
            <a:pPr lvl="1"/>
            <a:r>
              <a:rPr lang="zh-CN" altLang="zh-CN"/>
              <a:t>第二级</a:t>
            </a:r>
            <a:endParaRPr lang="zh-CN" altLang="zh-CN"/>
          </a:p>
          <a:p>
            <a:pPr lvl="2"/>
            <a:r>
              <a:rPr lang="zh-CN" altLang="zh-CN"/>
              <a:t>第三级</a:t>
            </a:r>
            <a:endParaRPr lang="zh-CN" altLang="zh-CN"/>
          </a:p>
          <a:p>
            <a:pPr lvl="3"/>
            <a:r>
              <a:rPr lang="zh-CN" altLang="zh-CN"/>
              <a:t>第四级</a:t>
            </a:r>
            <a:endParaRPr lang="zh-CN" altLang="zh-CN"/>
          </a:p>
          <a:p>
            <a:pPr lvl="4"/>
            <a:r>
              <a:rPr lang="zh-CN" altLang="zh-CN"/>
              <a:t>第五级</a:t>
            </a:r>
            <a:endParaRPr lang="zh-CN" altLang="zh-CN"/>
          </a:p>
        </p:txBody>
      </p:sp>
      <p:sp>
        <p:nvSpPr>
          <p:cNvPr id="3077" name="Rectangle 4"/>
          <p:cNvSpPr>
            <a:spLocks noGrp="1" noChangeArrowheads="1"/>
          </p:cNvSpPr>
          <p:nvPr>
            <p:ph type="dt" sz="half" idx="2"/>
          </p:nvPr>
        </p:nvSpPr>
        <p:spPr bwMode="auto">
          <a:xfrm>
            <a:off x="609600" y="6245225"/>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defRPr sz="1400" smtClean="0">
                <a:ea typeface="宋体" panose="02010600030101010101" pitchFamily="2" charset="-122"/>
              </a:defRPr>
            </a:lvl1pPr>
          </a:lstStyle>
          <a:p>
            <a:pPr>
              <a:defRPr/>
            </a:pPr>
            <a:endParaRPr lang="zh-CN" altLang="en-US"/>
          </a:p>
        </p:txBody>
      </p:sp>
      <p:sp>
        <p:nvSpPr>
          <p:cNvPr id="3078" name="Rectangle 5"/>
          <p:cNvSpPr>
            <a:spLocks noGrp="1" noChangeArrowheads="1"/>
          </p:cNvSpPr>
          <p:nvPr>
            <p:ph type="ftr" sz="quarter" idx="3"/>
          </p:nvPr>
        </p:nvSpPr>
        <p:spPr bwMode="auto">
          <a:xfrm>
            <a:off x="4165600" y="6245225"/>
            <a:ext cx="3860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a:defRPr sz="1400">
                <a:ea typeface="宋体" panose="02010600030101010101" pitchFamily="2" charset="-122"/>
              </a:defRPr>
            </a:lvl1pPr>
          </a:lstStyle>
          <a:p>
            <a:pPr>
              <a:defRPr/>
            </a:pPr>
            <a:endParaRPr lang="en-US" altLang="zh-CN"/>
          </a:p>
        </p:txBody>
      </p:sp>
      <p:sp>
        <p:nvSpPr>
          <p:cNvPr id="3079" name="Rectangle 6"/>
          <p:cNvSpPr>
            <a:spLocks noGrp="1" noChangeArrowheads="1"/>
          </p:cNvSpPr>
          <p:nvPr>
            <p:ph type="sldNum" sz="quarter" idx="4"/>
          </p:nvPr>
        </p:nvSpPr>
        <p:spPr bwMode="auto">
          <a:xfrm>
            <a:off x="8737600" y="6245225"/>
            <a:ext cx="28448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a:defRPr sz="1400" smtClean="0">
                <a:ea typeface="宋体" panose="02010600030101010101" pitchFamily="2" charset="-122"/>
              </a:defRPr>
            </a:lvl1pPr>
          </a:lstStyle>
          <a:p>
            <a:pPr>
              <a:defRPr/>
            </a:pPr>
            <a:fld id="{44135A21-36E8-4171-91A0-51ADC29336C1}" type="slidenum">
              <a:rPr lang="zh-CN" altLang="en-US"/>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lvl1pPr algn="ctr" rtl="0" eaLnBrk="1" fontAlgn="base" hangingPunct="1">
        <a:spcBef>
          <a:spcPct val="0"/>
        </a:spcBef>
        <a:spcAft>
          <a:spcPct val="0"/>
        </a:spcAft>
        <a:defRPr sz="4400" kern="12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iS1ide-箭头: 五边形 5"/>
          <p:cNvSpPr/>
          <p:nvPr/>
        </p:nvSpPr>
        <p:spPr>
          <a:xfrm>
            <a:off x="7713345" y="2012315"/>
            <a:ext cx="3786505" cy="586740"/>
          </a:xfrm>
          <a:prstGeom prst="homePlate">
            <a:avLst/>
          </a:prstGeom>
          <a:solidFill>
            <a:srgbClr val="D8A940"/>
          </a:solidFill>
          <a:ln w="41275">
            <a:no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en-US" altLang="zh-CN" sz="1800" b="1" dirty="0">
                <a:latin typeface="微软雅黑" panose="020B0503020204020204" charset="-122"/>
                <a:ea typeface="微软雅黑" panose="020B0503020204020204" charset="-122"/>
                <a:sym typeface="+mn-ea"/>
              </a:rPr>
              <a:t>  </a:t>
            </a:r>
            <a:r>
              <a:rPr lang="zh-CN" altLang="en-US" sz="1800" b="1" dirty="0">
                <a:latin typeface="微软雅黑" panose="020B0503020204020204" charset="-122"/>
                <a:ea typeface="微软雅黑" panose="020B0503020204020204" charset="-122"/>
                <a:sym typeface="+mn-ea"/>
              </a:rPr>
              <a:t>转让后续事项</a:t>
            </a:r>
            <a:endParaRPr lang="zh-CN" altLang="en-US" sz="1800" b="1" dirty="0">
              <a:latin typeface="微软雅黑" panose="020B0503020204020204" charset="-122"/>
              <a:ea typeface="微软雅黑" panose="020B0503020204020204" charset="-122"/>
              <a:sym typeface="+mn-ea"/>
            </a:endParaRPr>
          </a:p>
        </p:txBody>
      </p:sp>
      <p:sp>
        <p:nvSpPr>
          <p:cNvPr id="136" name="iS1ide-箭头: 五边形 5"/>
          <p:cNvSpPr/>
          <p:nvPr/>
        </p:nvSpPr>
        <p:spPr>
          <a:xfrm>
            <a:off x="6280785" y="2012315"/>
            <a:ext cx="1706245" cy="586740"/>
          </a:xfrm>
          <a:prstGeom prst="homePlate">
            <a:avLst/>
          </a:prstGeom>
          <a:solidFill>
            <a:srgbClr val="C30B0B"/>
          </a:solidFill>
          <a:ln w="41275">
            <a:no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en-US" altLang="zh-CN" sz="1800" b="1" dirty="0">
                <a:latin typeface="微软雅黑" panose="020B0503020204020204" charset="-122"/>
                <a:ea typeface="微软雅黑" panose="020B0503020204020204" charset="-122"/>
                <a:sym typeface="+mn-ea"/>
              </a:rPr>
              <a:t>   </a:t>
            </a:r>
            <a:r>
              <a:rPr lang="zh-CN" altLang="en-US" sz="1800" b="1" dirty="0">
                <a:latin typeface="微软雅黑" panose="020B0503020204020204" charset="-122"/>
                <a:ea typeface="微软雅黑" panose="020B0503020204020204" charset="-122"/>
                <a:sym typeface="+mn-ea"/>
              </a:rPr>
              <a:t>竞价当天</a:t>
            </a:r>
            <a:endParaRPr lang="en-US" altLang="zh-CN" sz="1800" b="1" dirty="0">
              <a:latin typeface="微软雅黑" panose="020B0503020204020204" charset="-122"/>
              <a:ea typeface="微软雅黑" panose="020B0503020204020204" charset="-122"/>
              <a:sym typeface="+mn-ea"/>
            </a:endParaRPr>
          </a:p>
        </p:txBody>
      </p:sp>
      <p:sp>
        <p:nvSpPr>
          <p:cNvPr id="6" name="矩形 5"/>
          <p:cNvSpPr/>
          <p:nvPr/>
        </p:nvSpPr>
        <p:spPr>
          <a:xfrm>
            <a:off x="7713345" y="2599055"/>
            <a:ext cx="3824605" cy="3355975"/>
          </a:xfrm>
          <a:prstGeom prst="rect">
            <a:avLst/>
          </a:prstGeom>
          <a:solidFill>
            <a:srgbClr val="FFF9C4"/>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 name="矩形 4"/>
          <p:cNvSpPr/>
          <p:nvPr/>
        </p:nvSpPr>
        <p:spPr>
          <a:xfrm>
            <a:off x="6597650" y="2599055"/>
            <a:ext cx="1115695" cy="3355975"/>
          </a:xfrm>
          <a:prstGeom prst="rect">
            <a:avLst/>
          </a:prstGeom>
          <a:solidFill>
            <a:srgbClr val="FFD3C3"/>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 name="矩形 3"/>
          <p:cNvSpPr/>
          <p:nvPr/>
        </p:nvSpPr>
        <p:spPr>
          <a:xfrm>
            <a:off x="569595" y="2599055"/>
            <a:ext cx="6026785" cy="3355975"/>
          </a:xfrm>
          <a:prstGeom prst="rect">
            <a:avLst/>
          </a:prstGeom>
          <a:solidFill>
            <a:schemeClr val="accent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 name="文本框 13"/>
          <p:cNvSpPr txBox="1"/>
          <p:nvPr/>
        </p:nvSpPr>
        <p:spPr>
          <a:xfrm>
            <a:off x="716448" y="1132052"/>
            <a:ext cx="3362787" cy="417830"/>
          </a:xfrm>
          <a:prstGeom prst="rect">
            <a:avLst/>
          </a:prstGeom>
          <a:noFill/>
        </p:spPr>
        <p:txBody>
          <a:bodyPr vert="horz" wrap="square" rtlCol="0">
            <a:spAutoFit/>
          </a:bodyPr>
          <a:lstStyle/>
          <a:p>
            <a:pPr defTabSz="457200" fontAlgn="auto">
              <a:spcBef>
                <a:spcPts val="0"/>
              </a:spcBef>
              <a:spcAft>
                <a:spcPts val="0"/>
              </a:spcAft>
              <a:defRPr/>
            </a:pPr>
            <a:r>
              <a:rPr lang="zh-CN" altLang="en-US" sz="2000" b="1" dirty="0">
                <a:solidFill>
                  <a:srgbClr val="7F7F7F"/>
                </a:solidFill>
                <a:latin typeface="微软雅黑" panose="020B0503020204020204" charset="-122"/>
                <a:sym typeface="+mn-ea"/>
              </a:rPr>
              <a:t>业务流程</a:t>
            </a:r>
            <a:endParaRPr lang="zh-CN" altLang="en-US" sz="2000" b="1" dirty="0">
              <a:solidFill>
                <a:srgbClr val="7F7F7F"/>
              </a:solidFill>
              <a:latin typeface="微软雅黑" panose="020B0503020204020204" charset="-122"/>
              <a:sym typeface="+mn-ea"/>
            </a:endParaRPr>
          </a:p>
        </p:txBody>
      </p:sp>
      <p:grpSp>
        <p:nvGrpSpPr>
          <p:cNvPr id="15" name="组合 14"/>
          <p:cNvGrpSpPr/>
          <p:nvPr/>
        </p:nvGrpSpPr>
        <p:grpSpPr>
          <a:xfrm>
            <a:off x="436564" y="1195446"/>
            <a:ext cx="279885" cy="297452"/>
            <a:chOff x="235425" y="990578"/>
            <a:chExt cx="279885" cy="297452"/>
          </a:xfrm>
        </p:grpSpPr>
        <p:sp>
          <p:nvSpPr>
            <p:cNvPr id="16" name="矩形 15"/>
            <p:cNvSpPr/>
            <p:nvPr/>
          </p:nvSpPr>
          <p:spPr>
            <a:xfrm>
              <a:off x="235425" y="990578"/>
              <a:ext cx="72550" cy="297452"/>
            </a:xfrm>
            <a:prstGeom prst="rect">
              <a:avLst/>
            </a:prstGeom>
            <a:solidFill>
              <a:srgbClr val="C8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sp>
          <p:nvSpPr>
            <p:cNvPr id="17" name="矩形 16"/>
            <p:cNvSpPr/>
            <p:nvPr/>
          </p:nvSpPr>
          <p:spPr>
            <a:xfrm>
              <a:off x="327025" y="990578"/>
              <a:ext cx="188285" cy="297452"/>
            </a:xfrm>
            <a:prstGeom prst="rect">
              <a:avLst/>
            </a:prstGeom>
            <a:solidFill>
              <a:srgbClr val="3468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grpSp>
      <p:sp>
        <p:nvSpPr>
          <p:cNvPr id="2" name="灯片编号占位符 1"/>
          <p:cNvSpPr>
            <a:spLocks noGrp="1"/>
          </p:cNvSpPr>
          <p:nvPr>
            <p:ph type="sldNum" sz="quarter" idx="4"/>
          </p:nvPr>
        </p:nvSpPr>
        <p:spPr>
          <a:xfrm>
            <a:off x="8737600" y="6245225"/>
            <a:ext cx="2844800" cy="476250"/>
          </a:xfr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EAB507-6BF6-44B7-B0AA-FEDA2A5C4BA7}"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微软雅黑" panose="020B0503020204020204"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charset="-122"/>
              <a:cs typeface="+mn-cs"/>
            </a:endParaRPr>
          </a:p>
        </p:txBody>
      </p:sp>
      <p:sp>
        <p:nvSpPr>
          <p:cNvPr id="59" name="Oval 33"/>
          <p:cNvSpPr>
            <a:spLocks noChangeArrowheads="1"/>
          </p:cNvSpPr>
          <p:nvPr/>
        </p:nvSpPr>
        <p:spPr bwMode="auto">
          <a:xfrm>
            <a:off x="8061325" y="3169920"/>
            <a:ext cx="567690" cy="532130"/>
          </a:xfrm>
          <a:prstGeom prst="ellipse">
            <a:avLst/>
          </a:prstGeom>
          <a:solidFill>
            <a:srgbClr val="D8A940"/>
          </a:solidFill>
          <a:ln>
            <a:noFill/>
          </a:ln>
        </p:spPr>
        <p:txBody>
          <a:bodyPr/>
          <a:lstStyle/>
          <a:p>
            <a:endParaRPr lang="zh-CN" altLang="en-US" sz="2000" dirty="0"/>
          </a:p>
        </p:txBody>
      </p:sp>
      <p:sp>
        <p:nvSpPr>
          <p:cNvPr id="61" name="Oval 33"/>
          <p:cNvSpPr>
            <a:spLocks noChangeArrowheads="1"/>
          </p:cNvSpPr>
          <p:nvPr/>
        </p:nvSpPr>
        <p:spPr bwMode="auto">
          <a:xfrm>
            <a:off x="9504683" y="3172984"/>
            <a:ext cx="567691" cy="532131"/>
          </a:xfrm>
          <a:prstGeom prst="ellipse">
            <a:avLst/>
          </a:prstGeom>
          <a:solidFill>
            <a:srgbClr val="D8A940"/>
          </a:solidFill>
          <a:ln>
            <a:noFill/>
          </a:ln>
        </p:spPr>
        <p:txBody>
          <a:bodyPr/>
          <a:lstStyle/>
          <a:p>
            <a:endParaRPr lang="zh-CN" altLang="en-US" sz="2000" dirty="0"/>
          </a:p>
        </p:txBody>
      </p:sp>
      <p:sp>
        <p:nvSpPr>
          <p:cNvPr id="62" name="Line 29"/>
          <p:cNvSpPr>
            <a:spLocks noChangeShapeType="1"/>
          </p:cNvSpPr>
          <p:nvPr/>
        </p:nvSpPr>
        <p:spPr bwMode="auto">
          <a:xfrm>
            <a:off x="899798" y="4512945"/>
            <a:ext cx="10139680" cy="635"/>
          </a:xfrm>
          <a:prstGeom prst="line">
            <a:avLst/>
          </a:prstGeom>
          <a:noFill/>
          <a:ln w="28575">
            <a:solidFill>
              <a:schemeClr val="tx1">
                <a:lumMod val="75000"/>
                <a:lumOff val="25000"/>
              </a:schemeClr>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65" name="Oval 30"/>
          <p:cNvSpPr>
            <a:spLocks noChangeArrowheads="1"/>
          </p:cNvSpPr>
          <p:nvPr/>
        </p:nvSpPr>
        <p:spPr bwMode="auto">
          <a:xfrm>
            <a:off x="1988189" y="4417584"/>
            <a:ext cx="205105" cy="191771"/>
          </a:xfrm>
          <a:prstGeom prst="ellipse">
            <a:avLst/>
          </a:prstGeom>
          <a:solidFill>
            <a:srgbClr val="2361AE"/>
          </a:solidFill>
          <a:ln w="12700">
            <a:solidFill>
              <a:srgbClr val="FFFFFF"/>
            </a:solidFill>
            <a:round/>
          </a:ln>
        </p:spPr>
        <p:txBody>
          <a:bodyPr/>
          <a:lstStyle/>
          <a:p>
            <a:endParaRPr lang="zh-CN" altLang="en-US" sz="2000"/>
          </a:p>
        </p:txBody>
      </p:sp>
      <p:sp>
        <p:nvSpPr>
          <p:cNvPr id="75" name="Oval 34"/>
          <p:cNvSpPr>
            <a:spLocks noChangeArrowheads="1"/>
          </p:cNvSpPr>
          <p:nvPr/>
        </p:nvSpPr>
        <p:spPr bwMode="auto">
          <a:xfrm>
            <a:off x="7127244" y="4417584"/>
            <a:ext cx="205105" cy="191771"/>
          </a:xfrm>
          <a:prstGeom prst="ellipse">
            <a:avLst/>
          </a:prstGeom>
          <a:solidFill>
            <a:srgbClr val="C00000"/>
          </a:solidFill>
          <a:ln w="12700">
            <a:solidFill>
              <a:srgbClr val="FFFFFF"/>
            </a:solidFill>
            <a:round/>
          </a:ln>
        </p:spPr>
        <p:txBody>
          <a:bodyPr/>
          <a:lstStyle/>
          <a:p>
            <a:endParaRPr lang="zh-CN" altLang="en-US" sz="2000"/>
          </a:p>
        </p:txBody>
      </p:sp>
      <p:grpSp>
        <p:nvGrpSpPr>
          <p:cNvPr id="76" name="组合 75"/>
          <p:cNvGrpSpPr/>
          <p:nvPr/>
        </p:nvGrpSpPr>
        <p:grpSpPr>
          <a:xfrm>
            <a:off x="1627541" y="3172981"/>
            <a:ext cx="927735" cy="930896"/>
            <a:chOff x="840" y="4198"/>
            <a:chExt cx="1689" cy="1813"/>
          </a:xfrm>
        </p:grpSpPr>
        <p:grpSp>
          <p:nvGrpSpPr>
            <p:cNvPr id="82" name="组合 81"/>
            <p:cNvGrpSpPr/>
            <p:nvPr/>
          </p:nvGrpSpPr>
          <p:grpSpPr>
            <a:xfrm>
              <a:off x="1182" y="4198"/>
              <a:ext cx="1027" cy="1037"/>
              <a:chOff x="4622800" y="2280709"/>
              <a:chExt cx="651933" cy="658283"/>
            </a:xfrm>
          </p:grpSpPr>
          <p:sp>
            <p:nvSpPr>
              <p:cNvPr id="83" name="Oval 31"/>
              <p:cNvSpPr>
                <a:spLocks noChangeArrowheads="1"/>
              </p:cNvSpPr>
              <p:nvPr/>
            </p:nvSpPr>
            <p:spPr bwMode="auto">
              <a:xfrm>
                <a:off x="4622800" y="2280709"/>
                <a:ext cx="651933" cy="658283"/>
              </a:xfrm>
              <a:prstGeom prst="ellipse">
                <a:avLst/>
              </a:prstGeom>
              <a:solidFill>
                <a:srgbClr val="2361AE"/>
              </a:solidFill>
              <a:ln>
                <a:noFill/>
              </a:ln>
            </p:spPr>
            <p:txBody>
              <a:bodyPr/>
              <a:lstStyle/>
              <a:p>
                <a:endParaRPr lang="zh-CN" altLang="en-US" sz="2000" dirty="0"/>
              </a:p>
            </p:txBody>
          </p:sp>
          <p:sp>
            <p:nvSpPr>
              <p:cNvPr id="84" name="Freeform 49"/>
              <p:cNvSpPr>
                <a:spLocks noEditPoints="1"/>
              </p:cNvSpPr>
              <p:nvPr/>
            </p:nvSpPr>
            <p:spPr bwMode="auto">
              <a:xfrm>
                <a:off x="4758267" y="2433110"/>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000"/>
              </a:p>
            </p:txBody>
          </p:sp>
        </p:grpSp>
        <p:sp>
          <p:nvSpPr>
            <p:cNvPr id="85" name="Rectangle 53"/>
            <p:cNvSpPr>
              <a:spLocks noChangeArrowheads="1"/>
            </p:cNvSpPr>
            <p:nvPr/>
          </p:nvSpPr>
          <p:spPr bwMode="auto">
            <a:xfrm>
              <a:off x="840" y="5442"/>
              <a:ext cx="1689" cy="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1600" b="1" dirty="0">
                  <a:solidFill>
                    <a:srgbClr val="2361AE"/>
                  </a:solidFill>
                  <a:latin typeface="微软雅黑" panose="020B0503020204020204" charset="-122"/>
                  <a:sym typeface="Calibri" panose="020F0502020204030204" charset="0"/>
                </a:rPr>
                <a:t>挂牌公告</a:t>
              </a:r>
              <a:endParaRPr lang="zh-CN" altLang="en-US" sz="1600" b="1" dirty="0">
                <a:solidFill>
                  <a:srgbClr val="2361AE"/>
                </a:solidFill>
                <a:latin typeface="微软雅黑" panose="020B0503020204020204" charset="-122"/>
                <a:sym typeface="Calibri" panose="020F0502020204030204" charset="0"/>
              </a:endParaRPr>
            </a:p>
          </p:txBody>
        </p:sp>
      </p:grpSp>
      <p:sp>
        <p:nvSpPr>
          <p:cNvPr id="87" name="Rectangle 55"/>
          <p:cNvSpPr>
            <a:spLocks noChangeArrowheads="1"/>
          </p:cNvSpPr>
          <p:nvPr/>
        </p:nvSpPr>
        <p:spPr bwMode="auto">
          <a:xfrm>
            <a:off x="6817998" y="3795284"/>
            <a:ext cx="824231"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20000"/>
              </a:lnSpc>
              <a:buFont typeface="Arial" panose="020B0604020202020204" pitchFamily="34" charset="0"/>
              <a:buNone/>
            </a:pPr>
            <a:r>
              <a:rPr lang="zh-CN" altLang="en-US" sz="1600" b="1" dirty="0">
                <a:solidFill>
                  <a:srgbClr val="C00000"/>
                </a:solidFill>
                <a:latin typeface="微软雅黑" panose="020B0503020204020204" charset="-122"/>
              </a:rPr>
              <a:t>公开竞价</a:t>
            </a:r>
            <a:endParaRPr lang="zh-CN" altLang="en-US" sz="1600" b="1" dirty="0">
              <a:solidFill>
                <a:srgbClr val="C00000"/>
              </a:solidFill>
              <a:latin typeface="微软雅黑" panose="020B0503020204020204" charset="-122"/>
            </a:endParaRPr>
          </a:p>
        </p:txBody>
      </p:sp>
      <p:sp>
        <p:nvSpPr>
          <p:cNvPr id="90" name="Rectangle 56"/>
          <p:cNvSpPr>
            <a:spLocks noChangeArrowheads="1"/>
          </p:cNvSpPr>
          <p:nvPr/>
        </p:nvSpPr>
        <p:spPr bwMode="auto">
          <a:xfrm>
            <a:off x="1335410" y="4740275"/>
            <a:ext cx="146950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1600" b="1" dirty="0">
                <a:latin typeface="微软雅黑" panose="020B0503020204020204" charset="-122"/>
              </a:rPr>
              <a:t>T-10</a:t>
            </a:r>
            <a:endParaRPr lang="en-US" altLang="zh-CN" sz="1600" b="1" dirty="0">
              <a:latin typeface="微软雅黑" panose="020B0503020204020204" charset="-122"/>
            </a:endParaRPr>
          </a:p>
          <a:p>
            <a:pPr algn="ctr">
              <a:lnSpc>
                <a:spcPct val="120000"/>
              </a:lnSpc>
            </a:pPr>
            <a:r>
              <a:rPr lang="zh-CN" altLang="en-US" sz="1600" b="1" dirty="0">
                <a:latin typeface="微软雅黑" panose="020B0503020204020204" charset="-122"/>
              </a:rPr>
              <a:t>工作日前</a:t>
            </a:r>
            <a:endParaRPr lang="zh-CN" altLang="en-US" sz="1600" b="1" dirty="0">
              <a:latin typeface="微软雅黑" panose="020B0503020204020204" charset="-122"/>
            </a:endParaRPr>
          </a:p>
        </p:txBody>
      </p:sp>
      <p:grpSp>
        <p:nvGrpSpPr>
          <p:cNvPr id="91" name="组合 90"/>
          <p:cNvGrpSpPr/>
          <p:nvPr/>
        </p:nvGrpSpPr>
        <p:grpSpPr>
          <a:xfrm>
            <a:off x="6889752" y="3172984"/>
            <a:ext cx="567691" cy="532131"/>
            <a:chOff x="7198785" y="4763559"/>
            <a:chExt cx="656167" cy="658284"/>
          </a:xfrm>
        </p:grpSpPr>
        <p:sp>
          <p:nvSpPr>
            <p:cNvPr id="92" name="Oval 33"/>
            <p:cNvSpPr>
              <a:spLocks noChangeArrowheads="1"/>
            </p:cNvSpPr>
            <p:nvPr/>
          </p:nvSpPr>
          <p:spPr bwMode="auto">
            <a:xfrm>
              <a:off x="7198785" y="4763559"/>
              <a:ext cx="656167" cy="658284"/>
            </a:xfrm>
            <a:prstGeom prst="ellipse">
              <a:avLst/>
            </a:prstGeom>
            <a:solidFill>
              <a:srgbClr val="C00000"/>
            </a:solidFill>
            <a:ln>
              <a:noFill/>
            </a:ln>
          </p:spPr>
          <p:txBody>
            <a:bodyPr/>
            <a:lstStyle/>
            <a:p>
              <a:endParaRPr lang="zh-CN" altLang="en-US" sz="2000" dirty="0"/>
            </a:p>
          </p:txBody>
        </p:sp>
        <p:sp>
          <p:nvSpPr>
            <p:cNvPr id="93" name="Freeform 46"/>
            <p:cNvSpPr>
              <a:spLocks noEditPoints="1"/>
            </p:cNvSpPr>
            <p:nvPr/>
          </p:nvSpPr>
          <p:spPr bwMode="auto">
            <a:xfrm>
              <a:off x="7359651" y="4932893"/>
              <a:ext cx="317500" cy="319617"/>
            </a:xfrm>
            <a:custGeom>
              <a:avLst/>
              <a:gdLst>
                <a:gd name="T0" fmla="*/ 40 w 75"/>
                <a:gd name="T1" fmla="*/ 12 h 75"/>
                <a:gd name="T2" fmla="*/ 41 w 75"/>
                <a:gd name="T3" fmla="*/ 18 h 75"/>
                <a:gd name="T4" fmla="*/ 38 w 75"/>
                <a:gd name="T5" fmla="*/ 18 h 75"/>
                <a:gd name="T6" fmla="*/ 40 w 75"/>
                <a:gd name="T7" fmla="*/ 11 h 75"/>
                <a:gd name="T8" fmla="*/ 28 w 75"/>
                <a:gd name="T9" fmla="*/ 13 h 75"/>
                <a:gd name="T10" fmla="*/ 13 w 75"/>
                <a:gd name="T11" fmla="*/ 29 h 75"/>
                <a:gd name="T12" fmla="*/ 19 w 75"/>
                <a:gd name="T13" fmla="*/ 61 h 75"/>
                <a:gd name="T14" fmla="*/ 40 w 75"/>
                <a:gd name="T15" fmla="*/ 69 h 75"/>
                <a:gd name="T16" fmla="*/ 67 w 75"/>
                <a:gd name="T17" fmla="*/ 51 h 75"/>
                <a:gd name="T18" fmla="*/ 67 w 75"/>
                <a:gd name="T19" fmla="*/ 51 h 75"/>
                <a:gd name="T20" fmla="*/ 67 w 75"/>
                <a:gd name="T21" fmla="*/ 29 h 75"/>
                <a:gd name="T22" fmla="*/ 40 w 75"/>
                <a:gd name="T23" fmla="*/ 11 h 75"/>
                <a:gd name="T24" fmla="*/ 26 w 75"/>
                <a:gd name="T25" fmla="*/ 8 h 75"/>
                <a:gd name="T26" fmla="*/ 64 w 75"/>
                <a:gd name="T27" fmla="*/ 15 h 75"/>
                <a:gd name="T28" fmla="*/ 75 w 75"/>
                <a:gd name="T29" fmla="*/ 40 h 75"/>
                <a:gd name="T30" fmla="*/ 72 w 75"/>
                <a:gd name="T31" fmla="*/ 53 h 75"/>
                <a:gd name="T32" fmla="*/ 40 w 75"/>
                <a:gd name="T33" fmla="*/ 75 h 75"/>
                <a:gd name="T34" fmla="*/ 15 w 75"/>
                <a:gd name="T35" fmla="*/ 65 h 75"/>
                <a:gd name="T36" fmla="*/ 7 w 75"/>
                <a:gd name="T37" fmla="*/ 27 h 75"/>
                <a:gd name="T38" fmla="*/ 10 w 75"/>
                <a:gd name="T39" fmla="*/ 21 h 75"/>
                <a:gd name="T40" fmla="*/ 1 w 75"/>
                <a:gd name="T41" fmla="*/ 7 h 75"/>
                <a:gd name="T42" fmla="*/ 6 w 75"/>
                <a:gd name="T43" fmla="*/ 1 h 75"/>
                <a:gd name="T44" fmla="*/ 17 w 75"/>
                <a:gd name="T45" fmla="*/ 4 h 75"/>
                <a:gd name="T46" fmla="*/ 20 w 75"/>
                <a:gd name="T47" fmla="*/ 11 h 75"/>
                <a:gd name="T48" fmla="*/ 14 w 75"/>
                <a:gd name="T49" fmla="*/ 16 h 75"/>
                <a:gd name="T50" fmla="*/ 15 w 75"/>
                <a:gd name="T51" fmla="*/ 15 h 75"/>
                <a:gd name="T52" fmla="*/ 16 w 75"/>
                <a:gd name="T53" fmla="*/ 13 h 75"/>
                <a:gd name="T54" fmla="*/ 16 w 75"/>
                <a:gd name="T55" fmla="*/ 8 h 75"/>
                <a:gd name="T56" fmla="*/ 5 w 75"/>
                <a:gd name="T57" fmla="*/ 6 h 75"/>
                <a:gd name="T58" fmla="*/ 3 w 75"/>
                <a:gd name="T59" fmla="*/ 11 h 75"/>
                <a:gd name="T60" fmla="*/ 10 w 75"/>
                <a:gd name="T61" fmla="*/ 17 h 75"/>
                <a:gd name="T62" fmla="*/ 14 w 75"/>
                <a:gd name="T63" fmla="*/ 16 h 75"/>
                <a:gd name="T64" fmla="*/ 27 w 75"/>
                <a:gd name="T65" fmla="*/ 25 h 75"/>
                <a:gd name="T66" fmla="*/ 46 w 75"/>
                <a:gd name="T67" fmla="*/ 33 h 75"/>
                <a:gd name="T68" fmla="*/ 47 w 75"/>
                <a:gd name="T69" fmla="*/ 33 h 75"/>
                <a:gd name="T70" fmla="*/ 47 w 75"/>
                <a:gd name="T71" fmla="*/ 33 h 75"/>
                <a:gd name="T72" fmla="*/ 47 w 75"/>
                <a:gd name="T73" fmla="*/ 33 h 75"/>
                <a:gd name="T74" fmla="*/ 47 w 75"/>
                <a:gd name="T75" fmla="*/ 34 h 75"/>
                <a:gd name="T76" fmla="*/ 54 w 75"/>
                <a:gd name="T77" fmla="*/ 55 h 75"/>
                <a:gd name="T78" fmla="*/ 33 w 75"/>
                <a:gd name="T79" fmla="*/ 48 h 75"/>
                <a:gd name="T80" fmla="*/ 33 w 75"/>
                <a:gd name="T81" fmla="*/ 47 h 75"/>
                <a:gd name="T82" fmla="*/ 32 w 75"/>
                <a:gd name="T83" fmla="*/ 47 h 75"/>
                <a:gd name="T84" fmla="*/ 32 w 75"/>
                <a:gd name="T85" fmla="*/ 47 h 75"/>
                <a:gd name="T86" fmla="*/ 32 w 75"/>
                <a:gd name="T87" fmla="*/ 46 h 75"/>
                <a:gd name="T88" fmla="*/ 25 w 75"/>
                <a:gd name="T89" fmla="*/ 25 h 75"/>
                <a:gd name="T90" fmla="*/ 42 w 75"/>
                <a:gd name="T91" fmla="*/ 35 h 75"/>
                <a:gd name="T92" fmla="*/ 29 w 75"/>
                <a:gd name="T93" fmla="*/ 30 h 75"/>
                <a:gd name="T94" fmla="*/ 42 w 75"/>
                <a:gd name="T95" fmla="*/ 35 h 75"/>
                <a:gd name="T96" fmla="*/ 37 w 75"/>
                <a:gd name="T97" fmla="*/ 45 h 75"/>
                <a:gd name="T98" fmla="*/ 45 w 75"/>
                <a:gd name="T99" fmla="*/ 37 h 75"/>
                <a:gd name="T100" fmla="*/ 14 w 75"/>
                <a:gd name="T101" fmla="*/ 42 h 75"/>
                <a:gd name="T102" fmla="*/ 12 w 75"/>
                <a:gd name="T103" fmla="*/ 40 h 75"/>
                <a:gd name="T104" fmla="*/ 18 w 75"/>
                <a:gd name="T105" fmla="*/ 38 h 75"/>
                <a:gd name="T106" fmla="*/ 18 w 75"/>
                <a:gd name="T107" fmla="*/ 42 h 75"/>
                <a:gd name="T108" fmla="*/ 41 w 75"/>
                <a:gd name="T109" fmla="*/ 66 h 75"/>
                <a:gd name="T110" fmla="*/ 40 w 75"/>
                <a:gd name="T111" fmla="*/ 68 h 75"/>
                <a:gd name="T112" fmla="*/ 38 w 75"/>
                <a:gd name="T113" fmla="*/ 62 h 75"/>
                <a:gd name="T114" fmla="*/ 41 w 75"/>
                <a:gd name="T115" fmla="*/ 62 h 75"/>
                <a:gd name="T116" fmla="*/ 66 w 75"/>
                <a:gd name="T117" fmla="*/ 38 h 75"/>
                <a:gd name="T118" fmla="*/ 67 w 75"/>
                <a:gd name="T119" fmla="*/ 40 h 75"/>
                <a:gd name="T120" fmla="*/ 61 w 75"/>
                <a:gd name="T121" fmla="*/ 42 h 75"/>
                <a:gd name="T122" fmla="*/ 61 w 75"/>
                <a:gd name="T123" fmla="*/ 3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 h="75">
                  <a:moveTo>
                    <a:pt x="38" y="14"/>
                  </a:moveTo>
                  <a:cubicBezTo>
                    <a:pt x="38" y="13"/>
                    <a:pt x="39" y="12"/>
                    <a:pt x="40" y="12"/>
                  </a:cubicBezTo>
                  <a:cubicBezTo>
                    <a:pt x="41" y="12"/>
                    <a:pt x="41" y="13"/>
                    <a:pt x="41" y="14"/>
                  </a:cubicBezTo>
                  <a:cubicBezTo>
                    <a:pt x="41" y="18"/>
                    <a:pt x="41" y="18"/>
                    <a:pt x="41" y="18"/>
                  </a:cubicBezTo>
                  <a:cubicBezTo>
                    <a:pt x="41" y="19"/>
                    <a:pt x="41" y="20"/>
                    <a:pt x="40" y="20"/>
                  </a:cubicBezTo>
                  <a:cubicBezTo>
                    <a:pt x="39" y="20"/>
                    <a:pt x="38" y="19"/>
                    <a:pt x="38" y="18"/>
                  </a:cubicBezTo>
                  <a:cubicBezTo>
                    <a:pt x="38" y="14"/>
                    <a:pt x="38" y="14"/>
                    <a:pt x="38" y="14"/>
                  </a:cubicBezTo>
                  <a:close/>
                  <a:moveTo>
                    <a:pt x="40" y="11"/>
                  </a:moveTo>
                  <a:cubicBezTo>
                    <a:pt x="40" y="11"/>
                    <a:pt x="40" y="11"/>
                    <a:pt x="40" y="11"/>
                  </a:cubicBezTo>
                  <a:cubicBezTo>
                    <a:pt x="36" y="11"/>
                    <a:pt x="32" y="12"/>
                    <a:pt x="28" y="13"/>
                  </a:cubicBezTo>
                  <a:cubicBezTo>
                    <a:pt x="25" y="14"/>
                    <a:pt x="22" y="17"/>
                    <a:pt x="19" y="19"/>
                  </a:cubicBezTo>
                  <a:cubicBezTo>
                    <a:pt x="16" y="22"/>
                    <a:pt x="14" y="25"/>
                    <a:pt x="13" y="29"/>
                  </a:cubicBezTo>
                  <a:cubicBezTo>
                    <a:pt x="11" y="32"/>
                    <a:pt x="10" y="36"/>
                    <a:pt x="10" y="40"/>
                  </a:cubicBezTo>
                  <a:cubicBezTo>
                    <a:pt x="10" y="48"/>
                    <a:pt x="13" y="55"/>
                    <a:pt x="19" y="61"/>
                  </a:cubicBezTo>
                  <a:cubicBezTo>
                    <a:pt x="22" y="63"/>
                    <a:pt x="25" y="66"/>
                    <a:pt x="28" y="67"/>
                  </a:cubicBezTo>
                  <a:cubicBezTo>
                    <a:pt x="32" y="68"/>
                    <a:pt x="36" y="69"/>
                    <a:pt x="40" y="69"/>
                  </a:cubicBezTo>
                  <a:cubicBezTo>
                    <a:pt x="47" y="69"/>
                    <a:pt x="55" y="66"/>
                    <a:pt x="60" y="61"/>
                  </a:cubicBezTo>
                  <a:cubicBezTo>
                    <a:pt x="63" y="58"/>
                    <a:pt x="65" y="55"/>
                    <a:pt x="67" y="51"/>
                  </a:cubicBezTo>
                  <a:cubicBezTo>
                    <a:pt x="67" y="51"/>
                    <a:pt x="67" y="51"/>
                    <a:pt x="67" y="51"/>
                  </a:cubicBezTo>
                  <a:cubicBezTo>
                    <a:pt x="67" y="51"/>
                    <a:pt x="67" y="51"/>
                    <a:pt x="67" y="51"/>
                  </a:cubicBezTo>
                  <a:cubicBezTo>
                    <a:pt x="68" y="48"/>
                    <a:pt x="69" y="44"/>
                    <a:pt x="69" y="40"/>
                  </a:cubicBezTo>
                  <a:cubicBezTo>
                    <a:pt x="69" y="36"/>
                    <a:pt x="68" y="32"/>
                    <a:pt x="67" y="29"/>
                  </a:cubicBezTo>
                  <a:cubicBezTo>
                    <a:pt x="65" y="25"/>
                    <a:pt x="63" y="22"/>
                    <a:pt x="60" y="19"/>
                  </a:cubicBezTo>
                  <a:cubicBezTo>
                    <a:pt x="55" y="14"/>
                    <a:pt x="48" y="11"/>
                    <a:pt x="40" y="11"/>
                  </a:cubicBezTo>
                  <a:close/>
                  <a:moveTo>
                    <a:pt x="26" y="8"/>
                  </a:moveTo>
                  <a:cubicBezTo>
                    <a:pt x="26" y="8"/>
                    <a:pt x="26" y="8"/>
                    <a:pt x="26" y="8"/>
                  </a:cubicBezTo>
                  <a:cubicBezTo>
                    <a:pt x="30" y="6"/>
                    <a:pt x="35" y="5"/>
                    <a:pt x="40" y="5"/>
                  </a:cubicBezTo>
                  <a:cubicBezTo>
                    <a:pt x="49" y="5"/>
                    <a:pt x="58" y="9"/>
                    <a:pt x="64" y="15"/>
                  </a:cubicBezTo>
                  <a:cubicBezTo>
                    <a:pt x="68" y="18"/>
                    <a:pt x="70" y="22"/>
                    <a:pt x="72" y="27"/>
                  </a:cubicBezTo>
                  <a:cubicBezTo>
                    <a:pt x="74" y="31"/>
                    <a:pt x="75" y="35"/>
                    <a:pt x="75" y="40"/>
                  </a:cubicBezTo>
                  <a:cubicBezTo>
                    <a:pt x="75" y="45"/>
                    <a:pt x="74" y="49"/>
                    <a:pt x="72" y="53"/>
                  </a:cubicBezTo>
                  <a:cubicBezTo>
                    <a:pt x="72" y="53"/>
                    <a:pt x="72" y="53"/>
                    <a:pt x="72" y="53"/>
                  </a:cubicBezTo>
                  <a:cubicBezTo>
                    <a:pt x="70" y="58"/>
                    <a:pt x="68" y="62"/>
                    <a:pt x="64" y="65"/>
                  </a:cubicBezTo>
                  <a:cubicBezTo>
                    <a:pt x="58" y="71"/>
                    <a:pt x="49" y="75"/>
                    <a:pt x="40" y="75"/>
                  </a:cubicBezTo>
                  <a:cubicBezTo>
                    <a:pt x="35" y="75"/>
                    <a:pt x="30" y="74"/>
                    <a:pt x="26" y="72"/>
                  </a:cubicBezTo>
                  <a:cubicBezTo>
                    <a:pt x="22" y="71"/>
                    <a:pt x="18" y="68"/>
                    <a:pt x="15" y="65"/>
                  </a:cubicBezTo>
                  <a:cubicBezTo>
                    <a:pt x="8" y="58"/>
                    <a:pt x="5" y="49"/>
                    <a:pt x="5" y="40"/>
                  </a:cubicBezTo>
                  <a:cubicBezTo>
                    <a:pt x="5" y="35"/>
                    <a:pt x="6" y="31"/>
                    <a:pt x="7" y="27"/>
                  </a:cubicBezTo>
                  <a:cubicBezTo>
                    <a:pt x="8" y="25"/>
                    <a:pt x="9" y="23"/>
                    <a:pt x="10" y="21"/>
                  </a:cubicBezTo>
                  <a:cubicBezTo>
                    <a:pt x="10" y="21"/>
                    <a:pt x="10" y="21"/>
                    <a:pt x="10" y="21"/>
                  </a:cubicBezTo>
                  <a:cubicBezTo>
                    <a:pt x="4" y="21"/>
                    <a:pt x="0" y="16"/>
                    <a:pt x="0" y="11"/>
                  </a:cubicBezTo>
                  <a:cubicBezTo>
                    <a:pt x="0" y="9"/>
                    <a:pt x="0" y="8"/>
                    <a:pt x="1" y="7"/>
                  </a:cubicBezTo>
                  <a:cubicBezTo>
                    <a:pt x="1" y="6"/>
                    <a:pt x="2" y="5"/>
                    <a:pt x="3" y="4"/>
                  </a:cubicBezTo>
                  <a:cubicBezTo>
                    <a:pt x="4" y="3"/>
                    <a:pt x="5" y="2"/>
                    <a:pt x="6" y="1"/>
                  </a:cubicBezTo>
                  <a:cubicBezTo>
                    <a:pt x="6" y="1"/>
                    <a:pt x="6" y="1"/>
                    <a:pt x="6" y="1"/>
                  </a:cubicBezTo>
                  <a:cubicBezTo>
                    <a:pt x="10" y="0"/>
                    <a:pt x="14" y="1"/>
                    <a:pt x="17" y="4"/>
                  </a:cubicBezTo>
                  <a:cubicBezTo>
                    <a:pt x="18" y="5"/>
                    <a:pt x="19" y="6"/>
                    <a:pt x="19" y="7"/>
                  </a:cubicBezTo>
                  <a:cubicBezTo>
                    <a:pt x="20" y="8"/>
                    <a:pt x="20" y="9"/>
                    <a:pt x="20" y="11"/>
                  </a:cubicBezTo>
                  <a:cubicBezTo>
                    <a:pt x="22" y="10"/>
                    <a:pt x="24" y="8"/>
                    <a:pt x="26" y="8"/>
                  </a:cubicBezTo>
                  <a:close/>
                  <a:moveTo>
                    <a:pt x="14" y="16"/>
                  </a:moveTo>
                  <a:cubicBezTo>
                    <a:pt x="14" y="16"/>
                    <a:pt x="14" y="16"/>
                    <a:pt x="14" y="16"/>
                  </a:cubicBezTo>
                  <a:cubicBezTo>
                    <a:pt x="14" y="16"/>
                    <a:pt x="14" y="16"/>
                    <a:pt x="15" y="15"/>
                  </a:cubicBezTo>
                  <a:cubicBezTo>
                    <a:pt x="16" y="14"/>
                    <a:pt x="16" y="14"/>
                    <a:pt x="16" y="14"/>
                  </a:cubicBezTo>
                  <a:cubicBezTo>
                    <a:pt x="16" y="14"/>
                    <a:pt x="16" y="14"/>
                    <a:pt x="16" y="13"/>
                  </a:cubicBezTo>
                  <a:cubicBezTo>
                    <a:pt x="17" y="13"/>
                    <a:pt x="17" y="12"/>
                    <a:pt x="17" y="11"/>
                  </a:cubicBezTo>
                  <a:cubicBezTo>
                    <a:pt x="17" y="10"/>
                    <a:pt x="17" y="9"/>
                    <a:pt x="16" y="8"/>
                  </a:cubicBezTo>
                  <a:cubicBezTo>
                    <a:pt x="15" y="5"/>
                    <a:pt x="11" y="3"/>
                    <a:pt x="8" y="5"/>
                  </a:cubicBezTo>
                  <a:cubicBezTo>
                    <a:pt x="7" y="5"/>
                    <a:pt x="6" y="6"/>
                    <a:pt x="5" y="6"/>
                  </a:cubicBezTo>
                  <a:cubicBezTo>
                    <a:pt x="5" y="7"/>
                    <a:pt x="4" y="7"/>
                    <a:pt x="4" y="8"/>
                  </a:cubicBezTo>
                  <a:cubicBezTo>
                    <a:pt x="4" y="9"/>
                    <a:pt x="3" y="10"/>
                    <a:pt x="3" y="11"/>
                  </a:cubicBezTo>
                  <a:cubicBezTo>
                    <a:pt x="3" y="13"/>
                    <a:pt x="5" y="16"/>
                    <a:pt x="8" y="17"/>
                  </a:cubicBezTo>
                  <a:cubicBezTo>
                    <a:pt x="8" y="17"/>
                    <a:pt x="9" y="17"/>
                    <a:pt x="10" y="17"/>
                  </a:cubicBezTo>
                  <a:cubicBezTo>
                    <a:pt x="11" y="17"/>
                    <a:pt x="12" y="17"/>
                    <a:pt x="13" y="17"/>
                  </a:cubicBezTo>
                  <a:cubicBezTo>
                    <a:pt x="13" y="17"/>
                    <a:pt x="13" y="17"/>
                    <a:pt x="14" y="16"/>
                  </a:cubicBezTo>
                  <a:close/>
                  <a:moveTo>
                    <a:pt x="27" y="25"/>
                  </a:moveTo>
                  <a:cubicBezTo>
                    <a:pt x="27" y="25"/>
                    <a:pt x="27" y="25"/>
                    <a:pt x="27" y="25"/>
                  </a:cubicBezTo>
                  <a:cubicBezTo>
                    <a:pt x="46" y="33"/>
                    <a:pt x="46" y="33"/>
                    <a:pt x="46" y="33"/>
                  </a:cubicBezTo>
                  <a:cubicBezTo>
                    <a:pt x="46" y="33"/>
                    <a:pt x="46" y="33"/>
                    <a:pt x="46" y="33"/>
                  </a:cubicBezTo>
                  <a:cubicBezTo>
                    <a:pt x="46" y="33"/>
                    <a:pt x="46" y="33"/>
                    <a:pt x="46" y="33"/>
                  </a:cubicBezTo>
                  <a:cubicBezTo>
                    <a:pt x="46" y="33"/>
                    <a:pt x="47" y="33"/>
                    <a:pt x="47" y="33"/>
                  </a:cubicBezTo>
                  <a:cubicBezTo>
                    <a:pt x="47" y="33"/>
                    <a:pt x="47" y="33"/>
                    <a:pt x="47" y="33"/>
                  </a:cubicBezTo>
                  <a:cubicBezTo>
                    <a:pt x="47" y="33"/>
                    <a:pt x="47" y="33"/>
                    <a:pt x="47" y="33"/>
                  </a:cubicBezTo>
                  <a:cubicBezTo>
                    <a:pt x="47" y="33"/>
                    <a:pt x="47" y="33"/>
                    <a:pt x="47" y="33"/>
                  </a:cubicBezTo>
                  <a:cubicBezTo>
                    <a:pt x="47" y="33"/>
                    <a:pt x="47" y="33"/>
                    <a:pt x="47" y="33"/>
                  </a:cubicBezTo>
                  <a:cubicBezTo>
                    <a:pt x="47" y="33"/>
                    <a:pt x="47" y="34"/>
                    <a:pt x="47" y="34"/>
                  </a:cubicBezTo>
                  <a:cubicBezTo>
                    <a:pt x="47" y="34"/>
                    <a:pt x="47" y="34"/>
                    <a:pt x="47" y="34"/>
                  </a:cubicBezTo>
                  <a:cubicBezTo>
                    <a:pt x="55" y="53"/>
                    <a:pt x="55" y="53"/>
                    <a:pt x="55" y="53"/>
                  </a:cubicBezTo>
                  <a:cubicBezTo>
                    <a:pt x="55" y="54"/>
                    <a:pt x="55" y="55"/>
                    <a:pt x="54" y="55"/>
                  </a:cubicBezTo>
                  <a:cubicBezTo>
                    <a:pt x="53" y="55"/>
                    <a:pt x="53" y="55"/>
                    <a:pt x="53" y="55"/>
                  </a:cubicBezTo>
                  <a:cubicBezTo>
                    <a:pt x="33" y="48"/>
                    <a:pt x="33" y="48"/>
                    <a:pt x="33" y="48"/>
                  </a:cubicBezTo>
                  <a:cubicBezTo>
                    <a:pt x="33" y="48"/>
                    <a:pt x="33" y="48"/>
                    <a:pt x="33" y="48"/>
                  </a:cubicBezTo>
                  <a:cubicBezTo>
                    <a:pt x="33" y="47"/>
                    <a:pt x="33" y="47"/>
                    <a:pt x="33" y="47"/>
                  </a:cubicBezTo>
                  <a:cubicBezTo>
                    <a:pt x="32" y="47"/>
                    <a:pt x="32" y="47"/>
                    <a:pt x="32" y="47"/>
                  </a:cubicBezTo>
                  <a:cubicBezTo>
                    <a:pt x="32" y="47"/>
                    <a:pt x="32" y="47"/>
                    <a:pt x="32" y="47"/>
                  </a:cubicBezTo>
                  <a:cubicBezTo>
                    <a:pt x="32" y="47"/>
                    <a:pt x="32" y="47"/>
                    <a:pt x="32" y="47"/>
                  </a:cubicBezTo>
                  <a:cubicBezTo>
                    <a:pt x="32" y="47"/>
                    <a:pt x="32" y="47"/>
                    <a:pt x="32" y="47"/>
                  </a:cubicBezTo>
                  <a:cubicBezTo>
                    <a:pt x="32" y="47"/>
                    <a:pt x="32" y="47"/>
                    <a:pt x="32" y="46"/>
                  </a:cubicBezTo>
                  <a:cubicBezTo>
                    <a:pt x="32" y="46"/>
                    <a:pt x="32" y="46"/>
                    <a:pt x="32" y="46"/>
                  </a:cubicBezTo>
                  <a:cubicBezTo>
                    <a:pt x="24" y="27"/>
                    <a:pt x="24" y="27"/>
                    <a:pt x="24" y="27"/>
                  </a:cubicBezTo>
                  <a:cubicBezTo>
                    <a:pt x="24" y="26"/>
                    <a:pt x="25" y="25"/>
                    <a:pt x="25" y="25"/>
                  </a:cubicBezTo>
                  <a:cubicBezTo>
                    <a:pt x="26" y="25"/>
                    <a:pt x="26" y="25"/>
                    <a:pt x="27" y="25"/>
                  </a:cubicBezTo>
                  <a:close/>
                  <a:moveTo>
                    <a:pt x="42" y="35"/>
                  </a:moveTo>
                  <a:cubicBezTo>
                    <a:pt x="42" y="35"/>
                    <a:pt x="42" y="35"/>
                    <a:pt x="42" y="35"/>
                  </a:cubicBezTo>
                  <a:cubicBezTo>
                    <a:pt x="29" y="30"/>
                    <a:pt x="29" y="30"/>
                    <a:pt x="29" y="30"/>
                  </a:cubicBezTo>
                  <a:cubicBezTo>
                    <a:pt x="34" y="43"/>
                    <a:pt x="34" y="43"/>
                    <a:pt x="34" y="43"/>
                  </a:cubicBezTo>
                  <a:cubicBezTo>
                    <a:pt x="42" y="35"/>
                    <a:pt x="42" y="35"/>
                    <a:pt x="42" y="35"/>
                  </a:cubicBezTo>
                  <a:close/>
                  <a:moveTo>
                    <a:pt x="37" y="45"/>
                  </a:moveTo>
                  <a:cubicBezTo>
                    <a:pt x="37" y="45"/>
                    <a:pt x="37" y="45"/>
                    <a:pt x="37" y="45"/>
                  </a:cubicBezTo>
                  <a:cubicBezTo>
                    <a:pt x="50" y="50"/>
                    <a:pt x="50" y="50"/>
                    <a:pt x="50" y="50"/>
                  </a:cubicBezTo>
                  <a:cubicBezTo>
                    <a:pt x="45" y="37"/>
                    <a:pt x="45" y="37"/>
                    <a:pt x="45" y="37"/>
                  </a:cubicBezTo>
                  <a:cubicBezTo>
                    <a:pt x="37" y="45"/>
                    <a:pt x="37" y="45"/>
                    <a:pt x="37" y="45"/>
                  </a:cubicBezTo>
                  <a:close/>
                  <a:moveTo>
                    <a:pt x="14" y="42"/>
                  </a:moveTo>
                  <a:cubicBezTo>
                    <a:pt x="14" y="42"/>
                    <a:pt x="14" y="42"/>
                    <a:pt x="14" y="42"/>
                  </a:cubicBezTo>
                  <a:cubicBezTo>
                    <a:pt x="13" y="42"/>
                    <a:pt x="12" y="41"/>
                    <a:pt x="12" y="40"/>
                  </a:cubicBezTo>
                  <a:cubicBezTo>
                    <a:pt x="12" y="39"/>
                    <a:pt x="13" y="38"/>
                    <a:pt x="14" y="38"/>
                  </a:cubicBezTo>
                  <a:cubicBezTo>
                    <a:pt x="18" y="38"/>
                    <a:pt x="18" y="38"/>
                    <a:pt x="18" y="38"/>
                  </a:cubicBezTo>
                  <a:cubicBezTo>
                    <a:pt x="19" y="38"/>
                    <a:pt x="20" y="39"/>
                    <a:pt x="20" y="40"/>
                  </a:cubicBezTo>
                  <a:cubicBezTo>
                    <a:pt x="20" y="41"/>
                    <a:pt x="19" y="42"/>
                    <a:pt x="18" y="42"/>
                  </a:cubicBezTo>
                  <a:cubicBezTo>
                    <a:pt x="14" y="42"/>
                    <a:pt x="14" y="42"/>
                    <a:pt x="14" y="42"/>
                  </a:cubicBezTo>
                  <a:close/>
                  <a:moveTo>
                    <a:pt x="41" y="66"/>
                  </a:moveTo>
                  <a:cubicBezTo>
                    <a:pt x="41" y="66"/>
                    <a:pt x="41" y="66"/>
                    <a:pt x="41" y="66"/>
                  </a:cubicBezTo>
                  <a:cubicBezTo>
                    <a:pt x="41" y="67"/>
                    <a:pt x="41" y="68"/>
                    <a:pt x="40" y="68"/>
                  </a:cubicBezTo>
                  <a:cubicBezTo>
                    <a:pt x="39" y="68"/>
                    <a:pt x="38" y="67"/>
                    <a:pt x="38" y="66"/>
                  </a:cubicBezTo>
                  <a:cubicBezTo>
                    <a:pt x="38" y="62"/>
                    <a:pt x="38" y="62"/>
                    <a:pt x="38" y="62"/>
                  </a:cubicBezTo>
                  <a:cubicBezTo>
                    <a:pt x="38" y="61"/>
                    <a:pt x="39" y="60"/>
                    <a:pt x="40" y="60"/>
                  </a:cubicBezTo>
                  <a:cubicBezTo>
                    <a:pt x="41" y="60"/>
                    <a:pt x="41" y="61"/>
                    <a:pt x="41" y="62"/>
                  </a:cubicBezTo>
                  <a:cubicBezTo>
                    <a:pt x="41" y="66"/>
                    <a:pt x="41" y="66"/>
                    <a:pt x="41" y="66"/>
                  </a:cubicBezTo>
                  <a:close/>
                  <a:moveTo>
                    <a:pt x="66" y="38"/>
                  </a:moveTo>
                  <a:cubicBezTo>
                    <a:pt x="66" y="38"/>
                    <a:pt x="66" y="38"/>
                    <a:pt x="66" y="38"/>
                  </a:cubicBezTo>
                  <a:cubicBezTo>
                    <a:pt x="67" y="38"/>
                    <a:pt x="67" y="39"/>
                    <a:pt x="67" y="40"/>
                  </a:cubicBezTo>
                  <a:cubicBezTo>
                    <a:pt x="67" y="41"/>
                    <a:pt x="67" y="42"/>
                    <a:pt x="66" y="42"/>
                  </a:cubicBezTo>
                  <a:cubicBezTo>
                    <a:pt x="61" y="42"/>
                    <a:pt x="61" y="42"/>
                    <a:pt x="61" y="42"/>
                  </a:cubicBezTo>
                  <a:cubicBezTo>
                    <a:pt x="60" y="42"/>
                    <a:pt x="59" y="41"/>
                    <a:pt x="59" y="40"/>
                  </a:cubicBezTo>
                  <a:cubicBezTo>
                    <a:pt x="59" y="39"/>
                    <a:pt x="60" y="38"/>
                    <a:pt x="61" y="38"/>
                  </a:cubicBezTo>
                  <a:cubicBezTo>
                    <a:pt x="66" y="38"/>
                    <a:pt x="66" y="38"/>
                    <a:pt x="66" y="3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000"/>
            </a:p>
          </p:txBody>
        </p:sp>
      </p:grpSp>
      <p:sp>
        <p:nvSpPr>
          <p:cNvPr id="94" name="Rectangle 56"/>
          <p:cNvSpPr>
            <a:spLocks noChangeArrowheads="1"/>
          </p:cNvSpPr>
          <p:nvPr/>
        </p:nvSpPr>
        <p:spPr bwMode="auto">
          <a:xfrm>
            <a:off x="6933568" y="4740165"/>
            <a:ext cx="593091"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1600" b="1" dirty="0">
                <a:latin typeface="微软雅黑" panose="020B0503020204020204" charset="-122"/>
              </a:rPr>
              <a:t>T</a:t>
            </a:r>
            <a:r>
              <a:rPr lang="zh-CN" altLang="en-US" sz="1600" b="1" dirty="0">
                <a:latin typeface="微软雅黑" panose="020B0503020204020204" charset="-122"/>
                <a:sym typeface="+mn-ea"/>
              </a:rPr>
              <a:t>日</a:t>
            </a:r>
            <a:endParaRPr lang="zh-CN" altLang="en-US" sz="1600" b="1" dirty="0">
              <a:latin typeface="微软雅黑" panose="020B0503020204020204" charset="-122"/>
            </a:endParaRPr>
          </a:p>
        </p:txBody>
      </p:sp>
      <p:grpSp>
        <p:nvGrpSpPr>
          <p:cNvPr id="95" name="组合 94"/>
          <p:cNvGrpSpPr/>
          <p:nvPr/>
        </p:nvGrpSpPr>
        <p:grpSpPr>
          <a:xfrm>
            <a:off x="4474848" y="3172984"/>
            <a:ext cx="563880" cy="532131"/>
            <a:chOff x="4622800" y="2280709"/>
            <a:chExt cx="651933" cy="658283"/>
          </a:xfrm>
        </p:grpSpPr>
        <p:sp>
          <p:nvSpPr>
            <p:cNvPr id="96" name="Oval 31"/>
            <p:cNvSpPr>
              <a:spLocks noChangeArrowheads="1"/>
            </p:cNvSpPr>
            <p:nvPr/>
          </p:nvSpPr>
          <p:spPr bwMode="auto">
            <a:xfrm>
              <a:off x="4622800" y="2280709"/>
              <a:ext cx="651933" cy="658283"/>
            </a:xfrm>
            <a:prstGeom prst="ellipse">
              <a:avLst/>
            </a:prstGeom>
            <a:solidFill>
              <a:srgbClr val="2361AE"/>
            </a:solidFill>
            <a:ln>
              <a:noFill/>
            </a:ln>
          </p:spPr>
          <p:txBody>
            <a:bodyPr/>
            <a:lstStyle/>
            <a:p>
              <a:endParaRPr lang="zh-CN" altLang="en-US" sz="2000" dirty="0"/>
            </a:p>
          </p:txBody>
        </p:sp>
        <p:sp>
          <p:nvSpPr>
            <p:cNvPr id="97" name="Freeform 49"/>
            <p:cNvSpPr>
              <a:spLocks noEditPoints="1"/>
            </p:cNvSpPr>
            <p:nvPr/>
          </p:nvSpPr>
          <p:spPr bwMode="auto">
            <a:xfrm>
              <a:off x="4758267" y="2433110"/>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000"/>
            </a:p>
          </p:txBody>
        </p:sp>
      </p:grpSp>
      <p:sp>
        <p:nvSpPr>
          <p:cNvPr id="98" name="Oval 32"/>
          <p:cNvSpPr>
            <a:spLocks noChangeArrowheads="1"/>
          </p:cNvSpPr>
          <p:nvPr/>
        </p:nvSpPr>
        <p:spPr bwMode="auto">
          <a:xfrm>
            <a:off x="4592324" y="4417584"/>
            <a:ext cx="205105" cy="191771"/>
          </a:xfrm>
          <a:prstGeom prst="ellipse">
            <a:avLst/>
          </a:prstGeom>
          <a:solidFill>
            <a:srgbClr val="2361AE"/>
          </a:solidFill>
          <a:ln w="12700">
            <a:solidFill>
              <a:srgbClr val="FFFFFF"/>
            </a:solidFill>
            <a:round/>
          </a:ln>
        </p:spPr>
        <p:txBody>
          <a:bodyPr/>
          <a:lstStyle/>
          <a:p>
            <a:endParaRPr lang="zh-CN" altLang="en-US" sz="2000">
              <a:solidFill>
                <a:schemeClr val="accent3"/>
              </a:solidFill>
            </a:endParaRPr>
          </a:p>
        </p:txBody>
      </p:sp>
      <p:sp>
        <p:nvSpPr>
          <p:cNvPr id="99" name="Rectangle 53"/>
          <p:cNvSpPr>
            <a:spLocks noChangeArrowheads="1"/>
          </p:cNvSpPr>
          <p:nvPr/>
        </p:nvSpPr>
        <p:spPr bwMode="auto">
          <a:xfrm>
            <a:off x="4232280" y="3795284"/>
            <a:ext cx="104965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1600" b="1" dirty="0">
                <a:solidFill>
                  <a:srgbClr val="2361AE"/>
                </a:solidFill>
                <a:latin typeface="微软雅黑" panose="020B0503020204020204" charset="-122"/>
              </a:rPr>
              <a:t>合格意向受让方确认</a:t>
            </a:r>
            <a:endParaRPr lang="zh-CN" altLang="en-US" sz="1600" b="1" dirty="0">
              <a:solidFill>
                <a:srgbClr val="2361AE"/>
              </a:solidFill>
              <a:latin typeface="微软雅黑" panose="020B0503020204020204" charset="-122"/>
            </a:endParaRPr>
          </a:p>
        </p:txBody>
      </p:sp>
      <p:sp>
        <p:nvSpPr>
          <p:cNvPr id="100" name="Rectangle 56"/>
          <p:cNvSpPr>
            <a:spLocks noChangeArrowheads="1"/>
          </p:cNvSpPr>
          <p:nvPr/>
        </p:nvSpPr>
        <p:spPr bwMode="auto">
          <a:xfrm>
            <a:off x="4284980" y="4740275"/>
            <a:ext cx="83756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1600" b="1" dirty="0">
                <a:latin typeface="微软雅黑" panose="020B0503020204020204" charset="-122"/>
              </a:rPr>
              <a:t>T-1</a:t>
            </a:r>
            <a:endParaRPr lang="en-US" altLang="zh-CN" sz="1600" b="1" dirty="0">
              <a:latin typeface="微软雅黑" panose="020B0503020204020204" charset="-122"/>
            </a:endParaRPr>
          </a:p>
          <a:p>
            <a:pPr algn="ctr">
              <a:lnSpc>
                <a:spcPct val="120000"/>
              </a:lnSpc>
            </a:pPr>
            <a:r>
              <a:rPr lang="zh-CN" altLang="en-US" sz="1600" b="1" dirty="0">
                <a:latin typeface="微软雅黑" panose="020B0503020204020204" charset="-122"/>
              </a:rPr>
              <a:t>工作</a:t>
            </a:r>
            <a:r>
              <a:rPr lang="zh-CN" altLang="en-US" sz="1600" b="1" dirty="0">
                <a:latin typeface="微软雅黑" panose="020B0503020204020204" charset="-122"/>
                <a:sym typeface="+mn-ea"/>
              </a:rPr>
              <a:t>日前</a:t>
            </a:r>
            <a:endParaRPr lang="zh-CN" altLang="en-US" sz="1600" b="1" dirty="0">
              <a:latin typeface="微软雅黑" panose="020B0503020204020204" charset="-122"/>
            </a:endParaRPr>
          </a:p>
        </p:txBody>
      </p:sp>
      <p:sp>
        <p:nvSpPr>
          <p:cNvPr id="101" name="Oval 32"/>
          <p:cNvSpPr>
            <a:spLocks noChangeArrowheads="1"/>
          </p:cNvSpPr>
          <p:nvPr/>
        </p:nvSpPr>
        <p:spPr bwMode="auto">
          <a:xfrm>
            <a:off x="5937889" y="4417584"/>
            <a:ext cx="205105" cy="191771"/>
          </a:xfrm>
          <a:prstGeom prst="ellipse">
            <a:avLst/>
          </a:prstGeom>
          <a:solidFill>
            <a:srgbClr val="2361AE"/>
          </a:solidFill>
          <a:ln w="12700">
            <a:solidFill>
              <a:srgbClr val="FFFFFF"/>
            </a:solidFill>
            <a:round/>
          </a:ln>
        </p:spPr>
        <p:txBody>
          <a:bodyPr/>
          <a:lstStyle/>
          <a:p>
            <a:endParaRPr lang="zh-CN" altLang="en-US" sz="2000">
              <a:solidFill>
                <a:schemeClr val="accent3"/>
              </a:solidFill>
            </a:endParaRPr>
          </a:p>
        </p:txBody>
      </p:sp>
      <p:sp>
        <p:nvSpPr>
          <p:cNvPr id="102" name="Rectangle 53"/>
          <p:cNvSpPr>
            <a:spLocks noChangeArrowheads="1"/>
          </p:cNvSpPr>
          <p:nvPr/>
        </p:nvSpPr>
        <p:spPr bwMode="auto">
          <a:xfrm>
            <a:off x="5391150" y="3795395"/>
            <a:ext cx="12319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1600" b="1" dirty="0">
                <a:solidFill>
                  <a:srgbClr val="2361AE"/>
                </a:solidFill>
                <a:latin typeface="微软雅黑" panose="020B0503020204020204" charset="-122"/>
              </a:rPr>
              <a:t>设置保留价</a:t>
            </a:r>
            <a:endParaRPr lang="zh-CN" altLang="en-US" sz="1600" b="1" dirty="0">
              <a:solidFill>
                <a:srgbClr val="2361AE"/>
              </a:solidFill>
              <a:latin typeface="微软雅黑" panose="020B0503020204020204" charset="-122"/>
            </a:endParaRPr>
          </a:p>
        </p:txBody>
      </p:sp>
      <p:sp>
        <p:nvSpPr>
          <p:cNvPr id="103" name="Rectangle 56"/>
          <p:cNvSpPr>
            <a:spLocks noChangeArrowheads="1"/>
          </p:cNvSpPr>
          <p:nvPr/>
        </p:nvSpPr>
        <p:spPr bwMode="auto">
          <a:xfrm>
            <a:off x="5627370" y="4740275"/>
            <a:ext cx="83058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1600" b="1" dirty="0">
                <a:latin typeface="微软雅黑" panose="020B0503020204020204" charset="-122"/>
              </a:rPr>
              <a:t>T-1</a:t>
            </a:r>
            <a:endParaRPr lang="en-US" altLang="zh-CN" sz="1600" b="1" dirty="0">
              <a:latin typeface="微软雅黑" panose="020B0503020204020204" charset="-122"/>
            </a:endParaRPr>
          </a:p>
          <a:p>
            <a:pPr algn="ctr">
              <a:lnSpc>
                <a:spcPct val="120000"/>
              </a:lnSpc>
            </a:pPr>
            <a:r>
              <a:rPr lang="zh-CN" altLang="en-US" sz="1600" b="1" dirty="0">
                <a:latin typeface="微软雅黑" panose="020B0503020204020204" charset="-122"/>
              </a:rPr>
              <a:t>工作</a:t>
            </a:r>
            <a:r>
              <a:rPr lang="zh-CN" altLang="en-US" sz="1600" b="1" dirty="0">
                <a:latin typeface="微软雅黑" panose="020B0503020204020204" charset="-122"/>
                <a:sym typeface="+mn-ea"/>
              </a:rPr>
              <a:t>日前</a:t>
            </a:r>
            <a:endParaRPr lang="zh-CN" altLang="en-US" sz="1600" b="1" dirty="0">
              <a:latin typeface="微软雅黑" panose="020B0503020204020204" charset="-122"/>
            </a:endParaRPr>
          </a:p>
        </p:txBody>
      </p:sp>
      <p:sp>
        <p:nvSpPr>
          <p:cNvPr id="104" name="Oval 34"/>
          <p:cNvSpPr>
            <a:spLocks noChangeArrowheads="1"/>
          </p:cNvSpPr>
          <p:nvPr/>
        </p:nvSpPr>
        <p:spPr bwMode="auto">
          <a:xfrm>
            <a:off x="8289929" y="4417584"/>
            <a:ext cx="205105" cy="191771"/>
          </a:xfrm>
          <a:prstGeom prst="ellipse">
            <a:avLst/>
          </a:prstGeom>
          <a:solidFill>
            <a:srgbClr val="D8A941"/>
          </a:solidFill>
          <a:ln w="12700">
            <a:solidFill>
              <a:srgbClr val="FFFFFF"/>
            </a:solidFill>
            <a:round/>
          </a:ln>
        </p:spPr>
        <p:txBody>
          <a:bodyPr/>
          <a:lstStyle/>
          <a:p>
            <a:endParaRPr lang="zh-CN" altLang="en-US" sz="2000"/>
          </a:p>
        </p:txBody>
      </p:sp>
      <p:sp>
        <p:nvSpPr>
          <p:cNvPr id="105" name="Rectangle 55"/>
          <p:cNvSpPr>
            <a:spLocks noChangeArrowheads="1"/>
          </p:cNvSpPr>
          <p:nvPr/>
        </p:nvSpPr>
        <p:spPr bwMode="auto">
          <a:xfrm>
            <a:off x="7978778" y="3795284"/>
            <a:ext cx="824231"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20000"/>
              </a:lnSpc>
              <a:buFont typeface="Arial" panose="020B0604020202020204" pitchFamily="34" charset="0"/>
              <a:buNone/>
            </a:pPr>
            <a:r>
              <a:rPr lang="zh-CN" altLang="en-US" sz="1600" b="1" dirty="0">
                <a:solidFill>
                  <a:srgbClr val="D8A941"/>
                </a:solidFill>
                <a:latin typeface="微软雅黑" panose="020B0503020204020204" charset="-122"/>
              </a:rPr>
              <a:t>签署转让协议</a:t>
            </a:r>
            <a:endParaRPr lang="zh-CN" altLang="en-US" sz="1600" b="1" dirty="0">
              <a:solidFill>
                <a:srgbClr val="D8A941"/>
              </a:solidFill>
              <a:latin typeface="微软雅黑" panose="020B0503020204020204" charset="-122"/>
            </a:endParaRPr>
          </a:p>
        </p:txBody>
      </p:sp>
      <p:sp>
        <p:nvSpPr>
          <p:cNvPr id="106" name="Rectangle 56"/>
          <p:cNvSpPr>
            <a:spLocks noChangeArrowheads="1"/>
          </p:cNvSpPr>
          <p:nvPr/>
        </p:nvSpPr>
        <p:spPr bwMode="auto">
          <a:xfrm>
            <a:off x="7934964" y="4740164"/>
            <a:ext cx="119443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1600" b="1" dirty="0">
                <a:latin typeface="微软雅黑" panose="020B0503020204020204" charset="-122"/>
              </a:rPr>
              <a:t>结果确认后</a:t>
            </a:r>
            <a:r>
              <a:rPr lang="en-US" altLang="zh-CN" sz="1600" b="1" dirty="0">
                <a:latin typeface="微软雅黑" panose="020B0503020204020204" charset="-122"/>
              </a:rPr>
              <a:t>15</a:t>
            </a:r>
            <a:r>
              <a:rPr lang="zh-CN" altLang="en-US" sz="1600" b="1" dirty="0">
                <a:latin typeface="微软雅黑" panose="020B0503020204020204" charset="-122"/>
              </a:rPr>
              <a:t>个</a:t>
            </a:r>
            <a:r>
              <a:rPr lang="zh-CN" altLang="en-US" sz="1600" b="1" dirty="0">
                <a:latin typeface="微软雅黑" panose="020B0503020204020204" charset="-122"/>
                <a:sym typeface="+mn-ea"/>
              </a:rPr>
              <a:t>工作</a:t>
            </a:r>
            <a:r>
              <a:rPr lang="zh-CN" altLang="en-US" sz="1600" b="1" dirty="0">
                <a:latin typeface="微软雅黑" panose="020B0503020204020204" charset="-122"/>
              </a:rPr>
              <a:t>日</a:t>
            </a:r>
            <a:endParaRPr lang="zh-CN" altLang="en-US" sz="1600" b="1" dirty="0">
              <a:latin typeface="微软雅黑" panose="020B0503020204020204" charset="-122"/>
            </a:endParaRPr>
          </a:p>
        </p:txBody>
      </p:sp>
      <p:sp>
        <p:nvSpPr>
          <p:cNvPr id="107" name="Oval 34"/>
          <p:cNvSpPr>
            <a:spLocks noChangeArrowheads="1"/>
          </p:cNvSpPr>
          <p:nvPr/>
        </p:nvSpPr>
        <p:spPr bwMode="auto">
          <a:xfrm>
            <a:off x="9643115" y="4417584"/>
            <a:ext cx="205105" cy="191771"/>
          </a:xfrm>
          <a:prstGeom prst="ellipse">
            <a:avLst/>
          </a:prstGeom>
          <a:solidFill>
            <a:srgbClr val="D8A941"/>
          </a:solidFill>
          <a:ln w="12700">
            <a:solidFill>
              <a:srgbClr val="FFFFFF"/>
            </a:solidFill>
            <a:round/>
          </a:ln>
        </p:spPr>
        <p:txBody>
          <a:bodyPr/>
          <a:lstStyle/>
          <a:p>
            <a:endParaRPr lang="zh-CN" altLang="en-US" sz="2000"/>
          </a:p>
        </p:txBody>
      </p:sp>
      <p:sp>
        <p:nvSpPr>
          <p:cNvPr id="108" name="Rectangle 55"/>
          <p:cNvSpPr>
            <a:spLocks noChangeArrowheads="1"/>
          </p:cNvSpPr>
          <p:nvPr/>
        </p:nvSpPr>
        <p:spPr bwMode="auto">
          <a:xfrm>
            <a:off x="9274178" y="3795284"/>
            <a:ext cx="1065531"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1600" b="1" dirty="0">
                <a:solidFill>
                  <a:srgbClr val="D8A941"/>
                </a:solidFill>
                <a:latin typeface="微软雅黑" panose="020B0503020204020204" charset="-122"/>
              </a:rPr>
              <a:t>资金支付与档案移交</a:t>
            </a:r>
            <a:endParaRPr lang="zh-CN" altLang="en-US" sz="1600" b="1" dirty="0">
              <a:solidFill>
                <a:srgbClr val="D8A941"/>
              </a:solidFill>
              <a:latin typeface="微软雅黑" panose="020B0503020204020204" charset="-122"/>
            </a:endParaRPr>
          </a:p>
        </p:txBody>
      </p:sp>
      <p:sp>
        <p:nvSpPr>
          <p:cNvPr id="109" name="Rectangle 56"/>
          <p:cNvSpPr>
            <a:spLocks noChangeArrowheads="1"/>
          </p:cNvSpPr>
          <p:nvPr/>
        </p:nvSpPr>
        <p:spPr bwMode="auto">
          <a:xfrm>
            <a:off x="9218300" y="4740164"/>
            <a:ext cx="113474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1600" b="1" dirty="0">
                <a:latin typeface="微软雅黑" panose="020B0503020204020204" charset="-122"/>
              </a:rPr>
              <a:t>协议签署后</a:t>
            </a:r>
            <a:r>
              <a:rPr lang="en-US" altLang="zh-CN" sz="1600" b="1" dirty="0">
                <a:latin typeface="微软雅黑" panose="020B0503020204020204" charset="-122"/>
              </a:rPr>
              <a:t>20</a:t>
            </a:r>
            <a:r>
              <a:rPr lang="zh-CN" altLang="en-US" sz="1600" b="1" dirty="0">
                <a:latin typeface="微软雅黑" panose="020B0503020204020204" charset="-122"/>
                <a:sym typeface="+mn-ea"/>
              </a:rPr>
              <a:t>个工作日</a:t>
            </a:r>
            <a:endParaRPr lang="zh-CN" altLang="en-US" sz="1600" b="1" dirty="0">
              <a:latin typeface="微软雅黑" panose="020B0503020204020204" charset="-122"/>
            </a:endParaRPr>
          </a:p>
        </p:txBody>
      </p:sp>
      <p:grpSp>
        <p:nvGrpSpPr>
          <p:cNvPr id="110" name="组合 109"/>
          <p:cNvGrpSpPr/>
          <p:nvPr/>
        </p:nvGrpSpPr>
        <p:grpSpPr>
          <a:xfrm>
            <a:off x="546104" y="3172984"/>
            <a:ext cx="824231" cy="895983"/>
            <a:chOff x="3088" y="4198"/>
            <a:chExt cx="1500" cy="1745"/>
          </a:xfrm>
        </p:grpSpPr>
        <p:sp>
          <p:nvSpPr>
            <p:cNvPr id="111" name="Oval 33"/>
            <p:cNvSpPr>
              <a:spLocks noChangeArrowheads="1"/>
            </p:cNvSpPr>
            <p:nvPr/>
          </p:nvSpPr>
          <p:spPr bwMode="auto">
            <a:xfrm>
              <a:off x="3260" y="4198"/>
              <a:ext cx="1033" cy="1037"/>
            </a:xfrm>
            <a:prstGeom prst="ellipse">
              <a:avLst/>
            </a:prstGeom>
            <a:solidFill>
              <a:srgbClr val="2361AE"/>
            </a:solidFill>
            <a:ln>
              <a:noFill/>
            </a:ln>
          </p:spPr>
          <p:txBody>
            <a:bodyPr/>
            <a:lstStyle/>
            <a:p>
              <a:endParaRPr lang="zh-CN" altLang="en-US" sz="2000" dirty="0"/>
            </a:p>
          </p:txBody>
        </p:sp>
        <p:sp>
          <p:nvSpPr>
            <p:cNvPr id="112" name="Rectangle 55"/>
            <p:cNvSpPr>
              <a:spLocks noChangeArrowheads="1"/>
            </p:cNvSpPr>
            <p:nvPr/>
          </p:nvSpPr>
          <p:spPr bwMode="auto">
            <a:xfrm>
              <a:off x="3088" y="5416"/>
              <a:ext cx="1500" cy="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lnSpc>
                  <a:spcPct val="120000"/>
                </a:lnSpc>
                <a:buFont typeface="Arial" panose="020B0604020202020204" pitchFamily="34" charset="0"/>
                <a:buNone/>
              </a:pPr>
              <a:r>
                <a:rPr lang="zh-CN" altLang="en-US" sz="1600" b="1" dirty="0">
                  <a:solidFill>
                    <a:srgbClr val="2361AE"/>
                  </a:solidFill>
                  <a:latin typeface="微软雅黑" panose="020B0503020204020204" charset="-122"/>
                </a:rPr>
                <a:t>资产登记</a:t>
              </a:r>
              <a:endParaRPr lang="zh-CN" altLang="en-US" sz="1600" b="1" dirty="0">
                <a:solidFill>
                  <a:srgbClr val="2361AE"/>
                </a:solidFill>
                <a:latin typeface="微软雅黑" panose="020B0503020204020204" charset="-122"/>
              </a:endParaRPr>
            </a:p>
          </p:txBody>
        </p:sp>
        <p:sp>
          <p:nvSpPr>
            <p:cNvPr id="113" name="Freeform 17"/>
            <p:cNvSpPr>
              <a:spLocks noEditPoints="1"/>
            </p:cNvSpPr>
            <p:nvPr/>
          </p:nvSpPr>
          <p:spPr bwMode="auto">
            <a:xfrm>
              <a:off x="3527" y="4470"/>
              <a:ext cx="500" cy="517"/>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000" dirty="0"/>
            </a:p>
          </p:txBody>
        </p:sp>
      </p:grpSp>
      <p:sp>
        <p:nvSpPr>
          <p:cNvPr id="114" name="Oval 33"/>
          <p:cNvSpPr>
            <a:spLocks noChangeArrowheads="1"/>
          </p:cNvSpPr>
          <p:nvPr/>
        </p:nvSpPr>
        <p:spPr bwMode="auto">
          <a:xfrm>
            <a:off x="5721352" y="3169809"/>
            <a:ext cx="567691" cy="532131"/>
          </a:xfrm>
          <a:prstGeom prst="ellipse">
            <a:avLst/>
          </a:prstGeom>
          <a:solidFill>
            <a:srgbClr val="2361AE"/>
          </a:solidFill>
          <a:ln>
            <a:noFill/>
          </a:ln>
        </p:spPr>
        <p:txBody>
          <a:bodyPr/>
          <a:lstStyle/>
          <a:p>
            <a:endParaRPr lang="zh-CN" altLang="en-US" sz="2000" dirty="0"/>
          </a:p>
        </p:txBody>
      </p:sp>
      <p:sp>
        <p:nvSpPr>
          <p:cNvPr id="115" name="Freeform 17"/>
          <p:cNvSpPr>
            <a:spLocks noEditPoints="1"/>
          </p:cNvSpPr>
          <p:nvPr/>
        </p:nvSpPr>
        <p:spPr bwMode="auto">
          <a:xfrm>
            <a:off x="5868039" y="3309510"/>
            <a:ext cx="274955" cy="265431"/>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000" dirty="0"/>
          </a:p>
        </p:txBody>
      </p:sp>
      <p:sp>
        <p:nvSpPr>
          <p:cNvPr id="116" name="Freeform 17"/>
          <p:cNvSpPr>
            <a:spLocks noEditPoints="1"/>
          </p:cNvSpPr>
          <p:nvPr/>
        </p:nvSpPr>
        <p:spPr bwMode="auto">
          <a:xfrm>
            <a:off x="8220079" y="3290459"/>
            <a:ext cx="274955" cy="265431"/>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000" dirty="0"/>
          </a:p>
        </p:txBody>
      </p:sp>
      <p:sp>
        <p:nvSpPr>
          <p:cNvPr id="117" name="Shape 2533"/>
          <p:cNvSpPr>
            <a:spLocks noChangeAspect="1"/>
          </p:cNvSpPr>
          <p:nvPr/>
        </p:nvSpPr>
        <p:spPr>
          <a:xfrm>
            <a:off x="9643114" y="3286650"/>
            <a:ext cx="283845" cy="311151"/>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chemeClr val="bg1"/>
          </a:solidFill>
          <a:ln w="12700">
            <a:miter lim="400000"/>
          </a:ln>
        </p:spPr>
        <p:txBody>
          <a:bodyPr lIns="38091" tIns="38091" rIns="38091" bIns="38091" anchor="ctr"/>
          <a:lstStyle/>
          <a:p>
            <a:pPr defTabSz="4565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dirty="0">
              <a:latin typeface="微软雅黑" panose="020B0503020204020204" charset="-122"/>
              <a:cs typeface="Source Sans Pro Regular" charset="0"/>
            </a:endParaRPr>
          </a:p>
        </p:txBody>
      </p:sp>
      <p:sp>
        <p:nvSpPr>
          <p:cNvPr id="119" name="Oval 30"/>
          <p:cNvSpPr>
            <a:spLocks noChangeArrowheads="1"/>
          </p:cNvSpPr>
          <p:nvPr/>
        </p:nvSpPr>
        <p:spPr bwMode="auto">
          <a:xfrm>
            <a:off x="821695" y="4417584"/>
            <a:ext cx="205105" cy="191771"/>
          </a:xfrm>
          <a:prstGeom prst="ellipse">
            <a:avLst/>
          </a:prstGeom>
          <a:solidFill>
            <a:srgbClr val="2361AE"/>
          </a:solidFill>
          <a:ln w="12700">
            <a:solidFill>
              <a:srgbClr val="FFFFFF"/>
            </a:solidFill>
            <a:round/>
          </a:ln>
        </p:spPr>
        <p:txBody>
          <a:bodyPr/>
          <a:lstStyle/>
          <a:p>
            <a:endParaRPr lang="zh-CN" altLang="en-US" sz="2000"/>
          </a:p>
        </p:txBody>
      </p:sp>
      <p:sp>
        <p:nvSpPr>
          <p:cNvPr id="120" name="Oval 34"/>
          <p:cNvSpPr>
            <a:spLocks noChangeArrowheads="1"/>
          </p:cNvSpPr>
          <p:nvPr/>
        </p:nvSpPr>
        <p:spPr bwMode="auto">
          <a:xfrm>
            <a:off x="10833826" y="4417566"/>
            <a:ext cx="204891" cy="191484"/>
          </a:xfrm>
          <a:prstGeom prst="ellipse">
            <a:avLst/>
          </a:prstGeom>
          <a:solidFill>
            <a:srgbClr val="D8A941"/>
          </a:solidFill>
          <a:ln w="12700">
            <a:solidFill>
              <a:srgbClr val="FFFFFF"/>
            </a:solidFill>
            <a:round/>
          </a:ln>
        </p:spPr>
        <p:txBody>
          <a:bodyPr/>
          <a:lstStyle/>
          <a:p>
            <a:endParaRPr lang="zh-CN" altLang="en-US" sz="2000"/>
          </a:p>
        </p:txBody>
      </p:sp>
      <p:sp>
        <p:nvSpPr>
          <p:cNvPr id="121" name="Oval 31"/>
          <p:cNvSpPr>
            <a:spLocks noChangeArrowheads="1"/>
          </p:cNvSpPr>
          <p:nvPr/>
        </p:nvSpPr>
        <p:spPr bwMode="auto">
          <a:xfrm>
            <a:off x="10711851" y="3189790"/>
            <a:ext cx="564139" cy="532357"/>
          </a:xfrm>
          <a:prstGeom prst="ellipse">
            <a:avLst/>
          </a:prstGeom>
          <a:solidFill>
            <a:srgbClr val="D6AA42"/>
          </a:solidFill>
          <a:ln>
            <a:noFill/>
          </a:ln>
        </p:spPr>
        <p:txBody>
          <a:bodyPr/>
          <a:lstStyle/>
          <a:p>
            <a:endParaRPr lang="zh-CN" altLang="en-US" sz="2000" dirty="0"/>
          </a:p>
        </p:txBody>
      </p:sp>
      <p:sp>
        <p:nvSpPr>
          <p:cNvPr id="122" name="Freeform 49"/>
          <p:cNvSpPr>
            <a:spLocks noEditPoints="1"/>
          </p:cNvSpPr>
          <p:nvPr/>
        </p:nvSpPr>
        <p:spPr bwMode="auto">
          <a:xfrm>
            <a:off x="10829710" y="3317483"/>
            <a:ext cx="329691" cy="255052"/>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000"/>
          </a:p>
        </p:txBody>
      </p:sp>
      <p:sp>
        <p:nvSpPr>
          <p:cNvPr id="123" name="Rectangle 53"/>
          <p:cNvSpPr>
            <a:spLocks noChangeArrowheads="1"/>
          </p:cNvSpPr>
          <p:nvPr/>
        </p:nvSpPr>
        <p:spPr bwMode="auto">
          <a:xfrm>
            <a:off x="10530943" y="3818240"/>
            <a:ext cx="927779"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1600" b="1" dirty="0">
                <a:solidFill>
                  <a:srgbClr val="D6AA42"/>
                </a:solidFill>
                <a:latin typeface="微软雅黑" panose="020B0503020204020204" charset="-122"/>
                <a:sym typeface="Calibri" panose="020F0502020204030204" charset="0"/>
              </a:rPr>
              <a:t>转让结果公告</a:t>
            </a:r>
            <a:endParaRPr lang="zh-CN" altLang="en-US" sz="1600" b="1" dirty="0">
              <a:solidFill>
                <a:srgbClr val="D6AA42"/>
              </a:solidFill>
              <a:latin typeface="微软雅黑" panose="020B0503020204020204" charset="-122"/>
              <a:sym typeface="Calibri" panose="020F0502020204030204" charset="0"/>
            </a:endParaRPr>
          </a:p>
        </p:txBody>
      </p:sp>
      <p:sp>
        <p:nvSpPr>
          <p:cNvPr id="124" name="Text Placeholder 4"/>
          <p:cNvSpPr txBox="1"/>
          <p:nvPr/>
        </p:nvSpPr>
        <p:spPr>
          <a:xfrm>
            <a:off x="563880" y="5581650"/>
            <a:ext cx="2157095" cy="365760"/>
          </a:xfrm>
          <a:prstGeom prst="rect">
            <a:avLst/>
          </a:prstGeom>
          <a:solidFill>
            <a:srgbClr val="2361AE"/>
          </a:solidFill>
        </p:spPr>
        <p:txBody>
          <a:bodyPr wrap="square" lIns="0" tIns="0" rIns="0" bIns="0" anchor="t" anchorCtr="0">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defTabSz="914400">
              <a:lnSpc>
                <a:spcPct val="120000"/>
              </a:lnSpc>
              <a:buNone/>
              <a:defRPr/>
            </a:pPr>
            <a:r>
              <a:rPr lang="zh-CN" altLang="en-US" sz="2000" b="1" dirty="0">
                <a:solidFill>
                  <a:schemeClr val="bg1"/>
                </a:solidFill>
                <a:latin typeface="微软雅黑" panose="020B0503020204020204" charset="-122"/>
                <a:ea typeface="微软雅黑" panose="020B0503020204020204" charset="-122"/>
                <a:cs typeface="+mn-ea"/>
                <a:sym typeface="Arial" panose="020B0604020202020204" pitchFamily="34" charset="0"/>
              </a:rPr>
              <a:t>出让方</a:t>
            </a:r>
            <a:endParaRPr lang="zh-CN" altLang="en-US" sz="2000" b="1" dirty="0">
              <a:solidFill>
                <a:schemeClr val="bg1"/>
              </a:solidFill>
              <a:latin typeface="微软雅黑" panose="020B0503020204020204" charset="-122"/>
              <a:ea typeface="微软雅黑" panose="020B0503020204020204" charset="-122"/>
              <a:cs typeface="+mn-ea"/>
              <a:sym typeface="Arial" panose="020B0604020202020204" pitchFamily="34" charset="0"/>
            </a:endParaRPr>
          </a:p>
        </p:txBody>
      </p:sp>
      <p:sp>
        <p:nvSpPr>
          <p:cNvPr id="125" name="Oval 32"/>
          <p:cNvSpPr>
            <a:spLocks noChangeArrowheads="1"/>
          </p:cNvSpPr>
          <p:nvPr/>
        </p:nvSpPr>
        <p:spPr bwMode="auto">
          <a:xfrm>
            <a:off x="3256284" y="4417584"/>
            <a:ext cx="205105" cy="191771"/>
          </a:xfrm>
          <a:prstGeom prst="ellipse">
            <a:avLst/>
          </a:prstGeom>
          <a:solidFill>
            <a:srgbClr val="2361AE"/>
          </a:solidFill>
          <a:ln w="12700">
            <a:solidFill>
              <a:srgbClr val="FFFFFF"/>
            </a:solidFill>
            <a:round/>
          </a:ln>
        </p:spPr>
        <p:txBody>
          <a:bodyPr/>
          <a:lstStyle/>
          <a:p>
            <a:endParaRPr lang="zh-CN" altLang="en-US" sz="2000">
              <a:solidFill>
                <a:schemeClr val="accent3"/>
              </a:solidFill>
            </a:endParaRPr>
          </a:p>
        </p:txBody>
      </p:sp>
      <p:grpSp>
        <p:nvGrpSpPr>
          <p:cNvPr id="126" name="组合 125"/>
          <p:cNvGrpSpPr/>
          <p:nvPr/>
        </p:nvGrpSpPr>
        <p:grpSpPr>
          <a:xfrm>
            <a:off x="2847980" y="3172984"/>
            <a:ext cx="1134745" cy="2151380"/>
            <a:chOff x="15594" y="5385"/>
            <a:chExt cx="1787" cy="3388"/>
          </a:xfrm>
        </p:grpSpPr>
        <p:sp>
          <p:nvSpPr>
            <p:cNvPr id="127" name="Oval 33"/>
            <p:cNvSpPr>
              <a:spLocks noChangeArrowheads="1"/>
            </p:cNvSpPr>
            <p:nvPr/>
          </p:nvSpPr>
          <p:spPr bwMode="auto">
            <a:xfrm>
              <a:off x="16030" y="5385"/>
              <a:ext cx="894" cy="838"/>
            </a:xfrm>
            <a:prstGeom prst="ellipse">
              <a:avLst/>
            </a:prstGeom>
            <a:solidFill>
              <a:srgbClr val="2361AE"/>
            </a:solidFill>
            <a:ln>
              <a:noFill/>
            </a:ln>
          </p:spPr>
          <p:txBody>
            <a:bodyPr/>
            <a:lstStyle/>
            <a:p>
              <a:endParaRPr lang="zh-CN" altLang="en-US" sz="2000" dirty="0"/>
            </a:p>
          </p:txBody>
        </p:sp>
        <p:sp>
          <p:nvSpPr>
            <p:cNvPr id="128" name="Rectangle 55"/>
            <p:cNvSpPr>
              <a:spLocks noChangeArrowheads="1"/>
            </p:cNvSpPr>
            <p:nvPr/>
          </p:nvSpPr>
          <p:spPr bwMode="auto">
            <a:xfrm>
              <a:off x="15682" y="6363"/>
              <a:ext cx="1678" cy="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1600" b="1" dirty="0">
                  <a:solidFill>
                    <a:srgbClr val="2361AE"/>
                  </a:solidFill>
                  <a:latin typeface="微软雅黑" panose="020B0503020204020204" charset="-122"/>
                </a:rPr>
                <a:t>意向受让方申请</a:t>
              </a:r>
              <a:endParaRPr lang="zh-CN" altLang="en-US" sz="1600" b="1" dirty="0">
                <a:solidFill>
                  <a:srgbClr val="2361AE"/>
                </a:solidFill>
                <a:latin typeface="微软雅黑" panose="020B0503020204020204" charset="-122"/>
              </a:endParaRPr>
            </a:p>
          </p:txBody>
        </p:sp>
        <p:sp>
          <p:nvSpPr>
            <p:cNvPr id="129" name="Rectangle 56"/>
            <p:cNvSpPr>
              <a:spLocks noChangeArrowheads="1"/>
            </p:cNvSpPr>
            <p:nvPr/>
          </p:nvSpPr>
          <p:spPr bwMode="auto">
            <a:xfrm>
              <a:off x="15594" y="7853"/>
              <a:ext cx="1787" cy="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sz="1600" b="1" dirty="0">
                  <a:latin typeface="微软雅黑" panose="020B0503020204020204" charset="-122"/>
                </a:rPr>
                <a:t>T-2</a:t>
              </a:r>
              <a:endParaRPr lang="en-US" sz="1600" b="1" dirty="0">
                <a:latin typeface="微软雅黑" panose="020B0503020204020204" charset="-122"/>
              </a:endParaRPr>
            </a:p>
            <a:p>
              <a:pPr algn="ctr">
                <a:lnSpc>
                  <a:spcPct val="120000"/>
                </a:lnSpc>
              </a:pPr>
              <a:r>
                <a:rPr lang="zh-CN" altLang="en-US" sz="1600" b="1" dirty="0">
                  <a:latin typeface="微软雅黑" panose="020B0503020204020204" charset="-122"/>
                </a:rPr>
                <a:t>工作</a:t>
              </a:r>
              <a:r>
                <a:rPr lang="zh-CN" altLang="en-US" sz="1600" b="1" dirty="0">
                  <a:latin typeface="微软雅黑" panose="020B0503020204020204" charset="-122"/>
                  <a:sym typeface="+mn-ea"/>
                </a:rPr>
                <a:t>日前</a:t>
              </a:r>
              <a:endParaRPr lang="zh-CN" altLang="en-US" sz="1600" b="1" dirty="0">
                <a:latin typeface="微软雅黑" panose="020B0503020204020204" charset="-122"/>
              </a:endParaRPr>
            </a:p>
          </p:txBody>
        </p:sp>
        <p:sp>
          <p:nvSpPr>
            <p:cNvPr id="130" name="Shape 2533"/>
            <p:cNvSpPr>
              <a:spLocks noChangeAspect="1"/>
            </p:cNvSpPr>
            <p:nvPr/>
          </p:nvSpPr>
          <p:spPr>
            <a:xfrm>
              <a:off x="16263" y="5564"/>
              <a:ext cx="447" cy="490"/>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chemeClr val="bg1"/>
            </a:solidFill>
            <a:ln w="12700">
              <a:miter lim="400000"/>
            </a:ln>
          </p:spPr>
          <p:txBody>
            <a:bodyPr lIns="38091" tIns="38091" rIns="38091" bIns="38091" anchor="ctr"/>
            <a:lstStyle/>
            <a:p>
              <a:pPr defTabSz="4565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800" dirty="0">
                <a:latin typeface="微软雅黑" panose="020B0503020204020204" charset="-122"/>
                <a:cs typeface="Source Sans Pro Regular" charset="0"/>
              </a:endParaRPr>
            </a:p>
          </p:txBody>
        </p:sp>
      </p:grpSp>
      <p:sp>
        <p:nvSpPr>
          <p:cNvPr id="131" name="Text Placeholder 4"/>
          <p:cNvSpPr txBox="1"/>
          <p:nvPr/>
        </p:nvSpPr>
        <p:spPr>
          <a:xfrm>
            <a:off x="2720980" y="5581541"/>
            <a:ext cx="1388745" cy="365760"/>
          </a:xfrm>
          <a:prstGeom prst="rect">
            <a:avLst/>
          </a:prstGeom>
          <a:solidFill>
            <a:srgbClr val="D7A840"/>
          </a:solidFill>
        </p:spPr>
        <p:txBody>
          <a:bodyPr wrap="square" lIns="0" tIns="0" rIns="0" bIns="0" anchor="t" anchorCtr="0">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defTabSz="914400">
              <a:lnSpc>
                <a:spcPct val="120000"/>
              </a:lnSpc>
              <a:buNone/>
              <a:defRPr/>
            </a:pPr>
            <a:r>
              <a:rPr lang="zh-CN" altLang="en-US" sz="2000" b="1" dirty="0">
                <a:solidFill>
                  <a:schemeClr val="bg1"/>
                </a:solidFill>
                <a:latin typeface="微软雅黑" panose="020B0503020204020204" charset="-122"/>
                <a:ea typeface="微软雅黑" panose="020B0503020204020204" charset="-122"/>
                <a:cs typeface="+mn-ea"/>
                <a:sym typeface="Arial" panose="020B0604020202020204" pitchFamily="34" charset="0"/>
              </a:rPr>
              <a:t>受让方</a:t>
            </a:r>
            <a:endParaRPr lang="zh-CN" altLang="en-US" sz="2000" b="1" dirty="0">
              <a:solidFill>
                <a:schemeClr val="bg1"/>
              </a:solidFill>
              <a:latin typeface="微软雅黑" panose="020B0503020204020204" charset="-122"/>
              <a:ea typeface="微软雅黑" panose="020B0503020204020204" charset="-122"/>
              <a:cs typeface="+mn-ea"/>
              <a:sym typeface="Arial" panose="020B0604020202020204" pitchFamily="34" charset="0"/>
            </a:endParaRPr>
          </a:p>
        </p:txBody>
      </p:sp>
      <p:sp>
        <p:nvSpPr>
          <p:cNvPr id="132" name="Text Placeholder 4"/>
          <p:cNvSpPr txBox="1"/>
          <p:nvPr/>
        </p:nvSpPr>
        <p:spPr>
          <a:xfrm>
            <a:off x="4115438" y="5581541"/>
            <a:ext cx="2479040" cy="365760"/>
          </a:xfrm>
          <a:prstGeom prst="rect">
            <a:avLst/>
          </a:prstGeom>
          <a:solidFill>
            <a:srgbClr val="2361AE"/>
          </a:solidFill>
        </p:spPr>
        <p:txBody>
          <a:bodyPr wrap="square" lIns="0" tIns="0" rIns="0" bIns="0" anchor="t" anchorCtr="0">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defTabSz="914400">
              <a:lnSpc>
                <a:spcPct val="120000"/>
              </a:lnSpc>
              <a:buNone/>
              <a:defRPr/>
            </a:pPr>
            <a:r>
              <a:rPr lang="zh-CN" altLang="en-US" sz="2000" b="1" dirty="0">
                <a:solidFill>
                  <a:schemeClr val="bg1"/>
                </a:solidFill>
                <a:latin typeface="微软雅黑" panose="020B0503020204020204" charset="-122"/>
                <a:ea typeface="微软雅黑" panose="020B0503020204020204" charset="-122"/>
                <a:cs typeface="+mn-ea"/>
                <a:sym typeface="Arial" panose="020B0604020202020204" pitchFamily="34" charset="0"/>
              </a:rPr>
              <a:t>出让方</a:t>
            </a:r>
            <a:endParaRPr lang="zh-CN" altLang="en-US" sz="2000" b="1" dirty="0">
              <a:solidFill>
                <a:schemeClr val="bg1"/>
              </a:solidFill>
              <a:latin typeface="微软雅黑" panose="020B0503020204020204" charset="-122"/>
              <a:ea typeface="微软雅黑" panose="020B0503020204020204" charset="-122"/>
              <a:cs typeface="+mn-ea"/>
              <a:sym typeface="Arial" panose="020B0604020202020204" pitchFamily="34" charset="0"/>
            </a:endParaRPr>
          </a:p>
        </p:txBody>
      </p:sp>
      <p:sp>
        <p:nvSpPr>
          <p:cNvPr id="133" name="Text Placeholder 4"/>
          <p:cNvSpPr txBox="1"/>
          <p:nvPr/>
        </p:nvSpPr>
        <p:spPr>
          <a:xfrm>
            <a:off x="6594480" y="5581652"/>
            <a:ext cx="3745865" cy="365760"/>
          </a:xfrm>
          <a:prstGeom prst="rect">
            <a:avLst/>
          </a:prstGeom>
          <a:solidFill>
            <a:srgbClr val="D7AA41"/>
          </a:solidFill>
        </p:spPr>
        <p:txBody>
          <a:bodyPr wrap="square" lIns="0" tIns="0" rIns="0" bIns="0" anchor="t" anchorCtr="0">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defTabSz="914400">
              <a:lnSpc>
                <a:spcPct val="120000"/>
              </a:lnSpc>
              <a:buNone/>
              <a:defRPr/>
            </a:pPr>
            <a:r>
              <a:rPr lang="zh-CN" altLang="en-US" sz="2000" b="1" dirty="0">
                <a:solidFill>
                  <a:schemeClr val="bg1"/>
                </a:solidFill>
                <a:latin typeface="微软雅黑" panose="020B0503020204020204" charset="-122"/>
                <a:ea typeface="微软雅黑" panose="020B0503020204020204" charset="-122"/>
                <a:cs typeface="+mn-ea"/>
                <a:sym typeface="Arial" panose="020B0604020202020204" pitchFamily="34" charset="0"/>
              </a:rPr>
              <a:t>出让方、受让方</a:t>
            </a:r>
            <a:endParaRPr lang="zh-CN" altLang="en-US" sz="2000" b="1" dirty="0">
              <a:solidFill>
                <a:schemeClr val="bg1"/>
              </a:solidFill>
              <a:latin typeface="微软雅黑" panose="020B0503020204020204" charset="-122"/>
              <a:ea typeface="微软雅黑" panose="020B0503020204020204" charset="-122"/>
              <a:cs typeface="+mn-ea"/>
              <a:sym typeface="Arial" panose="020B0604020202020204" pitchFamily="34" charset="0"/>
            </a:endParaRPr>
          </a:p>
        </p:txBody>
      </p:sp>
      <p:sp>
        <p:nvSpPr>
          <p:cNvPr id="134" name="Text Placeholder 4"/>
          <p:cNvSpPr txBox="1"/>
          <p:nvPr/>
        </p:nvSpPr>
        <p:spPr>
          <a:xfrm>
            <a:off x="10334629" y="5581541"/>
            <a:ext cx="1203325" cy="365760"/>
          </a:xfrm>
          <a:prstGeom prst="rect">
            <a:avLst/>
          </a:prstGeom>
          <a:solidFill>
            <a:srgbClr val="2361AE"/>
          </a:solidFill>
        </p:spPr>
        <p:txBody>
          <a:bodyPr wrap="square" lIns="0" tIns="0" rIns="0" bIns="0" anchor="t" anchorCtr="0">
            <a:sp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defTabSz="914400">
              <a:lnSpc>
                <a:spcPct val="120000"/>
              </a:lnSpc>
              <a:buNone/>
              <a:defRPr/>
            </a:pPr>
            <a:r>
              <a:rPr lang="zh-CN" altLang="en-US" sz="2000" b="1" dirty="0">
                <a:solidFill>
                  <a:schemeClr val="bg1"/>
                </a:solidFill>
                <a:latin typeface="微软雅黑" panose="020B0503020204020204" charset="-122"/>
                <a:ea typeface="微软雅黑" panose="020B0503020204020204" charset="-122"/>
                <a:cs typeface="+mn-ea"/>
                <a:sym typeface="Arial" panose="020B0604020202020204" pitchFamily="34" charset="0"/>
              </a:rPr>
              <a:t>出让方</a:t>
            </a:r>
            <a:endParaRPr lang="zh-CN" altLang="en-US" sz="2000" b="1" dirty="0">
              <a:solidFill>
                <a:schemeClr val="bg1"/>
              </a:solidFill>
              <a:latin typeface="微软雅黑" panose="020B0503020204020204" charset="-122"/>
              <a:ea typeface="微软雅黑" panose="020B0503020204020204" charset="-122"/>
              <a:cs typeface="+mn-ea"/>
              <a:sym typeface="Arial" panose="020B0604020202020204" pitchFamily="34" charset="0"/>
            </a:endParaRPr>
          </a:p>
        </p:txBody>
      </p:sp>
      <p:sp>
        <p:nvSpPr>
          <p:cNvPr id="135" name="iS1ide-箭头: 五边形 6"/>
          <p:cNvSpPr/>
          <p:nvPr/>
        </p:nvSpPr>
        <p:spPr>
          <a:xfrm>
            <a:off x="572135" y="2012315"/>
            <a:ext cx="6039485" cy="586740"/>
          </a:xfrm>
          <a:prstGeom prst="homePlate">
            <a:avLst/>
          </a:prstGeom>
          <a:solidFill>
            <a:srgbClr val="2361AF"/>
          </a:solidFill>
          <a:ln w="41275">
            <a:noFill/>
          </a:ln>
          <a:effectLst/>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a:r>
              <a:rPr lang="zh-CN" altLang="en-US" sz="1800" b="1" dirty="0">
                <a:latin typeface="微软雅黑" panose="020B0503020204020204" charset="-122"/>
                <a:ea typeface="微软雅黑" panose="020B0503020204020204" charset="-122"/>
              </a:rPr>
              <a:t>竞价前准备工作</a:t>
            </a:r>
            <a:endParaRPr lang="zh-CN" altLang="en-US" sz="1800" b="1" dirty="0">
              <a:latin typeface="微软雅黑" panose="020B0503020204020204" charset="-122"/>
              <a:ea typeface="微软雅黑" panose="020B0503020204020204" charset="-122"/>
            </a:endParaRPr>
          </a:p>
        </p:txBody>
      </p:sp>
      <p:sp>
        <p:nvSpPr>
          <p:cNvPr id="3" name="Rectangle 56"/>
          <p:cNvSpPr>
            <a:spLocks noChangeArrowheads="1"/>
          </p:cNvSpPr>
          <p:nvPr/>
        </p:nvSpPr>
        <p:spPr bwMode="auto">
          <a:xfrm>
            <a:off x="10403210" y="4740164"/>
            <a:ext cx="113474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1600" b="1" dirty="0">
                <a:latin typeface="微软雅黑" panose="020B0503020204020204" charset="-122"/>
              </a:rPr>
              <a:t>档案移交后</a:t>
            </a:r>
            <a:r>
              <a:rPr lang="en-US" altLang="zh-CN" sz="1600" b="1" dirty="0">
                <a:latin typeface="微软雅黑" panose="020B0503020204020204" charset="-122"/>
              </a:rPr>
              <a:t>3</a:t>
            </a:r>
            <a:r>
              <a:rPr lang="zh-CN" altLang="en-US" sz="1600" b="1" dirty="0">
                <a:latin typeface="微软雅黑" panose="020B0503020204020204" charset="-122"/>
                <a:sym typeface="+mn-ea"/>
              </a:rPr>
              <a:t>个工作日</a:t>
            </a:r>
            <a:endParaRPr lang="zh-CN" altLang="en-US" sz="1600" b="1" dirty="0">
              <a:latin typeface="微软雅黑" panose="020B0503020204020204" charset="-122"/>
            </a:endParaRPr>
          </a:p>
        </p:txBody>
      </p:sp>
    </p:spTree>
    <p:custDataLst>
      <p:tags r:id="rId1"/>
    </p:custData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圆角矩形 42"/>
          <p:cNvSpPr/>
          <p:nvPr/>
        </p:nvSpPr>
        <p:spPr>
          <a:xfrm>
            <a:off x="713740" y="4661535"/>
            <a:ext cx="10948670" cy="1765300"/>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p>
        </p:txBody>
      </p:sp>
      <p:sp>
        <p:nvSpPr>
          <p:cNvPr id="14" name="文本框 13"/>
          <p:cNvSpPr txBox="1"/>
          <p:nvPr/>
        </p:nvSpPr>
        <p:spPr>
          <a:xfrm>
            <a:off x="716448" y="1132052"/>
            <a:ext cx="3362787" cy="417830"/>
          </a:xfrm>
          <a:prstGeom prst="rect">
            <a:avLst/>
          </a:prstGeom>
          <a:noFill/>
        </p:spPr>
        <p:txBody>
          <a:bodyPr vert="horz" wrap="square" rtlCol="0">
            <a:spAutoFit/>
          </a:bodyPr>
          <a:lstStyle/>
          <a:p>
            <a:pPr defTabSz="457200" fontAlgn="auto">
              <a:spcBef>
                <a:spcPts val="0"/>
              </a:spcBef>
              <a:spcAft>
                <a:spcPts val="0"/>
              </a:spcAft>
              <a:defRPr/>
            </a:pPr>
            <a:r>
              <a:rPr lang="zh-CN" altLang="en-US" sz="2000" b="1" dirty="0">
                <a:solidFill>
                  <a:srgbClr val="7F7F7F"/>
                </a:solidFill>
                <a:latin typeface="微软雅黑" panose="020B0503020204020204" charset="-122"/>
                <a:sym typeface="+mn-ea"/>
              </a:rPr>
              <a:t>转让前准备工作</a:t>
            </a:r>
            <a:endParaRPr lang="zh-CN" altLang="en-US" sz="2000" b="1" dirty="0">
              <a:solidFill>
                <a:srgbClr val="7F7F7F"/>
              </a:solidFill>
              <a:latin typeface="微软雅黑" panose="020B0503020204020204" charset="-122"/>
              <a:sym typeface="+mn-ea"/>
            </a:endParaRPr>
          </a:p>
        </p:txBody>
      </p:sp>
      <p:grpSp>
        <p:nvGrpSpPr>
          <p:cNvPr id="15" name="组合 14"/>
          <p:cNvGrpSpPr/>
          <p:nvPr/>
        </p:nvGrpSpPr>
        <p:grpSpPr>
          <a:xfrm>
            <a:off x="436564" y="1195446"/>
            <a:ext cx="279885" cy="297452"/>
            <a:chOff x="235425" y="990578"/>
            <a:chExt cx="279885" cy="297452"/>
          </a:xfrm>
        </p:grpSpPr>
        <p:sp>
          <p:nvSpPr>
            <p:cNvPr id="16" name="矩形 15"/>
            <p:cNvSpPr/>
            <p:nvPr/>
          </p:nvSpPr>
          <p:spPr>
            <a:xfrm>
              <a:off x="235425" y="990578"/>
              <a:ext cx="72550" cy="297452"/>
            </a:xfrm>
            <a:prstGeom prst="rect">
              <a:avLst/>
            </a:prstGeom>
            <a:solidFill>
              <a:srgbClr val="C8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sp>
          <p:nvSpPr>
            <p:cNvPr id="17" name="矩形 16"/>
            <p:cNvSpPr/>
            <p:nvPr/>
          </p:nvSpPr>
          <p:spPr>
            <a:xfrm>
              <a:off x="327025" y="990578"/>
              <a:ext cx="188285" cy="297452"/>
            </a:xfrm>
            <a:prstGeom prst="rect">
              <a:avLst/>
            </a:prstGeom>
            <a:solidFill>
              <a:srgbClr val="3468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grpSp>
      <p:sp>
        <p:nvSpPr>
          <p:cNvPr id="2" name="灯片编号占位符 1"/>
          <p:cNvSpPr>
            <a:spLocks noGrp="1"/>
          </p:cNvSpPr>
          <p:nvPr>
            <p:ph type="sldNum" sz="quarter" idx="4"/>
          </p:nvPr>
        </p:nvSpPr>
        <p:spPr>
          <a:xfrm>
            <a:off x="8737600" y="6245225"/>
            <a:ext cx="2844800" cy="476250"/>
          </a:xfr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EAB507-6BF6-44B7-B0AA-FEDA2A5C4BA7}"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微软雅黑" panose="020B0503020204020204"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charset="-122"/>
              <a:cs typeface="+mn-cs"/>
            </a:endParaRPr>
          </a:p>
        </p:txBody>
      </p:sp>
      <p:sp>
        <p:nvSpPr>
          <p:cNvPr id="62" name="Line 29"/>
          <p:cNvSpPr>
            <a:spLocks noChangeShapeType="1"/>
          </p:cNvSpPr>
          <p:nvPr/>
        </p:nvSpPr>
        <p:spPr bwMode="auto">
          <a:xfrm>
            <a:off x="1011555" y="3570605"/>
            <a:ext cx="10027920" cy="635"/>
          </a:xfrm>
          <a:prstGeom prst="line">
            <a:avLst/>
          </a:prstGeom>
          <a:noFill/>
          <a:ln w="28575">
            <a:solidFill>
              <a:schemeClr val="tx1">
                <a:lumMod val="75000"/>
                <a:lumOff val="25000"/>
              </a:schemeClr>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grpSp>
        <p:nvGrpSpPr>
          <p:cNvPr id="31" name="组合 30"/>
          <p:cNvGrpSpPr/>
          <p:nvPr/>
        </p:nvGrpSpPr>
        <p:grpSpPr>
          <a:xfrm>
            <a:off x="3895090" y="1907540"/>
            <a:ext cx="1826895" cy="2256155"/>
            <a:chOff x="2416" y="4488"/>
            <a:chExt cx="2877" cy="3553"/>
          </a:xfrm>
        </p:grpSpPr>
        <p:sp>
          <p:nvSpPr>
            <p:cNvPr id="65" name="Oval 30"/>
            <p:cNvSpPr>
              <a:spLocks noChangeArrowheads="1"/>
            </p:cNvSpPr>
            <p:nvPr/>
          </p:nvSpPr>
          <p:spPr bwMode="auto">
            <a:xfrm>
              <a:off x="3724" y="6957"/>
              <a:ext cx="323" cy="302"/>
            </a:xfrm>
            <a:prstGeom prst="ellipse">
              <a:avLst/>
            </a:prstGeom>
            <a:solidFill>
              <a:srgbClr val="2361AE"/>
            </a:solidFill>
            <a:ln w="12700">
              <a:solidFill>
                <a:srgbClr val="FFFFFF"/>
              </a:solidFill>
              <a:round/>
            </a:ln>
          </p:spPr>
          <p:txBody>
            <a:bodyPr/>
            <a:lstStyle/>
            <a:p>
              <a:endParaRPr lang="zh-CN" altLang="en-US" sz="2800"/>
            </a:p>
          </p:txBody>
        </p:sp>
        <p:grpSp>
          <p:nvGrpSpPr>
            <p:cNvPr id="82" name="组合 81"/>
            <p:cNvGrpSpPr/>
            <p:nvPr/>
          </p:nvGrpSpPr>
          <p:grpSpPr>
            <a:xfrm>
              <a:off x="3329" y="4488"/>
              <a:ext cx="1123" cy="1061"/>
              <a:chOff x="4622800" y="2214802"/>
              <a:chExt cx="651933" cy="658283"/>
            </a:xfrm>
          </p:grpSpPr>
          <p:sp>
            <p:nvSpPr>
              <p:cNvPr id="83" name="Oval 31"/>
              <p:cNvSpPr>
                <a:spLocks noChangeArrowheads="1"/>
              </p:cNvSpPr>
              <p:nvPr/>
            </p:nvSpPr>
            <p:spPr bwMode="auto">
              <a:xfrm>
                <a:off x="4622800" y="2214802"/>
                <a:ext cx="651933" cy="658283"/>
              </a:xfrm>
              <a:prstGeom prst="ellipse">
                <a:avLst/>
              </a:prstGeom>
              <a:solidFill>
                <a:srgbClr val="2361AE"/>
              </a:solidFill>
              <a:ln>
                <a:noFill/>
              </a:ln>
            </p:spPr>
            <p:txBody>
              <a:bodyPr/>
              <a:lstStyle/>
              <a:p>
                <a:endParaRPr lang="zh-CN" altLang="en-US" sz="2800" dirty="0"/>
              </a:p>
            </p:txBody>
          </p:sp>
          <p:sp>
            <p:nvSpPr>
              <p:cNvPr id="84" name="Freeform 49"/>
              <p:cNvSpPr>
                <a:spLocks noEditPoints="1"/>
              </p:cNvSpPr>
              <p:nvPr/>
            </p:nvSpPr>
            <p:spPr bwMode="auto">
              <a:xfrm>
                <a:off x="4758267" y="2367203"/>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85" name="Rectangle 53"/>
            <p:cNvSpPr>
              <a:spLocks noChangeArrowheads="1"/>
            </p:cNvSpPr>
            <p:nvPr/>
          </p:nvSpPr>
          <p:spPr bwMode="auto">
            <a:xfrm>
              <a:off x="2978" y="5753"/>
              <a:ext cx="181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2000" b="1" dirty="0">
                  <a:solidFill>
                    <a:srgbClr val="2361AE"/>
                  </a:solidFill>
                  <a:latin typeface="微软雅黑" panose="020B0503020204020204" charset="-122"/>
                  <a:sym typeface="Calibri" panose="020F0502020204030204" charset="0"/>
                </a:rPr>
                <a:t>挂牌公告</a:t>
              </a:r>
              <a:endParaRPr lang="zh-CN" altLang="en-US" sz="2000" b="1" dirty="0">
                <a:solidFill>
                  <a:srgbClr val="2361AE"/>
                </a:solidFill>
                <a:latin typeface="微软雅黑" panose="020B0503020204020204" charset="-122"/>
                <a:sym typeface="Calibri" panose="020F0502020204030204" charset="0"/>
              </a:endParaRPr>
            </a:p>
          </p:txBody>
        </p:sp>
        <p:sp>
          <p:nvSpPr>
            <p:cNvPr id="90" name="Rectangle 56"/>
            <p:cNvSpPr>
              <a:spLocks noChangeArrowheads="1"/>
            </p:cNvSpPr>
            <p:nvPr/>
          </p:nvSpPr>
          <p:spPr bwMode="auto">
            <a:xfrm>
              <a:off x="2416" y="7465"/>
              <a:ext cx="287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latin typeface="微软雅黑" panose="020B0503020204020204" charset="-122"/>
                </a:rPr>
                <a:t>T-10</a:t>
              </a:r>
              <a:r>
                <a:rPr lang="zh-CN" altLang="en-US" sz="2000" b="1" dirty="0">
                  <a:latin typeface="微软雅黑" panose="020B0503020204020204" charset="-122"/>
                </a:rPr>
                <a:t>工作日前</a:t>
              </a:r>
              <a:endParaRPr lang="zh-CN" altLang="en-US" sz="2000" b="1" dirty="0">
                <a:latin typeface="微软雅黑" panose="020B0503020204020204" charset="-122"/>
              </a:endParaRPr>
            </a:p>
          </p:txBody>
        </p:sp>
      </p:grpSp>
      <p:grpSp>
        <p:nvGrpSpPr>
          <p:cNvPr id="29" name="组合 28"/>
          <p:cNvGrpSpPr/>
          <p:nvPr/>
        </p:nvGrpSpPr>
        <p:grpSpPr>
          <a:xfrm>
            <a:off x="8188325" y="1907540"/>
            <a:ext cx="1536065" cy="2256155"/>
            <a:chOff x="7079" y="4488"/>
            <a:chExt cx="2419" cy="3553"/>
          </a:xfrm>
        </p:grpSpPr>
        <p:sp>
          <p:nvSpPr>
            <p:cNvPr id="98" name="Oval 32"/>
            <p:cNvSpPr>
              <a:spLocks noChangeArrowheads="1"/>
            </p:cNvSpPr>
            <p:nvPr/>
          </p:nvSpPr>
          <p:spPr bwMode="auto">
            <a:xfrm>
              <a:off x="8118"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grpSp>
          <p:nvGrpSpPr>
            <p:cNvPr id="95" name="组合 94"/>
            <p:cNvGrpSpPr/>
            <p:nvPr/>
          </p:nvGrpSpPr>
          <p:grpSpPr>
            <a:xfrm>
              <a:off x="7723" y="4488"/>
              <a:ext cx="1123" cy="1060"/>
              <a:chOff x="4622800" y="2280709"/>
              <a:chExt cx="651933" cy="658283"/>
            </a:xfrm>
          </p:grpSpPr>
          <p:sp>
            <p:nvSpPr>
              <p:cNvPr id="96" name="Oval 31"/>
              <p:cNvSpPr>
                <a:spLocks noChangeArrowheads="1"/>
              </p:cNvSpPr>
              <p:nvPr/>
            </p:nvSpPr>
            <p:spPr bwMode="auto">
              <a:xfrm>
                <a:off x="4622800" y="2280709"/>
                <a:ext cx="651933" cy="658283"/>
              </a:xfrm>
              <a:prstGeom prst="ellipse">
                <a:avLst/>
              </a:prstGeom>
              <a:solidFill>
                <a:srgbClr val="2361AE"/>
              </a:solidFill>
              <a:ln>
                <a:noFill/>
              </a:ln>
            </p:spPr>
            <p:txBody>
              <a:bodyPr/>
              <a:lstStyle/>
              <a:p>
                <a:endParaRPr lang="zh-CN" altLang="en-US" sz="2800" dirty="0"/>
              </a:p>
            </p:txBody>
          </p:sp>
          <p:sp>
            <p:nvSpPr>
              <p:cNvPr id="97" name="Freeform 49"/>
              <p:cNvSpPr>
                <a:spLocks noEditPoints="1"/>
              </p:cNvSpPr>
              <p:nvPr/>
            </p:nvSpPr>
            <p:spPr bwMode="auto">
              <a:xfrm>
                <a:off x="4758267" y="2433110"/>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99" name="Rectangle 53"/>
            <p:cNvSpPr>
              <a:spLocks noChangeArrowheads="1"/>
            </p:cNvSpPr>
            <p:nvPr/>
          </p:nvSpPr>
          <p:spPr bwMode="auto">
            <a:xfrm>
              <a:off x="7204" y="5753"/>
              <a:ext cx="2151"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合格意向</a:t>
              </a:r>
              <a:endParaRPr lang="zh-CN" altLang="en-US" sz="2000" b="1" dirty="0">
                <a:solidFill>
                  <a:srgbClr val="2361AE"/>
                </a:solidFill>
                <a:latin typeface="微软雅黑" panose="020B0503020204020204" charset="-122"/>
              </a:endParaRPr>
            </a:p>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受让方确认</a:t>
              </a:r>
              <a:endParaRPr lang="zh-CN" altLang="en-US" sz="2000" b="1" dirty="0">
                <a:solidFill>
                  <a:srgbClr val="2361AE"/>
                </a:solidFill>
                <a:latin typeface="微软雅黑" panose="020B0503020204020204" charset="-122"/>
              </a:endParaRPr>
            </a:p>
          </p:txBody>
        </p:sp>
        <p:sp>
          <p:nvSpPr>
            <p:cNvPr id="100" name="Rectangle 56"/>
            <p:cNvSpPr>
              <a:spLocks noChangeArrowheads="1"/>
            </p:cNvSpPr>
            <p:nvPr/>
          </p:nvSpPr>
          <p:spPr bwMode="auto">
            <a:xfrm>
              <a:off x="7079" y="7465"/>
              <a:ext cx="241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latin typeface="微软雅黑" panose="020B0503020204020204" charset="-122"/>
                </a:rPr>
                <a:t>T-1</a:t>
              </a:r>
              <a:r>
                <a:rPr lang="zh-CN" altLang="en-US" sz="2000" b="1" dirty="0">
                  <a:latin typeface="微软雅黑" panose="020B0503020204020204" charset="-122"/>
                </a:rPr>
                <a:t>工作</a:t>
              </a:r>
              <a:r>
                <a:rPr lang="zh-CN" altLang="en-US" sz="2000" b="1" dirty="0">
                  <a:latin typeface="微软雅黑" panose="020B0503020204020204" charset="-122"/>
                  <a:sym typeface="+mn-ea"/>
                </a:rPr>
                <a:t>日前</a:t>
              </a:r>
              <a:endParaRPr lang="zh-CN" altLang="en-US" sz="2000" b="1" dirty="0">
                <a:latin typeface="微软雅黑" panose="020B0503020204020204" charset="-122"/>
                <a:sym typeface="+mn-ea"/>
              </a:endParaRPr>
            </a:p>
          </p:txBody>
        </p:sp>
      </p:grpSp>
      <p:grpSp>
        <p:nvGrpSpPr>
          <p:cNvPr id="28" name="组合 27"/>
          <p:cNvGrpSpPr/>
          <p:nvPr/>
        </p:nvGrpSpPr>
        <p:grpSpPr>
          <a:xfrm>
            <a:off x="9928860" y="1907540"/>
            <a:ext cx="1806575" cy="2256155"/>
            <a:chOff x="9168" y="4488"/>
            <a:chExt cx="2845" cy="3553"/>
          </a:xfrm>
        </p:grpSpPr>
        <p:sp>
          <p:nvSpPr>
            <p:cNvPr id="101" name="Oval 32"/>
            <p:cNvSpPr>
              <a:spLocks noChangeArrowheads="1"/>
            </p:cNvSpPr>
            <p:nvPr/>
          </p:nvSpPr>
          <p:spPr bwMode="auto">
            <a:xfrm>
              <a:off x="10631"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sp>
          <p:nvSpPr>
            <p:cNvPr id="103" name="Rectangle 56"/>
            <p:cNvSpPr>
              <a:spLocks noChangeArrowheads="1"/>
            </p:cNvSpPr>
            <p:nvPr/>
          </p:nvSpPr>
          <p:spPr bwMode="auto">
            <a:xfrm>
              <a:off x="9168" y="7465"/>
              <a:ext cx="284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latin typeface="微软雅黑" panose="020B0503020204020204" charset="-122"/>
                </a:rPr>
                <a:t>T-1</a:t>
              </a:r>
              <a:r>
                <a:rPr lang="zh-CN" altLang="en-US" sz="2000" b="1" dirty="0">
                  <a:latin typeface="微软雅黑" panose="020B0503020204020204" charset="-122"/>
                </a:rPr>
                <a:t>工作</a:t>
              </a:r>
              <a:r>
                <a:rPr lang="zh-CN" altLang="en-US" sz="2000" b="1" dirty="0">
                  <a:latin typeface="微软雅黑" panose="020B0503020204020204" charset="-122"/>
                  <a:sym typeface="+mn-ea"/>
                </a:rPr>
                <a:t>日前</a:t>
              </a:r>
              <a:endParaRPr lang="zh-CN" altLang="en-US" sz="2000" b="1" dirty="0">
                <a:latin typeface="微软雅黑" panose="020B0503020204020204" charset="-122"/>
                <a:sym typeface="+mn-ea"/>
              </a:endParaRPr>
            </a:p>
          </p:txBody>
        </p:sp>
        <p:sp>
          <p:nvSpPr>
            <p:cNvPr id="102" name="Rectangle 53"/>
            <p:cNvSpPr>
              <a:spLocks noChangeArrowheads="1"/>
            </p:cNvSpPr>
            <p:nvPr/>
          </p:nvSpPr>
          <p:spPr bwMode="auto">
            <a:xfrm>
              <a:off x="9787" y="5753"/>
              <a:ext cx="208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设置保留价</a:t>
              </a:r>
              <a:endParaRPr lang="zh-CN" altLang="en-US" sz="2000" b="1" dirty="0">
                <a:solidFill>
                  <a:srgbClr val="2361AE"/>
                </a:solidFill>
                <a:latin typeface="微软雅黑" panose="020B0503020204020204" charset="-122"/>
              </a:endParaRPr>
            </a:p>
          </p:txBody>
        </p:sp>
        <p:grpSp>
          <p:nvGrpSpPr>
            <p:cNvPr id="12" name="组合 11"/>
            <p:cNvGrpSpPr/>
            <p:nvPr/>
          </p:nvGrpSpPr>
          <p:grpSpPr>
            <a:xfrm>
              <a:off x="10233" y="4488"/>
              <a:ext cx="1130" cy="1059"/>
              <a:chOff x="9031" y="4796"/>
              <a:chExt cx="894" cy="838"/>
            </a:xfrm>
          </p:grpSpPr>
          <p:sp>
            <p:nvSpPr>
              <p:cNvPr id="114" name="Oval 33"/>
              <p:cNvSpPr>
                <a:spLocks noChangeArrowheads="1"/>
              </p:cNvSpPr>
              <p:nvPr/>
            </p:nvSpPr>
            <p:spPr bwMode="auto">
              <a:xfrm>
                <a:off x="9031" y="4796"/>
                <a:ext cx="894" cy="838"/>
              </a:xfrm>
              <a:prstGeom prst="ellipse">
                <a:avLst/>
              </a:prstGeom>
              <a:solidFill>
                <a:srgbClr val="2361AE"/>
              </a:solidFill>
              <a:ln>
                <a:noFill/>
              </a:ln>
            </p:spPr>
            <p:txBody>
              <a:bodyPr/>
              <a:lstStyle/>
              <a:p>
                <a:endParaRPr lang="zh-CN" altLang="en-US" sz="2800" dirty="0"/>
              </a:p>
            </p:txBody>
          </p:sp>
          <p:sp>
            <p:nvSpPr>
              <p:cNvPr id="115" name="Freeform 17"/>
              <p:cNvSpPr>
                <a:spLocks noEditPoints="1"/>
              </p:cNvSpPr>
              <p:nvPr/>
            </p:nvSpPr>
            <p:spPr bwMode="auto">
              <a:xfrm>
                <a:off x="9262" y="5016"/>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dirty="0"/>
              </a:p>
            </p:txBody>
          </p:sp>
        </p:grpSp>
      </p:grpSp>
      <p:grpSp>
        <p:nvGrpSpPr>
          <p:cNvPr id="30" name="组合 29"/>
          <p:cNvGrpSpPr/>
          <p:nvPr/>
        </p:nvGrpSpPr>
        <p:grpSpPr>
          <a:xfrm>
            <a:off x="6048375" y="1907540"/>
            <a:ext cx="1745615" cy="2256155"/>
            <a:chOff x="4660" y="4488"/>
            <a:chExt cx="2749" cy="3553"/>
          </a:xfrm>
        </p:grpSpPr>
        <p:sp>
          <p:nvSpPr>
            <p:cNvPr id="125" name="Oval 32"/>
            <p:cNvSpPr>
              <a:spLocks noChangeArrowheads="1"/>
            </p:cNvSpPr>
            <p:nvPr/>
          </p:nvSpPr>
          <p:spPr bwMode="auto">
            <a:xfrm>
              <a:off x="5878"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sp>
          <p:nvSpPr>
            <p:cNvPr id="129" name="Rectangle 56"/>
            <p:cNvSpPr>
              <a:spLocks noChangeArrowheads="1"/>
            </p:cNvSpPr>
            <p:nvPr/>
          </p:nvSpPr>
          <p:spPr bwMode="auto">
            <a:xfrm>
              <a:off x="4660" y="7465"/>
              <a:ext cx="274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sz="2000" b="1" dirty="0">
                  <a:latin typeface="微软雅黑" panose="020B0503020204020204" charset="-122"/>
                </a:rPr>
                <a:t>T-2</a:t>
              </a:r>
              <a:r>
                <a:rPr lang="zh-CN" altLang="en-US" sz="2000" b="1" dirty="0">
                  <a:latin typeface="微软雅黑" panose="020B0503020204020204" charset="-122"/>
                </a:rPr>
                <a:t>工作</a:t>
              </a:r>
              <a:r>
                <a:rPr lang="zh-CN" altLang="en-US" sz="2000" b="1" dirty="0">
                  <a:latin typeface="微软雅黑" panose="020B0503020204020204" charset="-122"/>
                  <a:sym typeface="+mn-ea"/>
                </a:rPr>
                <a:t>日前</a:t>
              </a:r>
              <a:endParaRPr lang="zh-CN" altLang="en-US" sz="2000" b="1" dirty="0">
                <a:latin typeface="微软雅黑" panose="020B0503020204020204" charset="-122"/>
                <a:sym typeface="+mn-ea"/>
              </a:endParaRPr>
            </a:p>
          </p:txBody>
        </p:sp>
        <p:sp>
          <p:nvSpPr>
            <p:cNvPr id="128" name="Rectangle 55"/>
            <p:cNvSpPr>
              <a:spLocks noChangeArrowheads="1"/>
            </p:cNvSpPr>
            <p:nvPr/>
          </p:nvSpPr>
          <p:spPr bwMode="auto">
            <a:xfrm>
              <a:off x="4980" y="5753"/>
              <a:ext cx="2090"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意向受让方申请</a:t>
              </a:r>
              <a:endParaRPr lang="zh-CN" altLang="en-US" sz="2000" b="1" dirty="0">
                <a:solidFill>
                  <a:srgbClr val="2361AE"/>
                </a:solidFill>
                <a:latin typeface="微软雅黑" panose="020B0503020204020204" charset="-122"/>
              </a:endParaRPr>
            </a:p>
          </p:txBody>
        </p:sp>
        <p:grpSp>
          <p:nvGrpSpPr>
            <p:cNvPr id="11" name="组合 10"/>
            <p:cNvGrpSpPr/>
            <p:nvPr/>
          </p:nvGrpSpPr>
          <p:grpSpPr>
            <a:xfrm>
              <a:off x="5480" y="4488"/>
              <a:ext cx="1130" cy="1059"/>
              <a:chOff x="4823" y="4801"/>
              <a:chExt cx="894" cy="838"/>
            </a:xfrm>
          </p:grpSpPr>
          <p:sp>
            <p:nvSpPr>
              <p:cNvPr id="127" name="Oval 33"/>
              <p:cNvSpPr>
                <a:spLocks noChangeArrowheads="1"/>
              </p:cNvSpPr>
              <p:nvPr/>
            </p:nvSpPr>
            <p:spPr bwMode="auto">
              <a:xfrm>
                <a:off x="4823" y="4801"/>
                <a:ext cx="894" cy="838"/>
              </a:xfrm>
              <a:prstGeom prst="ellipse">
                <a:avLst/>
              </a:prstGeom>
              <a:solidFill>
                <a:srgbClr val="2361AE"/>
              </a:solidFill>
              <a:ln>
                <a:noFill/>
              </a:ln>
            </p:spPr>
            <p:txBody>
              <a:bodyPr/>
              <a:lstStyle/>
              <a:p>
                <a:endParaRPr lang="zh-CN" altLang="en-US" sz="2000" dirty="0"/>
              </a:p>
            </p:txBody>
          </p:sp>
          <p:sp>
            <p:nvSpPr>
              <p:cNvPr id="130" name="Shape 2533"/>
              <p:cNvSpPr>
                <a:spLocks noChangeAspect="1"/>
              </p:cNvSpPr>
              <p:nvPr/>
            </p:nvSpPr>
            <p:spPr>
              <a:xfrm>
                <a:off x="5084" y="4980"/>
                <a:ext cx="447" cy="490"/>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chemeClr val="bg1"/>
              </a:solidFill>
              <a:ln w="12700">
                <a:miter lim="400000"/>
              </a:ln>
            </p:spPr>
            <p:txBody>
              <a:bodyPr lIns="38091" tIns="38091" rIns="38091" bIns="38091" anchor="ctr"/>
              <a:lstStyle/>
              <a:p>
                <a:pPr defTabSz="4565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000" dirty="0">
                  <a:latin typeface="微软雅黑" panose="020B0503020204020204" charset="-122"/>
                  <a:cs typeface="Source Sans Pro Regular" charset="0"/>
                </a:endParaRPr>
              </a:p>
            </p:txBody>
          </p:sp>
        </p:grpSp>
      </p:grpSp>
      <p:grpSp>
        <p:nvGrpSpPr>
          <p:cNvPr id="33" name="组合 32"/>
          <p:cNvGrpSpPr/>
          <p:nvPr/>
        </p:nvGrpSpPr>
        <p:grpSpPr>
          <a:xfrm>
            <a:off x="2336165" y="1910080"/>
            <a:ext cx="1068070" cy="1759585"/>
            <a:chOff x="912" y="4488"/>
            <a:chExt cx="1682" cy="2771"/>
          </a:xfrm>
        </p:grpSpPr>
        <p:sp>
          <p:nvSpPr>
            <p:cNvPr id="34" name="Rectangle 55"/>
            <p:cNvSpPr>
              <a:spLocks noChangeArrowheads="1"/>
            </p:cNvSpPr>
            <p:nvPr/>
          </p:nvSpPr>
          <p:spPr bwMode="auto">
            <a:xfrm>
              <a:off x="912" y="5753"/>
              <a:ext cx="1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D8A940"/>
                  </a:solidFill>
                  <a:latin typeface="微软雅黑" panose="020B0503020204020204" charset="-122"/>
                </a:rPr>
                <a:t>资产登记</a:t>
              </a:r>
              <a:endParaRPr lang="zh-CN" altLang="en-US" sz="2000" b="1" dirty="0">
                <a:solidFill>
                  <a:srgbClr val="D8A940"/>
                </a:solidFill>
                <a:latin typeface="微软雅黑" panose="020B0503020204020204" charset="-122"/>
              </a:endParaRPr>
            </a:p>
          </p:txBody>
        </p:sp>
        <p:grpSp>
          <p:nvGrpSpPr>
            <p:cNvPr id="35" name="组合 34"/>
            <p:cNvGrpSpPr/>
            <p:nvPr/>
          </p:nvGrpSpPr>
          <p:grpSpPr>
            <a:xfrm>
              <a:off x="1194" y="4488"/>
              <a:ext cx="1130" cy="1060"/>
              <a:chOff x="1230" y="4717"/>
              <a:chExt cx="894" cy="839"/>
            </a:xfrm>
          </p:grpSpPr>
          <p:sp>
            <p:nvSpPr>
              <p:cNvPr id="36" name="Oval 33"/>
              <p:cNvSpPr>
                <a:spLocks noChangeArrowheads="1"/>
              </p:cNvSpPr>
              <p:nvPr/>
            </p:nvSpPr>
            <p:spPr bwMode="auto">
              <a:xfrm>
                <a:off x="1230" y="4717"/>
                <a:ext cx="894" cy="839"/>
              </a:xfrm>
              <a:prstGeom prst="ellipse">
                <a:avLst/>
              </a:prstGeom>
              <a:solidFill>
                <a:srgbClr val="D8A940"/>
              </a:solidFill>
              <a:ln>
                <a:noFill/>
              </a:ln>
            </p:spPr>
            <p:txBody>
              <a:bodyPr/>
              <a:lstStyle/>
              <a:p>
                <a:endParaRPr lang="zh-CN" altLang="en-US" sz="2800" dirty="0"/>
              </a:p>
            </p:txBody>
          </p:sp>
          <p:sp>
            <p:nvSpPr>
              <p:cNvPr id="37" name="Freeform 17"/>
              <p:cNvSpPr>
                <a:spLocks noEditPoints="1"/>
              </p:cNvSpPr>
              <p:nvPr/>
            </p:nvSpPr>
            <p:spPr bwMode="auto">
              <a:xfrm>
                <a:off x="1433" y="4937"/>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dirty="0"/>
              </a:p>
            </p:txBody>
          </p:sp>
        </p:grpSp>
        <p:sp>
          <p:nvSpPr>
            <p:cNvPr id="38" name="Oval 30"/>
            <p:cNvSpPr>
              <a:spLocks noChangeArrowheads="1"/>
            </p:cNvSpPr>
            <p:nvPr/>
          </p:nvSpPr>
          <p:spPr bwMode="auto">
            <a:xfrm>
              <a:off x="1507" y="6957"/>
              <a:ext cx="323" cy="302"/>
            </a:xfrm>
            <a:prstGeom prst="ellipse">
              <a:avLst/>
            </a:prstGeom>
            <a:solidFill>
              <a:srgbClr val="D8A940"/>
            </a:solidFill>
            <a:ln w="12700">
              <a:solidFill>
                <a:srgbClr val="FFFFFF"/>
              </a:solidFill>
              <a:round/>
            </a:ln>
          </p:spPr>
          <p:txBody>
            <a:bodyPr/>
            <a:lstStyle/>
            <a:p>
              <a:endParaRPr lang="zh-CN" altLang="en-US" sz="2800"/>
            </a:p>
          </p:txBody>
        </p:sp>
      </p:grpSp>
      <p:grpSp>
        <p:nvGrpSpPr>
          <p:cNvPr id="40" name="组合 39"/>
          <p:cNvGrpSpPr/>
          <p:nvPr/>
        </p:nvGrpSpPr>
        <p:grpSpPr>
          <a:xfrm>
            <a:off x="579120" y="1907540"/>
            <a:ext cx="1068070" cy="1758950"/>
            <a:chOff x="912" y="4488"/>
            <a:chExt cx="1682" cy="2770"/>
          </a:xfrm>
        </p:grpSpPr>
        <p:grpSp>
          <p:nvGrpSpPr>
            <p:cNvPr id="32" name="组合 31"/>
            <p:cNvGrpSpPr/>
            <p:nvPr/>
          </p:nvGrpSpPr>
          <p:grpSpPr>
            <a:xfrm>
              <a:off x="912" y="4488"/>
              <a:ext cx="1682" cy="2771"/>
              <a:chOff x="912" y="4488"/>
              <a:chExt cx="1682" cy="2771"/>
            </a:xfrm>
          </p:grpSpPr>
          <p:sp>
            <p:nvSpPr>
              <p:cNvPr id="112" name="Rectangle 55"/>
              <p:cNvSpPr>
                <a:spLocks noChangeArrowheads="1"/>
              </p:cNvSpPr>
              <p:nvPr/>
            </p:nvSpPr>
            <p:spPr bwMode="auto">
              <a:xfrm>
                <a:off x="912" y="5753"/>
                <a:ext cx="1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账户开立</a:t>
                </a:r>
                <a:endParaRPr lang="zh-CN" altLang="en-US" sz="2000" b="1" dirty="0">
                  <a:solidFill>
                    <a:srgbClr val="2361AE"/>
                  </a:solidFill>
                  <a:latin typeface="微软雅黑" panose="020B0503020204020204" charset="-122"/>
                </a:endParaRPr>
              </a:p>
            </p:txBody>
          </p:sp>
          <p:sp>
            <p:nvSpPr>
              <p:cNvPr id="111" name="Oval 33"/>
              <p:cNvSpPr>
                <a:spLocks noChangeArrowheads="1"/>
              </p:cNvSpPr>
              <p:nvPr/>
            </p:nvSpPr>
            <p:spPr bwMode="auto">
              <a:xfrm>
                <a:off x="1194" y="4488"/>
                <a:ext cx="1130" cy="1060"/>
              </a:xfrm>
              <a:prstGeom prst="ellipse">
                <a:avLst/>
              </a:prstGeom>
              <a:solidFill>
                <a:srgbClr val="2361AE"/>
              </a:solidFill>
              <a:ln>
                <a:noFill/>
              </a:ln>
            </p:spPr>
            <p:txBody>
              <a:bodyPr/>
              <a:lstStyle/>
              <a:p>
                <a:endParaRPr lang="zh-CN" altLang="en-US" sz="2800" dirty="0"/>
              </a:p>
            </p:txBody>
          </p:sp>
          <p:sp>
            <p:nvSpPr>
              <p:cNvPr id="119" name="Oval 30"/>
              <p:cNvSpPr>
                <a:spLocks noChangeArrowheads="1"/>
              </p:cNvSpPr>
              <p:nvPr/>
            </p:nvSpPr>
            <p:spPr bwMode="auto">
              <a:xfrm>
                <a:off x="1507" y="6957"/>
                <a:ext cx="323" cy="302"/>
              </a:xfrm>
              <a:prstGeom prst="ellipse">
                <a:avLst/>
              </a:prstGeom>
              <a:solidFill>
                <a:srgbClr val="2361AE"/>
              </a:solidFill>
              <a:ln w="12700">
                <a:solidFill>
                  <a:srgbClr val="FFFFFF"/>
                </a:solidFill>
                <a:round/>
              </a:ln>
            </p:spPr>
            <p:txBody>
              <a:bodyPr/>
              <a:lstStyle/>
              <a:p>
                <a:endParaRPr lang="zh-CN" altLang="en-US" sz="2800"/>
              </a:p>
            </p:txBody>
          </p:sp>
        </p:grpSp>
        <p:sp>
          <p:nvSpPr>
            <p:cNvPr id="39" name="Freeform 49"/>
            <p:cNvSpPr>
              <a:spLocks noEditPoints="1"/>
            </p:cNvSpPr>
            <p:nvPr/>
          </p:nvSpPr>
          <p:spPr bwMode="auto">
            <a:xfrm>
              <a:off x="1433" y="4716"/>
              <a:ext cx="656" cy="508"/>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41" name="Rectangle 56"/>
          <p:cNvSpPr>
            <a:spLocks noChangeArrowheads="1"/>
          </p:cNvSpPr>
          <p:nvPr/>
        </p:nvSpPr>
        <p:spPr bwMode="auto">
          <a:xfrm>
            <a:off x="1083310" y="4697095"/>
            <a:ext cx="10347325"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42900" indent="-342900" algn="l" eaLnBrk="1" latinLnBrk="0" hangingPunct="1">
              <a:lnSpc>
                <a:spcPct val="150000"/>
              </a:lnSpc>
              <a:buFont typeface="Arial" panose="020B0604020202020204" pitchFamily="34" charset="0"/>
              <a:buChar char="•"/>
            </a:pPr>
            <a:r>
              <a:rPr lang="zh-CN" altLang="en-US" sz="1800" b="1" dirty="0">
                <a:solidFill>
                  <a:schemeClr val="bg1">
                    <a:lumMod val="50000"/>
                  </a:schemeClr>
                </a:solidFill>
                <a:latin typeface="微软雅黑" panose="020B0503020204020204" charset="-122"/>
              </a:rPr>
              <a:t>登记内容</a:t>
            </a:r>
            <a:r>
              <a:rPr lang="zh-CN" altLang="en-US" sz="1800" dirty="0">
                <a:solidFill>
                  <a:schemeClr val="bg1">
                    <a:lumMod val="50000"/>
                  </a:schemeClr>
                </a:solidFill>
                <a:latin typeface="微软雅黑" panose="020B0503020204020204" charset="-122"/>
              </a:rPr>
              <a:t>：项目信息、逐笔不良贷款要素信息和相关文本材料。</a:t>
            </a:r>
            <a:endParaRPr lang="zh-CN" altLang="en-US" sz="1800" dirty="0">
              <a:solidFill>
                <a:schemeClr val="bg1">
                  <a:lumMod val="50000"/>
                </a:schemeClr>
              </a:solidFill>
              <a:latin typeface="微软雅黑" panose="020B0503020204020204" charset="-122"/>
            </a:endParaRPr>
          </a:p>
          <a:p>
            <a:pPr marL="342900" indent="-342900" algn="l" eaLnBrk="1" latinLnBrk="0" hangingPunct="1">
              <a:lnSpc>
                <a:spcPct val="150000"/>
              </a:lnSpc>
              <a:buFont typeface="Arial" panose="020B0604020202020204" pitchFamily="34" charset="0"/>
              <a:buChar char="•"/>
            </a:pPr>
            <a:r>
              <a:rPr lang="zh-CN" altLang="en-US" sz="1800" b="1" dirty="0">
                <a:solidFill>
                  <a:schemeClr val="bg1">
                    <a:lumMod val="50000"/>
                  </a:schemeClr>
                </a:solidFill>
                <a:latin typeface="微软雅黑" panose="020B0503020204020204" charset="-122"/>
              </a:rPr>
              <a:t>上传材料</a:t>
            </a:r>
            <a:r>
              <a:rPr lang="zh-CN" altLang="en-US" sz="1800" dirty="0">
                <a:solidFill>
                  <a:schemeClr val="bg1">
                    <a:lumMod val="50000"/>
                  </a:schemeClr>
                </a:solidFill>
                <a:latin typeface="微软雅黑" panose="020B0503020204020204" charset="-122"/>
              </a:rPr>
              <a:t>：用印版项目说明书、内部决策证明、转让协议文本、用印版个人不良贷款分布信息表等。</a:t>
            </a:r>
            <a:endParaRPr sz="1800" b="1" dirty="0">
              <a:solidFill>
                <a:schemeClr val="bg1">
                  <a:lumMod val="50000"/>
                </a:schemeClr>
              </a:solidFill>
              <a:latin typeface="微软雅黑" panose="020B0503020204020204" charset="-122"/>
            </a:endParaRPr>
          </a:p>
          <a:p>
            <a:pPr marL="342900" indent="-342900" algn="l" eaLnBrk="1" latinLnBrk="0" hangingPunct="1">
              <a:lnSpc>
                <a:spcPct val="150000"/>
              </a:lnSpc>
              <a:buFont typeface="Arial" panose="020B0604020202020204" pitchFamily="34" charset="0"/>
              <a:buChar char="•"/>
            </a:pPr>
            <a:r>
              <a:rPr lang="zh-CN" sz="1800" b="1" dirty="0">
                <a:solidFill>
                  <a:srgbClr val="C00000"/>
                </a:solidFill>
                <a:latin typeface="微软雅黑" panose="020B0503020204020204" charset="-122"/>
              </a:rPr>
              <a:t>优化亮点：项目说明书由</a:t>
            </a:r>
            <a:r>
              <a:rPr lang="en-US" altLang="zh-CN" sz="1800" b="1" dirty="0">
                <a:solidFill>
                  <a:srgbClr val="C00000"/>
                </a:solidFill>
                <a:latin typeface="微软雅黑" panose="020B0503020204020204" charset="-122"/>
              </a:rPr>
              <a:t>“</a:t>
            </a:r>
            <a:r>
              <a:rPr lang="zh-CN" altLang="en-US" sz="1800" b="1" dirty="0">
                <a:solidFill>
                  <a:srgbClr val="C00000"/>
                </a:solidFill>
                <a:latin typeface="微软雅黑" panose="020B0503020204020204" charset="-122"/>
              </a:rPr>
              <a:t>开放式作文</a:t>
            </a:r>
            <a:r>
              <a:rPr lang="en-US" altLang="zh-CN" sz="1800" b="1" dirty="0">
                <a:solidFill>
                  <a:srgbClr val="C00000"/>
                </a:solidFill>
                <a:latin typeface="微软雅黑" panose="020B0503020204020204" charset="-122"/>
              </a:rPr>
              <a:t>”</a:t>
            </a:r>
            <a:r>
              <a:rPr lang="zh-CN" altLang="en-US" sz="1800" b="1" dirty="0">
                <a:solidFill>
                  <a:srgbClr val="C00000"/>
                </a:solidFill>
                <a:latin typeface="微软雅黑" panose="020B0503020204020204" charset="-122"/>
              </a:rPr>
              <a:t>变为</a:t>
            </a:r>
            <a:r>
              <a:rPr lang="en-US" altLang="zh-CN" sz="1800" b="1" dirty="0">
                <a:solidFill>
                  <a:srgbClr val="C00000"/>
                </a:solidFill>
                <a:latin typeface="微软雅黑" panose="020B0503020204020204" charset="-122"/>
              </a:rPr>
              <a:t>“</a:t>
            </a:r>
            <a:r>
              <a:rPr lang="zh-CN" altLang="en-US" sz="1800" b="1" dirty="0">
                <a:solidFill>
                  <a:srgbClr val="C00000"/>
                </a:solidFill>
                <a:latin typeface="微软雅黑" panose="020B0503020204020204" charset="-122"/>
              </a:rPr>
              <a:t>填空题</a:t>
            </a:r>
            <a:r>
              <a:rPr lang="en-US" altLang="zh-CN" sz="1800" b="1" dirty="0">
                <a:solidFill>
                  <a:srgbClr val="C00000"/>
                </a:solidFill>
                <a:latin typeface="微软雅黑" panose="020B0503020204020204" charset="-122"/>
              </a:rPr>
              <a:t>”</a:t>
            </a:r>
            <a:r>
              <a:rPr lang="zh-CN" sz="1800" b="1" dirty="0">
                <a:solidFill>
                  <a:srgbClr val="C00000"/>
                </a:solidFill>
                <a:latin typeface="微软雅黑" panose="020B0503020204020204" charset="-122"/>
              </a:rPr>
              <a:t>，提高登记办理效率。</a:t>
            </a:r>
            <a:endParaRPr lang="zh-CN" sz="1800" b="1" dirty="0">
              <a:solidFill>
                <a:srgbClr val="C00000"/>
              </a:solidFill>
              <a:latin typeface="微软雅黑" panose="020B0503020204020204" charset="-122"/>
            </a:endParaRPr>
          </a:p>
          <a:p>
            <a:pPr marL="342900" indent="-342900" algn="l" eaLnBrk="1" latinLnBrk="0" hangingPunct="1">
              <a:lnSpc>
                <a:spcPct val="150000"/>
              </a:lnSpc>
              <a:buFont typeface="Arial" panose="020B0604020202020204" pitchFamily="34" charset="0"/>
              <a:buChar char="•"/>
            </a:pPr>
            <a:r>
              <a:rPr lang="zh-CN" sz="1800" b="1" dirty="0">
                <a:solidFill>
                  <a:srgbClr val="C00000"/>
                </a:solidFill>
                <a:latin typeface="微软雅黑" panose="020B0503020204020204" charset="-122"/>
                <a:sym typeface="+mn-ea"/>
              </a:rPr>
              <a:t>注意事项：上传1户债权、担保和诉讼材料即可，可使用模板导入功能上传，个人信息应脱敏处理</a:t>
            </a:r>
            <a:endParaRPr lang="zh-CN" sz="1800" b="1" dirty="0">
              <a:solidFill>
                <a:srgbClr val="C00000"/>
              </a:solidFill>
              <a:latin typeface="微软雅黑" panose="020B0503020204020204" charset="-122"/>
            </a:endParaRPr>
          </a:p>
        </p:txBody>
      </p:sp>
    </p:spTree>
    <p:custDataLst>
      <p:tags r:id="rId1"/>
    </p:custData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圆角矩形 42"/>
          <p:cNvSpPr/>
          <p:nvPr/>
        </p:nvSpPr>
        <p:spPr>
          <a:xfrm>
            <a:off x="1011555" y="4510405"/>
            <a:ext cx="10003790" cy="1734820"/>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p>
        </p:txBody>
      </p:sp>
      <p:sp>
        <p:nvSpPr>
          <p:cNvPr id="14" name="文本框 13"/>
          <p:cNvSpPr txBox="1"/>
          <p:nvPr/>
        </p:nvSpPr>
        <p:spPr>
          <a:xfrm>
            <a:off x="716448" y="1132052"/>
            <a:ext cx="3362787" cy="417830"/>
          </a:xfrm>
          <a:prstGeom prst="rect">
            <a:avLst/>
          </a:prstGeom>
          <a:noFill/>
        </p:spPr>
        <p:txBody>
          <a:bodyPr vert="horz" wrap="square" rtlCol="0">
            <a:spAutoFit/>
          </a:bodyPr>
          <a:lstStyle/>
          <a:p>
            <a:pPr defTabSz="457200" fontAlgn="auto">
              <a:spcBef>
                <a:spcPts val="0"/>
              </a:spcBef>
              <a:spcAft>
                <a:spcPts val="0"/>
              </a:spcAft>
              <a:defRPr/>
            </a:pPr>
            <a:r>
              <a:rPr lang="zh-CN" altLang="en-US" sz="2000" b="1" dirty="0">
                <a:solidFill>
                  <a:srgbClr val="7F7F7F"/>
                </a:solidFill>
                <a:latin typeface="微软雅黑" panose="020B0503020204020204" charset="-122"/>
                <a:sym typeface="+mn-ea"/>
              </a:rPr>
              <a:t>转让前准备工作</a:t>
            </a:r>
            <a:endParaRPr lang="zh-CN" altLang="en-US" sz="2000" b="1" dirty="0">
              <a:solidFill>
                <a:srgbClr val="7F7F7F"/>
              </a:solidFill>
              <a:latin typeface="微软雅黑" panose="020B0503020204020204" charset="-122"/>
              <a:sym typeface="+mn-ea"/>
            </a:endParaRPr>
          </a:p>
        </p:txBody>
      </p:sp>
      <p:grpSp>
        <p:nvGrpSpPr>
          <p:cNvPr id="15" name="组合 14"/>
          <p:cNvGrpSpPr/>
          <p:nvPr/>
        </p:nvGrpSpPr>
        <p:grpSpPr>
          <a:xfrm>
            <a:off x="436564" y="1195446"/>
            <a:ext cx="279885" cy="297452"/>
            <a:chOff x="235425" y="990578"/>
            <a:chExt cx="279885" cy="297452"/>
          </a:xfrm>
        </p:grpSpPr>
        <p:sp>
          <p:nvSpPr>
            <p:cNvPr id="16" name="矩形 15"/>
            <p:cNvSpPr/>
            <p:nvPr/>
          </p:nvSpPr>
          <p:spPr>
            <a:xfrm>
              <a:off x="235425" y="990578"/>
              <a:ext cx="72550" cy="297452"/>
            </a:xfrm>
            <a:prstGeom prst="rect">
              <a:avLst/>
            </a:prstGeom>
            <a:solidFill>
              <a:srgbClr val="C8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sp>
          <p:nvSpPr>
            <p:cNvPr id="17" name="矩形 16"/>
            <p:cNvSpPr/>
            <p:nvPr/>
          </p:nvSpPr>
          <p:spPr>
            <a:xfrm>
              <a:off x="327025" y="990578"/>
              <a:ext cx="188285" cy="297452"/>
            </a:xfrm>
            <a:prstGeom prst="rect">
              <a:avLst/>
            </a:prstGeom>
            <a:solidFill>
              <a:srgbClr val="3468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grpSp>
      <p:sp>
        <p:nvSpPr>
          <p:cNvPr id="2" name="灯片编号占位符 1"/>
          <p:cNvSpPr>
            <a:spLocks noGrp="1"/>
          </p:cNvSpPr>
          <p:nvPr>
            <p:ph type="sldNum" sz="quarter" idx="4"/>
          </p:nvPr>
        </p:nvSpPr>
        <p:spPr>
          <a:xfrm>
            <a:off x="8737600" y="6245225"/>
            <a:ext cx="2844800" cy="476250"/>
          </a:xfr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EAB507-6BF6-44B7-B0AA-FEDA2A5C4BA7}"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微软雅黑" panose="020B0503020204020204"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charset="-122"/>
              <a:cs typeface="+mn-cs"/>
            </a:endParaRPr>
          </a:p>
        </p:txBody>
      </p:sp>
      <p:sp>
        <p:nvSpPr>
          <p:cNvPr id="62" name="Line 29"/>
          <p:cNvSpPr>
            <a:spLocks noChangeShapeType="1"/>
          </p:cNvSpPr>
          <p:nvPr/>
        </p:nvSpPr>
        <p:spPr bwMode="auto">
          <a:xfrm>
            <a:off x="1011555" y="3570605"/>
            <a:ext cx="10027920" cy="635"/>
          </a:xfrm>
          <a:prstGeom prst="line">
            <a:avLst/>
          </a:prstGeom>
          <a:noFill/>
          <a:ln w="28575">
            <a:solidFill>
              <a:schemeClr val="tx1">
                <a:lumMod val="75000"/>
                <a:lumOff val="25000"/>
              </a:schemeClr>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grpSp>
        <p:nvGrpSpPr>
          <p:cNvPr id="31" name="组合 30"/>
          <p:cNvGrpSpPr/>
          <p:nvPr/>
        </p:nvGrpSpPr>
        <p:grpSpPr>
          <a:xfrm>
            <a:off x="3895090" y="1907540"/>
            <a:ext cx="1826895" cy="2256155"/>
            <a:chOff x="2416" y="4488"/>
            <a:chExt cx="2877" cy="3553"/>
          </a:xfrm>
        </p:grpSpPr>
        <p:sp>
          <p:nvSpPr>
            <p:cNvPr id="65" name="Oval 30"/>
            <p:cNvSpPr>
              <a:spLocks noChangeArrowheads="1"/>
            </p:cNvSpPr>
            <p:nvPr/>
          </p:nvSpPr>
          <p:spPr bwMode="auto">
            <a:xfrm>
              <a:off x="3724" y="6957"/>
              <a:ext cx="323" cy="302"/>
            </a:xfrm>
            <a:prstGeom prst="ellipse">
              <a:avLst/>
            </a:prstGeom>
            <a:solidFill>
              <a:srgbClr val="D8A940"/>
            </a:solidFill>
            <a:ln w="12700">
              <a:solidFill>
                <a:srgbClr val="FFFFFF"/>
              </a:solidFill>
              <a:round/>
            </a:ln>
          </p:spPr>
          <p:txBody>
            <a:bodyPr/>
            <a:lstStyle/>
            <a:p>
              <a:endParaRPr lang="zh-CN" altLang="en-US" sz="2800"/>
            </a:p>
          </p:txBody>
        </p:sp>
        <p:grpSp>
          <p:nvGrpSpPr>
            <p:cNvPr id="82" name="组合 81"/>
            <p:cNvGrpSpPr/>
            <p:nvPr/>
          </p:nvGrpSpPr>
          <p:grpSpPr>
            <a:xfrm>
              <a:off x="3329" y="4488"/>
              <a:ext cx="1123" cy="1061"/>
              <a:chOff x="4622800" y="2214802"/>
              <a:chExt cx="651933" cy="658283"/>
            </a:xfrm>
          </p:grpSpPr>
          <p:sp>
            <p:nvSpPr>
              <p:cNvPr id="83" name="Oval 31"/>
              <p:cNvSpPr>
                <a:spLocks noChangeArrowheads="1"/>
              </p:cNvSpPr>
              <p:nvPr/>
            </p:nvSpPr>
            <p:spPr bwMode="auto">
              <a:xfrm>
                <a:off x="4622800" y="2214802"/>
                <a:ext cx="651933" cy="658283"/>
              </a:xfrm>
              <a:prstGeom prst="ellipse">
                <a:avLst/>
              </a:prstGeom>
              <a:solidFill>
                <a:srgbClr val="D8A940"/>
              </a:solidFill>
              <a:ln>
                <a:noFill/>
              </a:ln>
            </p:spPr>
            <p:txBody>
              <a:bodyPr/>
              <a:lstStyle/>
              <a:p>
                <a:endParaRPr lang="zh-CN" altLang="en-US" sz="2800" dirty="0"/>
              </a:p>
            </p:txBody>
          </p:sp>
          <p:sp>
            <p:nvSpPr>
              <p:cNvPr id="84" name="Freeform 49"/>
              <p:cNvSpPr>
                <a:spLocks noEditPoints="1"/>
              </p:cNvSpPr>
              <p:nvPr/>
            </p:nvSpPr>
            <p:spPr bwMode="auto">
              <a:xfrm>
                <a:off x="4758267" y="2367203"/>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85" name="Rectangle 53"/>
            <p:cNvSpPr>
              <a:spLocks noChangeArrowheads="1"/>
            </p:cNvSpPr>
            <p:nvPr/>
          </p:nvSpPr>
          <p:spPr bwMode="auto">
            <a:xfrm>
              <a:off x="2978" y="5753"/>
              <a:ext cx="181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2000" b="1" dirty="0">
                  <a:solidFill>
                    <a:srgbClr val="D8A940"/>
                  </a:solidFill>
                  <a:latin typeface="微软雅黑" panose="020B0503020204020204" charset="-122"/>
                  <a:sym typeface="Calibri" panose="020F0502020204030204" charset="0"/>
                </a:rPr>
                <a:t>挂牌公告</a:t>
              </a:r>
              <a:endParaRPr lang="zh-CN" altLang="en-US" sz="2000" b="1" dirty="0">
                <a:solidFill>
                  <a:srgbClr val="D8A940"/>
                </a:solidFill>
                <a:latin typeface="微软雅黑" panose="020B0503020204020204" charset="-122"/>
                <a:sym typeface="Calibri" panose="020F0502020204030204" charset="0"/>
              </a:endParaRPr>
            </a:p>
          </p:txBody>
        </p:sp>
        <p:sp>
          <p:nvSpPr>
            <p:cNvPr id="90" name="Rectangle 56"/>
            <p:cNvSpPr>
              <a:spLocks noChangeArrowheads="1"/>
            </p:cNvSpPr>
            <p:nvPr/>
          </p:nvSpPr>
          <p:spPr bwMode="auto">
            <a:xfrm>
              <a:off x="2416" y="7465"/>
              <a:ext cx="287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solidFill>
                    <a:srgbClr val="D8A940"/>
                  </a:solidFill>
                  <a:latin typeface="微软雅黑" panose="020B0503020204020204" charset="-122"/>
                </a:rPr>
                <a:t>T-10</a:t>
              </a:r>
              <a:r>
                <a:rPr lang="zh-CN" altLang="en-US" sz="2000" b="1" dirty="0">
                  <a:solidFill>
                    <a:srgbClr val="D8A940"/>
                  </a:solidFill>
                  <a:latin typeface="微软雅黑" panose="020B0503020204020204" charset="-122"/>
                </a:rPr>
                <a:t>工作日前</a:t>
              </a:r>
              <a:endParaRPr lang="zh-CN" altLang="en-US" sz="2000" b="1" dirty="0">
                <a:solidFill>
                  <a:srgbClr val="D8A940"/>
                </a:solidFill>
                <a:latin typeface="微软雅黑" panose="020B0503020204020204" charset="-122"/>
              </a:endParaRPr>
            </a:p>
          </p:txBody>
        </p:sp>
      </p:grpSp>
      <p:grpSp>
        <p:nvGrpSpPr>
          <p:cNvPr id="29" name="组合 28"/>
          <p:cNvGrpSpPr/>
          <p:nvPr/>
        </p:nvGrpSpPr>
        <p:grpSpPr>
          <a:xfrm>
            <a:off x="8188325" y="1907540"/>
            <a:ext cx="1536065" cy="2256155"/>
            <a:chOff x="7079" y="4488"/>
            <a:chExt cx="2419" cy="3553"/>
          </a:xfrm>
        </p:grpSpPr>
        <p:sp>
          <p:nvSpPr>
            <p:cNvPr id="98" name="Oval 32"/>
            <p:cNvSpPr>
              <a:spLocks noChangeArrowheads="1"/>
            </p:cNvSpPr>
            <p:nvPr/>
          </p:nvSpPr>
          <p:spPr bwMode="auto">
            <a:xfrm>
              <a:off x="8118"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grpSp>
          <p:nvGrpSpPr>
            <p:cNvPr id="95" name="组合 94"/>
            <p:cNvGrpSpPr/>
            <p:nvPr/>
          </p:nvGrpSpPr>
          <p:grpSpPr>
            <a:xfrm>
              <a:off x="7723" y="4488"/>
              <a:ext cx="1123" cy="1060"/>
              <a:chOff x="4622800" y="2280709"/>
              <a:chExt cx="651933" cy="658283"/>
            </a:xfrm>
          </p:grpSpPr>
          <p:sp>
            <p:nvSpPr>
              <p:cNvPr id="96" name="Oval 31"/>
              <p:cNvSpPr>
                <a:spLocks noChangeArrowheads="1"/>
              </p:cNvSpPr>
              <p:nvPr/>
            </p:nvSpPr>
            <p:spPr bwMode="auto">
              <a:xfrm>
                <a:off x="4622800" y="2280709"/>
                <a:ext cx="651933" cy="658283"/>
              </a:xfrm>
              <a:prstGeom prst="ellipse">
                <a:avLst/>
              </a:prstGeom>
              <a:solidFill>
                <a:srgbClr val="2361AE"/>
              </a:solidFill>
              <a:ln>
                <a:noFill/>
              </a:ln>
            </p:spPr>
            <p:txBody>
              <a:bodyPr/>
              <a:lstStyle/>
              <a:p>
                <a:endParaRPr lang="zh-CN" altLang="en-US" sz="2800" dirty="0"/>
              </a:p>
            </p:txBody>
          </p:sp>
          <p:sp>
            <p:nvSpPr>
              <p:cNvPr id="97" name="Freeform 49"/>
              <p:cNvSpPr>
                <a:spLocks noEditPoints="1"/>
              </p:cNvSpPr>
              <p:nvPr/>
            </p:nvSpPr>
            <p:spPr bwMode="auto">
              <a:xfrm>
                <a:off x="4758267" y="2433110"/>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99" name="Rectangle 53"/>
            <p:cNvSpPr>
              <a:spLocks noChangeArrowheads="1"/>
            </p:cNvSpPr>
            <p:nvPr/>
          </p:nvSpPr>
          <p:spPr bwMode="auto">
            <a:xfrm>
              <a:off x="7204" y="5753"/>
              <a:ext cx="2151"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合格意向</a:t>
              </a:r>
              <a:endParaRPr lang="zh-CN" altLang="en-US" sz="2000" b="1" dirty="0">
                <a:solidFill>
                  <a:srgbClr val="2361AE"/>
                </a:solidFill>
                <a:latin typeface="微软雅黑" panose="020B0503020204020204" charset="-122"/>
              </a:endParaRPr>
            </a:p>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受让方确认</a:t>
              </a:r>
              <a:endParaRPr lang="zh-CN" altLang="en-US" sz="2000" b="1" dirty="0">
                <a:solidFill>
                  <a:srgbClr val="2361AE"/>
                </a:solidFill>
                <a:latin typeface="微软雅黑" panose="020B0503020204020204" charset="-122"/>
              </a:endParaRPr>
            </a:p>
          </p:txBody>
        </p:sp>
        <p:sp>
          <p:nvSpPr>
            <p:cNvPr id="100" name="Rectangle 56"/>
            <p:cNvSpPr>
              <a:spLocks noChangeArrowheads="1"/>
            </p:cNvSpPr>
            <p:nvPr/>
          </p:nvSpPr>
          <p:spPr bwMode="auto">
            <a:xfrm>
              <a:off x="7079" y="7465"/>
              <a:ext cx="241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latin typeface="微软雅黑" panose="020B0503020204020204" charset="-122"/>
                </a:rPr>
                <a:t>T-1</a:t>
              </a:r>
              <a:r>
                <a:rPr lang="zh-CN" altLang="en-US" sz="2000" b="1" dirty="0">
                  <a:latin typeface="微软雅黑" panose="020B0503020204020204" charset="-122"/>
                </a:rPr>
                <a:t>工作</a:t>
              </a:r>
              <a:r>
                <a:rPr lang="zh-CN" altLang="en-US" sz="2000" b="1" dirty="0">
                  <a:latin typeface="微软雅黑" panose="020B0503020204020204" charset="-122"/>
                  <a:sym typeface="+mn-ea"/>
                </a:rPr>
                <a:t>日前</a:t>
              </a:r>
              <a:endParaRPr lang="zh-CN" altLang="en-US" sz="2000" b="1" dirty="0">
                <a:latin typeface="微软雅黑" panose="020B0503020204020204" charset="-122"/>
                <a:sym typeface="+mn-ea"/>
              </a:endParaRPr>
            </a:p>
          </p:txBody>
        </p:sp>
      </p:grpSp>
      <p:grpSp>
        <p:nvGrpSpPr>
          <p:cNvPr id="28" name="组合 27"/>
          <p:cNvGrpSpPr/>
          <p:nvPr/>
        </p:nvGrpSpPr>
        <p:grpSpPr>
          <a:xfrm>
            <a:off x="9928860" y="1907540"/>
            <a:ext cx="1806575" cy="2256155"/>
            <a:chOff x="9168" y="4488"/>
            <a:chExt cx="2845" cy="3553"/>
          </a:xfrm>
        </p:grpSpPr>
        <p:sp>
          <p:nvSpPr>
            <p:cNvPr id="101" name="Oval 32"/>
            <p:cNvSpPr>
              <a:spLocks noChangeArrowheads="1"/>
            </p:cNvSpPr>
            <p:nvPr/>
          </p:nvSpPr>
          <p:spPr bwMode="auto">
            <a:xfrm>
              <a:off x="10631"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sp>
          <p:nvSpPr>
            <p:cNvPr id="103" name="Rectangle 56"/>
            <p:cNvSpPr>
              <a:spLocks noChangeArrowheads="1"/>
            </p:cNvSpPr>
            <p:nvPr/>
          </p:nvSpPr>
          <p:spPr bwMode="auto">
            <a:xfrm>
              <a:off x="9168" y="7465"/>
              <a:ext cx="284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latin typeface="微软雅黑" panose="020B0503020204020204" charset="-122"/>
                </a:rPr>
                <a:t>T-1</a:t>
              </a:r>
              <a:r>
                <a:rPr lang="zh-CN" altLang="en-US" sz="2000" b="1" dirty="0">
                  <a:latin typeface="微软雅黑" panose="020B0503020204020204" charset="-122"/>
                </a:rPr>
                <a:t>工作</a:t>
              </a:r>
              <a:r>
                <a:rPr lang="zh-CN" altLang="en-US" sz="2000" b="1" dirty="0">
                  <a:latin typeface="微软雅黑" panose="020B0503020204020204" charset="-122"/>
                  <a:sym typeface="+mn-ea"/>
                </a:rPr>
                <a:t>日前</a:t>
              </a:r>
              <a:endParaRPr lang="zh-CN" altLang="en-US" sz="2000" b="1" dirty="0">
                <a:latin typeface="微软雅黑" panose="020B0503020204020204" charset="-122"/>
                <a:sym typeface="+mn-ea"/>
              </a:endParaRPr>
            </a:p>
          </p:txBody>
        </p:sp>
        <p:sp>
          <p:nvSpPr>
            <p:cNvPr id="102" name="Rectangle 53"/>
            <p:cNvSpPr>
              <a:spLocks noChangeArrowheads="1"/>
            </p:cNvSpPr>
            <p:nvPr/>
          </p:nvSpPr>
          <p:spPr bwMode="auto">
            <a:xfrm>
              <a:off x="9787" y="5753"/>
              <a:ext cx="208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设置保留价</a:t>
              </a:r>
              <a:endParaRPr lang="zh-CN" altLang="en-US" sz="2000" b="1" dirty="0">
                <a:solidFill>
                  <a:srgbClr val="2361AE"/>
                </a:solidFill>
                <a:latin typeface="微软雅黑" panose="020B0503020204020204" charset="-122"/>
              </a:endParaRPr>
            </a:p>
          </p:txBody>
        </p:sp>
        <p:grpSp>
          <p:nvGrpSpPr>
            <p:cNvPr id="12" name="组合 11"/>
            <p:cNvGrpSpPr/>
            <p:nvPr/>
          </p:nvGrpSpPr>
          <p:grpSpPr>
            <a:xfrm>
              <a:off x="10233" y="4488"/>
              <a:ext cx="1130" cy="1059"/>
              <a:chOff x="9031" y="4796"/>
              <a:chExt cx="894" cy="838"/>
            </a:xfrm>
          </p:grpSpPr>
          <p:sp>
            <p:nvSpPr>
              <p:cNvPr id="114" name="Oval 33"/>
              <p:cNvSpPr>
                <a:spLocks noChangeArrowheads="1"/>
              </p:cNvSpPr>
              <p:nvPr/>
            </p:nvSpPr>
            <p:spPr bwMode="auto">
              <a:xfrm>
                <a:off x="9031" y="4796"/>
                <a:ext cx="894" cy="838"/>
              </a:xfrm>
              <a:prstGeom prst="ellipse">
                <a:avLst/>
              </a:prstGeom>
              <a:solidFill>
                <a:srgbClr val="2361AE"/>
              </a:solidFill>
              <a:ln>
                <a:noFill/>
              </a:ln>
            </p:spPr>
            <p:txBody>
              <a:bodyPr/>
              <a:lstStyle/>
              <a:p>
                <a:endParaRPr lang="zh-CN" altLang="en-US" sz="2800" dirty="0"/>
              </a:p>
            </p:txBody>
          </p:sp>
          <p:sp>
            <p:nvSpPr>
              <p:cNvPr id="115" name="Freeform 17"/>
              <p:cNvSpPr>
                <a:spLocks noEditPoints="1"/>
              </p:cNvSpPr>
              <p:nvPr/>
            </p:nvSpPr>
            <p:spPr bwMode="auto">
              <a:xfrm>
                <a:off x="9262" y="5016"/>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dirty="0"/>
              </a:p>
            </p:txBody>
          </p:sp>
        </p:grpSp>
      </p:grpSp>
      <p:grpSp>
        <p:nvGrpSpPr>
          <p:cNvPr id="30" name="组合 29"/>
          <p:cNvGrpSpPr/>
          <p:nvPr/>
        </p:nvGrpSpPr>
        <p:grpSpPr>
          <a:xfrm>
            <a:off x="6048375" y="1907540"/>
            <a:ext cx="1745615" cy="2256155"/>
            <a:chOff x="4660" y="4488"/>
            <a:chExt cx="2749" cy="3553"/>
          </a:xfrm>
        </p:grpSpPr>
        <p:sp>
          <p:nvSpPr>
            <p:cNvPr id="125" name="Oval 32"/>
            <p:cNvSpPr>
              <a:spLocks noChangeArrowheads="1"/>
            </p:cNvSpPr>
            <p:nvPr/>
          </p:nvSpPr>
          <p:spPr bwMode="auto">
            <a:xfrm>
              <a:off x="5878"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sp>
          <p:nvSpPr>
            <p:cNvPr id="129" name="Rectangle 56"/>
            <p:cNvSpPr>
              <a:spLocks noChangeArrowheads="1"/>
            </p:cNvSpPr>
            <p:nvPr/>
          </p:nvSpPr>
          <p:spPr bwMode="auto">
            <a:xfrm>
              <a:off x="4660" y="7465"/>
              <a:ext cx="274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sz="2000" b="1" dirty="0">
                  <a:latin typeface="微软雅黑" panose="020B0503020204020204" charset="-122"/>
                </a:rPr>
                <a:t>T-2</a:t>
              </a:r>
              <a:r>
                <a:rPr lang="zh-CN" altLang="en-US" sz="2000" b="1" dirty="0">
                  <a:latin typeface="微软雅黑" panose="020B0503020204020204" charset="-122"/>
                </a:rPr>
                <a:t>工作</a:t>
              </a:r>
              <a:r>
                <a:rPr lang="zh-CN" altLang="en-US" sz="2000" b="1" dirty="0">
                  <a:latin typeface="微软雅黑" panose="020B0503020204020204" charset="-122"/>
                  <a:sym typeface="+mn-ea"/>
                </a:rPr>
                <a:t>日前</a:t>
              </a:r>
              <a:endParaRPr lang="zh-CN" altLang="en-US" sz="2000" b="1" dirty="0">
                <a:latin typeface="微软雅黑" panose="020B0503020204020204" charset="-122"/>
                <a:sym typeface="+mn-ea"/>
              </a:endParaRPr>
            </a:p>
          </p:txBody>
        </p:sp>
        <p:sp>
          <p:nvSpPr>
            <p:cNvPr id="128" name="Rectangle 55"/>
            <p:cNvSpPr>
              <a:spLocks noChangeArrowheads="1"/>
            </p:cNvSpPr>
            <p:nvPr/>
          </p:nvSpPr>
          <p:spPr bwMode="auto">
            <a:xfrm>
              <a:off x="4980" y="5753"/>
              <a:ext cx="2090"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意向受让方申请</a:t>
              </a:r>
              <a:endParaRPr lang="zh-CN" altLang="en-US" sz="2000" b="1" dirty="0">
                <a:solidFill>
                  <a:srgbClr val="2361AE"/>
                </a:solidFill>
                <a:latin typeface="微软雅黑" panose="020B0503020204020204" charset="-122"/>
              </a:endParaRPr>
            </a:p>
          </p:txBody>
        </p:sp>
        <p:grpSp>
          <p:nvGrpSpPr>
            <p:cNvPr id="11" name="组合 10"/>
            <p:cNvGrpSpPr/>
            <p:nvPr/>
          </p:nvGrpSpPr>
          <p:grpSpPr>
            <a:xfrm>
              <a:off x="5480" y="4488"/>
              <a:ext cx="1130" cy="1059"/>
              <a:chOff x="4823" y="4801"/>
              <a:chExt cx="894" cy="838"/>
            </a:xfrm>
          </p:grpSpPr>
          <p:sp>
            <p:nvSpPr>
              <p:cNvPr id="127" name="Oval 33"/>
              <p:cNvSpPr>
                <a:spLocks noChangeArrowheads="1"/>
              </p:cNvSpPr>
              <p:nvPr/>
            </p:nvSpPr>
            <p:spPr bwMode="auto">
              <a:xfrm>
                <a:off x="4823" y="4801"/>
                <a:ext cx="894" cy="838"/>
              </a:xfrm>
              <a:prstGeom prst="ellipse">
                <a:avLst/>
              </a:prstGeom>
              <a:solidFill>
                <a:srgbClr val="2361AE"/>
              </a:solidFill>
              <a:ln>
                <a:noFill/>
              </a:ln>
            </p:spPr>
            <p:txBody>
              <a:bodyPr/>
              <a:lstStyle/>
              <a:p>
                <a:endParaRPr lang="zh-CN" altLang="en-US" sz="2000" dirty="0"/>
              </a:p>
            </p:txBody>
          </p:sp>
          <p:sp>
            <p:nvSpPr>
              <p:cNvPr id="130" name="Shape 2533"/>
              <p:cNvSpPr>
                <a:spLocks noChangeAspect="1"/>
              </p:cNvSpPr>
              <p:nvPr/>
            </p:nvSpPr>
            <p:spPr>
              <a:xfrm>
                <a:off x="5084" y="4980"/>
                <a:ext cx="447" cy="490"/>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chemeClr val="bg1"/>
              </a:solidFill>
              <a:ln w="12700">
                <a:miter lim="400000"/>
              </a:ln>
            </p:spPr>
            <p:txBody>
              <a:bodyPr lIns="38091" tIns="38091" rIns="38091" bIns="38091" anchor="ctr"/>
              <a:lstStyle/>
              <a:p>
                <a:pPr defTabSz="4565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000" dirty="0">
                  <a:latin typeface="微软雅黑" panose="020B0503020204020204" charset="-122"/>
                  <a:cs typeface="Source Sans Pro Regular" charset="0"/>
                </a:endParaRPr>
              </a:p>
            </p:txBody>
          </p:sp>
        </p:grpSp>
      </p:grpSp>
      <p:grpSp>
        <p:nvGrpSpPr>
          <p:cNvPr id="33" name="组合 32"/>
          <p:cNvGrpSpPr/>
          <p:nvPr/>
        </p:nvGrpSpPr>
        <p:grpSpPr>
          <a:xfrm>
            <a:off x="2336165" y="1910080"/>
            <a:ext cx="1068070" cy="1759585"/>
            <a:chOff x="912" y="4488"/>
            <a:chExt cx="1682" cy="2771"/>
          </a:xfrm>
        </p:grpSpPr>
        <p:sp>
          <p:nvSpPr>
            <p:cNvPr id="34" name="Rectangle 55"/>
            <p:cNvSpPr>
              <a:spLocks noChangeArrowheads="1"/>
            </p:cNvSpPr>
            <p:nvPr/>
          </p:nvSpPr>
          <p:spPr bwMode="auto">
            <a:xfrm>
              <a:off x="912" y="5753"/>
              <a:ext cx="1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资产登记</a:t>
              </a:r>
              <a:endParaRPr lang="zh-CN" altLang="en-US" sz="2000" b="1" dirty="0">
                <a:solidFill>
                  <a:srgbClr val="2361AE"/>
                </a:solidFill>
                <a:latin typeface="微软雅黑" panose="020B0503020204020204" charset="-122"/>
              </a:endParaRPr>
            </a:p>
          </p:txBody>
        </p:sp>
        <p:grpSp>
          <p:nvGrpSpPr>
            <p:cNvPr id="35" name="组合 34"/>
            <p:cNvGrpSpPr/>
            <p:nvPr/>
          </p:nvGrpSpPr>
          <p:grpSpPr>
            <a:xfrm>
              <a:off x="1194" y="4488"/>
              <a:ext cx="1130" cy="1060"/>
              <a:chOff x="1230" y="4717"/>
              <a:chExt cx="894" cy="839"/>
            </a:xfrm>
          </p:grpSpPr>
          <p:sp>
            <p:nvSpPr>
              <p:cNvPr id="36" name="Oval 33"/>
              <p:cNvSpPr>
                <a:spLocks noChangeArrowheads="1"/>
              </p:cNvSpPr>
              <p:nvPr/>
            </p:nvSpPr>
            <p:spPr bwMode="auto">
              <a:xfrm>
                <a:off x="1230" y="4717"/>
                <a:ext cx="894" cy="839"/>
              </a:xfrm>
              <a:prstGeom prst="ellipse">
                <a:avLst/>
              </a:prstGeom>
              <a:solidFill>
                <a:srgbClr val="2361AE"/>
              </a:solidFill>
              <a:ln>
                <a:noFill/>
              </a:ln>
            </p:spPr>
            <p:txBody>
              <a:bodyPr/>
              <a:lstStyle/>
              <a:p>
                <a:endParaRPr lang="zh-CN" altLang="en-US" sz="2800" dirty="0"/>
              </a:p>
            </p:txBody>
          </p:sp>
          <p:sp>
            <p:nvSpPr>
              <p:cNvPr id="37" name="Freeform 17"/>
              <p:cNvSpPr>
                <a:spLocks noEditPoints="1"/>
              </p:cNvSpPr>
              <p:nvPr/>
            </p:nvSpPr>
            <p:spPr bwMode="auto">
              <a:xfrm>
                <a:off x="1433" y="4937"/>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dirty="0"/>
              </a:p>
            </p:txBody>
          </p:sp>
        </p:grpSp>
        <p:sp>
          <p:nvSpPr>
            <p:cNvPr id="38" name="Oval 30"/>
            <p:cNvSpPr>
              <a:spLocks noChangeArrowheads="1"/>
            </p:cNvSpPr>
            <p:nvPr/>
          </p:nvSpPr>
          <p:spPr bwMode="auto">
            <a:xfrm>
              <a:off x="1507" y="6957"/>
              <a:ext cx="323" cy="302"/>
            </a:xfrm>
            <a:prstGeom prst="ellipse">
              <a:avLst/>
            </a:prstGeom>
            <a:solidFill>
              <a:srgbClr val="2361AE"/>
            </a:solidFill>
            <a:ln w="12700">
              <a:solidFill>
                <a:srgbClr val="FFFFFF"/>
              </a:solidFill>
              <a:round/>
            </a:ln>
          </p:spPr>
          <p:txBody>
            <a:bodyPr/>
            <a:lstStyle/>
            <a:p>
              <a:endParaRPr lang="zh-CN" altLang="en-US" sz="2800"/>
            </a:p>
          </p:txBody>
        </p:sp>
      </p:grpSp>
      <p:grpSp>
        <p:nvGrpSpPr>
          <p:cNvPr id="40" name="组合 39"/>
          <p:cNvGrpSpPr/>
          <p:nvPr/>
        </p:nvGrpSpPr>
        <p:grpSpPr>
          <a:xfrm>
            <a:off x="579120" y="1907540"/>
            <a:ext cx="1068070" cy="1758950"/>
            <a:chOff x="912" y="4488"/>
            <a:chExt cx="1682" cy="2770"/>
          </a:xfrm>
        </p:grpSpPr>
        <p:grpSp>
          <p:nvGrpSpPr>
            <p:cNvPr id="32" name="组合 31"/>
            <p:cNvGrpSpPr/>
            <p:nvPr/>
          </p:nvGrpSpPr>
          <p:grpSpPr>
            <a:xfrm>
              <a:off x="912" y="4488"/>
              <a:ext cx="1682" cy="2771"/>
              <a:chOff x="912" y="4488"/>
              <a:chExt cx="1682" cy="2771"/>
            </a:xfrm>
          </p:grpSpPr>
          <p:sp>
            <p:nvSpPr>
              <p:cNvPr id="112" name="Rectangle 55"/>
              <p:cNvSpPr>
                <a:spLocks noChangeArrowheads="1"/>
              </p:cNvSpPr>
              <p:nvPr/>
            </p:nvSpPr>
            <p:spPr bwMode="auto">
              <a:xfrm>
                <a:off x="912" y="5753"/>
                <a:ext cx="1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账户开立</a:t>
                </a:r>
                <a:endParaRPr lang="zh-CN" altLang="en-US" sz="2000" b="1" dirty="0">
                  <a:solidFill>
                    <a:srgbClr val="2361AE"/>
                  </a:solidFill>
                  <a:latin typeface="微软雅黑" panose="020B0503020204020204" charset="-122"/>
                </a:endParaRPr>
              </a:p>
            </p:txBody>
          </p:sp>
          <p:sp>
            <p:nvSpPr>
              <p:cNvPr id="111" name="Oval 33"/>
              <p:cNvSpPr>
                <a:spLocks noChangeArrowheads="1"/>
              </p:cNvSpPr>
              <p:nvPr/>
            </p:nvSpPr>
            <p:spPr bwMode="auto">
              <a:xfrm>
                <a:off x="1194" y="4488"/>
                <a:ext cx="1130" cy="1060"/>
              </a:xfrm>
              <a:prstGeom prst="ellipse">
                <a:avLst/>
              </a:prstGeom>
              <a:solidFill>
                <a:srgbClr val="2361AE"/>
              </a:solidFill>
              <a:ln>
                <a:noFill/>
              </a:ln>
            </p:spPr>
            <p:txBody>
              <a:bodyPr/>
              <a:lstStyle/>
              <a:p>
                <a:endParaRPr lang="zh-CN" altLang="en-US" sz="2800" dirty="0"/>
              </a:p>
            </p:txBody>
          </p:sp>
          <p:sp>
            <p:nvSpPr>
              <p:cNvPr id="119" name="Oval 30"/>
              <p:cNvSpPr>
                <a:spLocks noChangeArrowheads="1"/>
              </p:cNvSpPr>
              <p:nvPr/>
            </p:nvSpPr>
            <p:spPr bwMode="auto">
              <a:xfrm>
                <a:off x="1507" y="6957"/>
                <a:ext cx="323" cy="302"/>
              </a:xfrm>
              <a:prstGeom prst="ellipse">
                <a:avLst/>
              </a:prstGeom>
              <a:solidFill>
                <a:srgbClr val="2361AE"/>
              </a:solidFill>
              <a:ln w="12700">
                <a:solidFill>
                  <a:srgbClr val="FFFFFF"/>
                </a:solidFill>
                <a:round/>
              </a:ln>
            </p:spPr>
            <p:txBody>
              <a:bodyPr/>
              <a:lstStyle/>
              <a:p>
                <a:endParaRPr lang="zh-CN" altLang="en-US" sz="2800"/>
              </a:p>
            </p:txBody>
          </p:sp>
        </p:grpSp>
        <p:sp>
          <p:nvSpPr>
            <p:cNvPr id="39" name="Freeform 49"/>
            <p:cNvSpPr>
              <a:spLocks noEditPoints="1"/>
            </p:cNvSpPr>
            <p:nvPr/>
          </p:nvSpPr>
          <p:spPr bwMode="auto">
            <a:xfrm>
              <a:off x="1433" y="4716"/>
              <a:ext cx="656" cy="508"/>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3" name="Rectangle 56"/>
          <p:cNvSpPr>
            <a:spLocks noChangeArrowheads="1"/>
          </p:cNvSpPr>
          <p:nvPr/>
        </p:nvSpPr>
        <p:spPr bwMode="auto">
          <a:xfrm>
            <a:off x="1351915" y="4547235"/>
            <a:ext cx="9464040"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42900" indent="-342900" algn="l" eaLnBrk="1" latinLnBrk="0" hangingPunct="1">
              <a:lnSpc>
                <a:spcPct val="150000"/>
              </a:lnSpc>
              <a:buFont typeface="Arial" panose="020B0604020202020204" pitchFamily="34" charset="0"/>
              <a:buChar char="•"/>
            </a:pPr>
            <a:r>
              <a:rPr lang="zh-CN" altLang="en-US" sz="1800" b="1" dirty="0">
                <a:solidFill>
                  <a:schemeClr val="bg1">
                    <a:lumMod val="50000"/>
                  </a:schemeClr>
                </a:solidFill>
                <a:latin typeface="微软雅黑" panose="020B0503020204020204" charset="-122"/>
                <a:sym typeface="+mn-ea"/>
              </a:rPr>
              <a:t>出让方应至少于公开竞价前</a:t>
            </a:r>
            <a:r>
              <a:rPr lang="en-US" altLang="zh-CN" sz="1800" b="1" dirty="0">
                <a:solidFill>
                  <a:schemeClr val="bg1">
                    <a:lumMod val="50000"/>
                  </a:schemeClr>
                </a:solidFill>
                <a:latin typeface="微软雅黑" panose="020B0503020204020204" charset="-122"/>
                <a:sym typeface="+mn-ea"/>
              </a:rPr>
              <a:t>10</a:t>
            </a:r>
            <a:r>
              <a:rPr lang="zh-CN" altLang="en-US" sz="1800" b="1" dirty="0">
                <a:solidFill>
                  <a:schemeClr val="bg1">
                    <a:lumMod val="50000"/>
                  </a:schemeClr>
                </a:solidFill>
                <a:latin typeface="微软雅黑" panose="020B0503020204020204" charset="-122"/>
                <a:sym typeface="+mn-ea"/>
              </a:rPr>
              <a:t>个工作日完成挂牌公告。</a:t>
            </a:r>
            <a:endParaRPr lang="en-US" altLang="zh-CN" sz="1800" b="1" dirty="0">
              <a:solidFill>
                <a:schemeClr val="bg1">
                  <a:lumMod val="50000"/>
                </a:schemeClr>
              </a:solidFill>
              <a:latin typeface="微软雅黑" panose="020B0503020204020204" charset="-122"/>
              <a:sym typeface="+mn-ea"/>
            </a:endParaRPr>
          </a:p>
          <a:p>
            <a:pPr marL="342900" indent="-342900" algn="l" eaLnBrk="1" latinLnBrk="0" hangingPunct="1">
              <a:lnSpc>
                <a:spcPct val="150000"/>
              </a:lnSpc>
              <a:buFont typeface="Arial" panose="020B0604020202020204" pitchFamily="34" charset="0"/>
              <a:buChar char="•"/>
            </a:pPr>
            <a:r>
              <a:rPr lang="zh-CN" altLang="en-US" sz="1800" b="1" dirty="0">
                <a:solidFill>
                  <a:schemeClr val="bg1">
                    <a:lumMod val="50000"/>
                  </a:schemeClr>
                </a:solidFill>
                <a:latin typeface="微软雅黑" panose="020B0503020204020204" charset="-122"/>
              </a:rPr>
              <a:t>挂牌公告内容包括</a:t>
            </a:r>
            <a:r>
              <a:rPr lang="zh-CN" altLang="en-US" sz="1800" dirty="0">
                <a:solidFill>
                  <a:schemeClr val="bg1">
                    <a:lumMod val="50000"/>
                  </a:schemeClr>
                </a:solidFill>
                <a:latin typeface="微软雅黑" panose="020B0503020204020204" charset="-122"/>
              </a:rPr>
              <a:t>：不良贷款基本信息、时间安排、转让方式、交易对象要求、交易条件、业务联系人信息。</a:t>
            </a:r>
            <a:endParaRPr lang="zh-CN" altLang="en-US" sz="1800" dirty="0">
              <a:solidFill>
                <a:schemeClr val="bg1">
                  <a:lumMod val="50000"/>
                </a:schemeClr>
              </a:solidFill>
              <a:latin typeface="微软雅黑" panose="020B0503020204020204" charset="-122"/>
            </a:endParaRPr>
          </a:p>
          <a:p>
            <a:pPr marL="342900" indent="-342900" algn="l" eaLnBrk="1" latinLnBrk="0" hangingPunct="1">
              <a:lnSpc>
                <a:spcPct val="150000"/>
              </a:lnSpc>
              <a:buFont typeface="Arial" panose="020B0604020202020204" pitchFamily="34" charset="0"/>
              <a:buChar char="•"/>
            </a:pPr>
            <a:r>
              <a:rPr lang="zh-CN" sz="1800" b="1" dirty="0">
                <a:solidFill>
                  <a:srgbClr val="C00000"/>
                </a:solidFill>
                <a:latin typeface="微软雅黑" panose="020B0503020204020204" charset="-122"/>
                <a:sym typeface="+mn-ea"/>
              </a:rPr>
              <a:t>优化亮点：挂牌及公告合二为一，转让公告根据挂牌信息自动生成，保证信息一致准确。</a:t>
            </a:r>
            <a:endParaRPr lang="zh-CN" altLang="en-US" sz="1800" b="1" dirty="0">
              <a:solidFill>
                <a:schemeClr val="bg1">
                  <a:lumMod val="50000"/>
                </a:schemeClr>
              </a:solidFill>
              <a:latin typeface="微软雅黑" panose="020B0503020204020204" charset="-122"/>
            </a:endParaRPr>
          </a:p>
        </p:txBody>
      </p:sp>
    </p:spTree>
    <p:custDataLst>
      <p:tags r:id="rId1"/>
    </p:custData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圆角矩形 42"/>
          <p:cNvSpPr/>
          <p:nvPr/>
        </p:nvSpPr>
        <p:spPr>
          <a:xfrm>
            <a:off x="1011555" y="4510405"/>
            <a:ext cx="10003790" cy="1734820"/>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p>
        </p:txBody>
      </p:sp>
      <p:sp>
        <p:nvSpPr>
          <p:cNvPr id="14" name="文本框 13"/>
          <p:cNvSpPr txBox="1"/>
          <p:nvPr/>
        </p:nvSpPr>
        <p:spPr>
          <a:xfrm>
            <a:off x="716448" y="1132052"/>
            <a:ext cx="3362787" cy="417830"/>
          </a:xfrm>
          <a:prstGeom prst="rect">
            <a:avLst/>
          </a:prstGeom>
          <a:noFill/>
        </p:spPr>
        <p:txBody>
          <a:bodyPr vert="horz" wrap="square" rtlCol="0">
            <a:spAutoFit/>
          </a:bodyPr>
          <a:lstStyle/>
          <a:p>
            <a:pPr defTabSz="457200" fontAlgn="auto">
              <a:spcBef>
                <a:spcPts val="0"/>
              </a:spcBef>
              <a:spcAft>
                <a:spcPts val="0"/>
              </a:spcAft>
              <a:defRPr/>
            </a:pPr>
            <a:r>
              <a:rPr lang="zh-CN" altLang="en-US" sz="2000" b="1" dirty="0">
                <a:solidFill>
                  <a:srgbClr val="7F7F7F"/>
                </a:solidFill>
                <a:latin typeface="微软雅黑" panose="020B0503020204020204" charset="-122"/>
                <a:sym typeface="+mn-ea"/>
              </a:rPr>
              <a:t>转让前准备工作</a:t>
            </a:r>
            <a:endParaRPr lang="zh-CN" altLang="en-US" sz="2000" b="1" dirty="0">
              <a:solidFill>
                <a:srgbClr val="7F7F7F"/>
              </a:solidFill>
              <a:latin typeface="微软雅黑" panose="020B0503020204020204" charset="-122"/>
              <a:sym typeface="+mn-ea"/>
            </a:endParaRPr>
          </a:p>
        </p:txBody>
      </p:sp>
      <p:grpSp>
        <p:nvGrpSpPr>
          <p:cNvPr id="15" name="组合 14"/>
          <p:cNvGrpSpPr/>
          <p:nvPr/>
        </p:nvGrpSpPr>
        <p:grpSpPr>
          <a:xfrm>
            <a:off x="436564" y="1195446"/>
            <a:ext cx="279885" cy="297452"/>
            <a:chOff x="235425" y="990578"/>
            <a:chExt cx="279885" cy="297452"/>
          </a:xfrm>
        </p:grpSpPr>
        <p:sp>
          <p:nvSpPr>
            <p:cNvPr id="16" name="矩形 15"/>
            <p:cNvSpPr/>
            <p:nvPr/>
          </p:nvSpPr>
          <p:spPr>
            <a:xfrm>
              <a:off x="235425" y="990578"/>
              <a:ext cx="72550" cy="297452"/>
            </a:xfrm>
            <a:prstGeom prst="rect">
              <a:avLst/>
            </a:prstGeom>
            <a:solidFill>
              <a:srgbClr val="C8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sp>
          <p:nvSpPr>
            <p:cNvPr id="17" name="矩形 16"/>
            <p:cNvSpPr/>
            <p:nvPr/>
          </p:nvSpPr>
          <p:spPr>
            <a:xfrm>
              <a:off x="327025" y="990578"/>
              <a:ext cx="188285" cy="297452"/>
            </a:xfrm>
            <a:prstGeom prst="rect">
              <a:avLst/>
            </a:prstGeom>
            <a:solidFill>
              <a:srgbClr val="3468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grpSp>
      <p:sp>
        <p:nvSpPr>
          <p:cNvPr id="2" name="灯片编号占位符 1"/>
          <p:cNvSpPr>
            <a:spLocks noGrp="1"/>
          </p:cNvSpPr>
          <p:nvPr>
            <p:ph type="sldNum" sz="quarter" idx="4"/>
          </p:nvPr>
        </p:nvSpPr>
        <p:spPr>
          <a:xfrm>
            <a:off x="8737600" y="6245225"/>
            <a:ext cx="2844800" cy="476250"/>
          </a:xfr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EAB507-6BF6-44B7-B0AA-FEDA2A5C4BA7}"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微软雅黑" panose="020B0503020204020204"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charset="-122"/>
              <a:cs typeface="+mn-cs"/>
            </a:endParaRPr>
          </a:p>
        </p:txBody>
      </p:sp>
      <p:sp>
        <p:nvSpPr>
          <p:cNvPr id="62" name="Line 29"/>
          <p:cNvSpPr>
            <a:spLocks noChangeShapeType="1"/>
          </p:cNvSpPr>
          <p:nvPr/>
        </p:nvSpPr>
        <p:spPr bwMode="auto">
          <a:xfrm>
            <a:off x="1011555" y="3570605"/>
            <a:ext cx="10027920" cy="635"/>
          </a:xfrm>
          <a:prstGeom prst="line">
            <a:avLst/>
          </a:prstGeom>
          <a:noFill/>
          <a:ln w="28575">
            <a:solidFill>
              <a:schemeClr val="tx1">
                <a:lumMod val="75000"/>
                <a:lumOff val="25000"/>
              </a:schemeClr>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grpSp>
        <p:nvGrpSpPr>
          <p:cNvPr id="31" name="组合 30"/>
          <p:cNvGrpSpPr/>
          <p:nvPr/>
        </p:nvGrpSpPr>
        <p:grpSpPr>
          <a:xfrm>
            <a:off x="3895090" y="1907540"/>
            <a:ext cx="1826895" cy="2256155"/>
            <a:chOff x="2416" y="4488"/>
            <a:chExt cx="2877" cy="3553"/>
          </a:xfrm>
        </p:grpSpPr>
        <p:sp>
          <p:nvSpPr>
            <p:cNvPr id="65" name="Oval 30"/>
            <p:cNvSpPr>
              <a:spLocks noChangeArrowheads="1"/>
            </p:cNvSpPr>
            <p:nvPr/>
          </p:nvSpPr>
          <p:spPr bwMode="auto">
            <a:xfrm>
              <a:off x="3724" y="6957"/>
              <a:ext cx="323" cy="302"/>
            </a:xfrm>
            <a:prstGeom prst="ellipse">
              <a:avLst/>
            </a:prstGeom>
            <a:solidFill>
              <a:srgbClr val="2361AE"/>
            </a:solidFill>
            <a:ln w="12700">
              <a:solidFill>
                <a:srgbClr val="FFFFFF"/>
              </a:solidFill>
              <a:round/>
            </a:ln>
          </p:spPr>
          <p:txBody>
            <a:bodyPr/>
            <a:lstStyle/>
            <a:p>
              <a:endParaRPr lang="zh-CN" altLang="en-US" sz="2800"/>
            </a:p>
          </p:txBody>
        </p:sp>
        <p:grpSp>
          <p:nvGrpSpPr>
            <p:cNvPr id="82" name="组合 81"/>
            <p:cNvGrpSpPr/>
            <p:nvPr/>
          </p:nvGrpSpPr>
          <p:grpSpPr>
            <a:xfrm>
              <a:off x="3329" y="4488"/>
              <a:ext cx="1123" cy="1061"/>
              <a:chOff x="4622800" y="2214802"/>
              <a:chExt cx="651933" cy="658283"/>
            </a:xfrm>
          </p:grpSpPr>
          <p:sp>
            <p:nvSpPr>
              <p:cNvPr id="83" name="Oval 31"/>
              <p:cNvSpPr>
                <a:spLocks noChangeArrowheads="1"/>
              </p:cNvSpPr>
              <p:nvPr/>
            </p:nvSpPr>
            <p:spPr bwMode="auto">
              <a:xfrm>
                <a:off x="4622800" y="2214802"/>
                <a:ext cx="651933" cy="658283"/>
              </a:xfrm>
              <a:prstGeom prst="ellipse">
                <a:avLst/>
              </a:prstGeom>
              <a:solidFill>
                <a:srgbClr val="2361AE"/>
              </a:solidFill>
              <a:ln>
                <a:noFill/>
              </a:ln>
            </p:spPr>
            <p:txBody>
              <a:bodyPr/>
              <a:lstStyle/>
              <a:p>
                <a:endParaRPr lang="zh-CN" altLang="en-US" sz="2800" dirty="0"/>
              </a:p>
            </p:txBody>
          </p:sp>
          <p:sp>
            <p:nvSpPr>
              <p:cNvPr id="84" name="Freeform 49"/>
              <p:cNvSpPr>
                <a:spLocks noEditPoints="1"/>
              </p:cNvSpPr>
              <p:nvPr/>
            </p:nvSpPr>
            <p:spPr bwMode="auto">
              <a:xfrm>
                <a:off x="4758267" y="2367203"/>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85" name="Rectangle 53"/>
            <p:cNvSpPr>
              <a:spLocks noChangeArrowheads="1"/>
            </p:cNvSpPr>
            <p:nvPr/>
          </p:nvSpPr>
          <p:spPr bwMode="auto">
            <a:xfrm>
              <a:off x="2978" y="5753"/>
              <a:ext cx="181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2000" b="1" dirty="0">
                  <a:solidFill>
                    <a:srgbClr val="2361AE"/>
                  </a:solidFill>
                  <a:latin typeface="微软雅黑" panose="020B0503020204020204" charset="-122"/>
                  <a:sym typeface="Calibri" panose="020F0502020204030204" charset="0"/>
                </a:rPr>
                <a:t>挂牌公告</a:t>
              </a:r>
              <a:endParaRPr lang="zh-CN" altLang="en-US" sz="2000" b="1" dirty="0">
                <a:solidFill>
                  <a:srgbClr val="2361AE"/>
                </a:solidFill>
                <a:latin typeface="微软雅黑" panose="020B0503020204020204" charset="-122"/>
                <a:sym typeface="Calibri" panose="020F0502020204030204" charset="0"/>
              </a:endParaRPr>
            </a:p>
          </p:txBody>
        </p:sp>
        <p:sp>
          <p:nvSpPr>
            <p:cNvPr id="90" name="Rectangle 56"/>
            <p:cNvSpPr>
              <a:spLocks noChangeArrowheads="1"/>
            </p:cNvSpPr>
            <p:nvPr/>
          </p:nvSpPr>
          <p:spPr bwMode="auto">
            <a:xfrm>
              <a:off x="2416" y="7465"/>
              <a:ext cx="287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solidFill>
                    <a:srgbClr val="2361AE"/>
                  </a:solidFill>
                  <a:latin typeface="微软雅黑" panose="020B0503020204020204" charset="-122"/>
                </a:rPr>
                <a:t>T-10</a:t>
              </a:r>
              <a:r>
                <a:rPr lang="zh-CN" altLang="en-US" sz="2000" b="1" dirty="0">
                  <a:solidFill>
                    <a:srgbClr val="2361AE"/>
                  </a:solidFill>
                  <a:latin typeface="微软雅黑" panose="020B0503020204020204" charset="-122"/>
                </a:rPr>
                <a:t>工作日前</a:t>
              </a:r>
              <a:endParaRPr lang="zh-CN" altLang="en-US" sz="2000" b="1" dirty="0">
                <a:solidFill>
                  <a:srgbClr val="2361AE"/>
                </a:solidFill>
                <a:latin typeface="微软雅黑" panose="020B0503020204020204" charset="-122"/>
              </a:endParaRPr>
            </a:p>
          </p:txBody>
        </p:sp>
      </p:grpSp>
      <p:grpSp>
        <p:nvGrpSpPr>
          <p:cNvPr id="29" name="组合 28"/>
          <p:cNvGrpSpPr/>
          <p:nvPr/>
        </p:nvGrpSpPr>
        <p:grpSpPr>
          <a:xfrm>
            <a:off x="8188325" y="1907540"/>
            <a:ext cx="1536065" cy="2256155"/>
            <a:chOff x="7079" y="4488"/>
            <a:chExt cx="2419" cy="3553"/>
          </a:xfrm>
        </p:grpSpPr>
        <p:sp>
          <p:nvSpPr>
            <p:cNvPr id="98" name="Oval 32"/>
            <p:cNvSpPr>
              <a:spLocks noChangeArrowheads="1"/>
            </p:cNvSpPr>
            <p:nvPr/>
          </p:nvSpPr>
          <p:spPr bwMode="auto">
            <a:xfrm>
              <a:off x="8118"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grpSp>
          <p:nvGrpSpPr>
            <p:cNvPr id="95" name="组合 94"/>
            <p:cNvGrpSpPr/>
            <p:nvPr/>
          </p:nvGrpSpPr>
          <p:grpSpPr>
            <a:xfrm>
              <a:off x="7723" y="4488"/>
              <a:ext cx="1123" cy="1060"/>
              <a:chOff x="4622800" y="2280709"/>
              <a:chExt cx="651933" cy="658283"/>
            </a:xfrm>
          </p:grpSpPr>
          <p:sp>
            <p:nvSpPr>
              <p:cNvPr id="96" name="Oval 31"/>
              <p:cNvSpPr>
                <a:spLocks noChangeArrowheads="1"/>
              </p:cNvSpPr>
              <p:nvPr/>
            </p:nvSpPr>
            <p:spPr bwMode="auto">
              <a:xfrm>
                <a:off x="4622800" y="2280709"/>
                <a:ext cx="651933" cy="658283"/>
              </a:xfrm>
              <a:prstGeom prst="ellipse">
                <a:avLst/>
              </a:prstGeom>
              <a:solidFill>
                <a:srgbClr val="2361AE"/>
              </a:solidFill>
              <a:ln>
                <a:noFill/>
              </a:ln>
            </p:spPr>
            <p:txBody>
              <a:bodyPr/>
              <a:lstStyle/>
              <a:p>
                <a:endParaRPr lang="zh-CN" altLang="en-US" sz="2800" dirty="0"/>
              </a:p>
            </p:txBody>
          </p:sp>
          <p:sp>
            <p:nvSpPr>
              <p:cNvPr id="97" name="Freeform 49"/>
              <p:cNvSpPr>
                <a:spLocks noEditPoints="1"/>
              </p:cNvSpPr>
              <p:nvPr/>
            </p:nvSpPr>
            <p:spPr bwMode="auto">
              <a:xfrm>
                <a:off x="4758267" y="2433110"/>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99" name="Rectangle 53"/>
            <p:cNvSpPr>
              <a:spLocks noChangeArrowheads="1"/>
            </p:cNvSpPr>
            <p:nvPr/>
          </p:nvSpPr>
          <p:spPr bwMode="auto">
            <a:xfrm>
              <a:off x="7204" y="5753"/>
              <a:ext cx="2151"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合格意向</a:t>
              </a:r>
              <a:endParaRPr lang="zh-CN" altLang="en-US" sz="2000" b="1" dirty="0">
                <a:solidFill>
                  <a:srgbClr val="2361AE"/>
                </a:solidFill>
                <a:latin typeface="微软雅黑" panose="020B0503020204020204" charset="-122"/>
              </a:endParaRPr>
            </a:p>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受让方确认</a:t>
              </a:r>
              <a:endParaRPr lang="zh-CN" altLang="en-US" sz="2000" b="1" dirty="0">
                <a:solidFill>
                  <a:srgbClr val="2361AE"/>
                </a:solidFill>
                <a:latin typeface="微软雅黑" panose="020B0503020204020204" charset="-122"/>
              </a:endParaRPr>
            </a:p>
          </p:txBody>
        </p:sp>
        <p:sp>
          <p:nvSpPr>
            <p:cNvPr id="100" name="Rectangle 56"/>
            <p:cNvSpPr>
              <a:spLocks noChangeArrowheads="1"/>
            </p:cNvSpPr>
            <p:nvPr/>
          </p:nvSpPr>
          <p:spPr bwMode="auto">
            <a:xfrm>
              <a:off x="7079" y="7465"/>
              <a:ext cx="241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latin typeface="微软雅黑" panose="020B0503020204020204" charset="-122"/>
                </a:rPr>
                <a:t>T-1</a:t>
              </a:r>
              <a:r>
                <a:rPr lang="zh-CN" altLang="en-US" sz="2000" b="1" dirty="0">
                  <a:latin typeface="微软雅黑" panose="020B0503020204020204" charset="-122"/>
                </a:rPr>
                <a:t>工作</a:t>
              </a:r>
              <a:r>
                <a:rPr lang="zh-CN" altLang="en-US" sz="2000" b="1" dirty="0">
                  <a:latin typeface="微软雅黑" panose="020B0503020204020204" charset="-122"/>
                  <a:sym typeface="+mn-ea"/>
                </a:rPr>
                <a:t>日前</a:t>
              </a:r>
              <a:endParaRPr lang="zh-CN" altLang="en-US" sz="2000" b="1" dirty="0">
                <a:latin typeface="微软雅黑" panose="020B0503020204020204" charset="-122"/>
                <a:sym typeface="+mn-ea"/>
              </a:endParaRPr>
            </a:p>
          </p:txBody>
        </p:sp>
      </p:grpSp>
      <p:grpSp>
        <p:nvGrpSpPr>
          <p:cNvPr id="28" name="组合 27"/>
          <p:cNvGrpSpPr/>
          <p:nvPr/>
        </p:nvGrpSpPr>
        <p:grpSpPr>
          <a:xfrm>
            <a:off x="9928860" y="1907540"/>
            <a:ext cx="1806575" cy="2256155"/>
            <a:chOff x="9168" y="4488"/>
            <a:chExt cx="2845" cy="3553"/>
          </a:xfrm>
        </p:grpSpPr>
        <p:sp>
          <p:nvSpPr>
            <p:cNvPr id="101" name="Oval 32"/>
            <p:cNvSpPr>
              <a:spLocks noChangeArrowheads="1"/>
            </p:cNvSpPr>
            <p:nvPr/>
          </p:nvSpPr>
          <p:spPr bwMode="auto">
            <a:xfrm>
              <a:off x="10631"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sp>
          <p:nvSpPr>
            <p:cNvPr id="103" name="Rectangle 56"/>
            <p:cNvSpPr>
              <a:spLocks noChangeArrowheads="1"/>
            </p:cNvSpPr>
            <p:nvPr/>
          </p:nvSpPr>
          <p:spPr bwMode="auto">
            <a:xfrm>
              <a:off x="9168" y="7465"/>
              <a:ext cx="284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latin typeface="微软雅黑" panose="020B0503020204020204" charset="-122"/>
                </a:rPr>
                <a:t>T-1</a:t>
              </a:r>
              <a:r>
                <a:rPr lang="zh-CN" altLang="en-US" sz="2000" b="1" dirty="0">
                  <a:latin typeface="微软雅黑" panose="020B0503020204020204" charset="-122"/>
                </a:rPr>
                <a:t>工作</a:t>
              </a:r>
              <a:r>
                <a:rPr lang="zh-CN" altLang="en-US" sz="2000" b="1" dirty="0">
                  <a:latin typeface="微软雅黑" panose="020B0503020204020204" charset="-122"/>
                  <a:sym typeface="+mn-ea"/>
                </a:rPr>
                <a:t>日前</a:t>
              </a:r>
              <a:endParaRPr lang="zh-CN" altLang="en-US" sz="2000" b="1" dirty="0">
                <a:latin typeface="微软雅黑" panose="020B0503020204020204" charset="-122"/>
                <a:sym typeface="+mn-ea"/>
              </a:endParaRPr>
            </a:p>
          </p:txBody>
        </p:sp>
        <p:sp>
          <p:nvSpPr>
            <p:cNvPr id="102" name="Rectangle 53"/>
            <p:cNvSpPr>
              <a:spLocks noChangeArrowheads="1"/>
            </p:cNvSpPr>
            <p:nvPr/>
          </p:nvSpPr>
          <p:spPr bwMode="auto">
            <a:xfrm>
              <a:off x="9787" y="5753"/>
              <a:ext cx="208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设置保留价</a:t>
              </a:r>
              <a:endParaRPr lang="zh-CN" altLang="en-US" sz="2000" b="1" dirty="0">
                <a:solidFill>
                  <a:srgbClr val="2361AE"/>
                </a:solidFill>
                <a:latin typeface="微软雅黑" panose="020B0503020204020204" charset="-122"/>
              </a:endParaRPr>
            </a:p>
          </p:txBody>
        </p:sp>
        <p:grpSp>
          <p:nvGrpSpPr>
            <p:cNvPr id="12" name="组合 11"/>
            <p:cNvGrpSpPr/>
            <p:nvPr/>
          </p:nvGrpSpPr>
          <p:grpSpPr>
            <a:xfrm>
              <a:off x="10233" y="4488"/>
              <a:ext cx="1130" cy="1059"/>
              <a:chOff x="9031" y="4796"/>
              <a:chExt cx="894" cy="838"/>
            </a:xfrm>
          </p:grpSpPr>
          <p:sp>
            <p:nvSpPr>
              <p:cNvPr id="114" name="Oval 33"/>
              <p:cNvSpPr>
                <a:spLocks noChangeArrowheads="1"/>
              </p:cNvSpPr>
              <p:nvPr/>
            </p:nvSpPr>
            <p:spPr bwMode="auto">
              <a:xfrm>
                <a:off x="9031" y="4796"/>
                <a:ext cx="894" cy="838"/>
              </a:xfrm>
              <a:prstGeom prst="ellipse">
                <a:avLst/>
              </a:prstGeom>
              <a:solidFill>
                <a:srgbClr val="2361AE"/>
              </a:solidFill>
              <a:ln>
                <a:noFill/>
              </a:ln>
            </p:spPr>
            <p:txBody>
              <a:bodyPr/>
              <a:lstStyle/>
              <a:p>
                <a:endParaRPr lang="zh-CN" altLang="en-US" sz="2800" dirty="0"/>
              </a:p>
            </p:txBody>
          </p:sp>
          <p:sp>
            <p:nvSpPr>
              <p:cNvPr id="115" name="Freeform 17"/>
              <p:cNvSpPr>
                <a:spLocks noEditPoints="1"/>
              </p:cNvSpPr>
              <p:nvPr/>
            </p:nvSpPr>
            <p:spPr bwMode="auto">
              <a:xfrm>
                <a:off x="9262" y="5016"/>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dirty="0"/>
              </a:p>
            </p:txBody>
          </p:sp>
        </p:grpSp>
      </p:grpSp>
      <p:grpSp>
        <p:nvGrpSpPr>
          <p:cNvPr id="30" name="组合 29"/>
          <p:cNvGrpSpPr/>
          <p:nvPr/>
        </p:nvGrpSpPr>
        <p:grpSpPr>
          <a:xfrm>
            <a:off x="6048375" y="1907540"/>
            <a:ext cx="1745615" cy="2256155"/>
            <a:chOff x="4660" y="4488"/>
            <a:chExt cx="2749" cy="3553"/>
          </a:xfrm>
        </p:grpSpPr>
        <p:sp>
          <p:nvSpPr>
            <p:cNvPr id="125" name="Oval 32"/>
            <p:cNvSpPr>
              <a:spLocks noChangeArrowheads="1"/>
            </p:cNvSpPr>
            <p:nvPr/>
          </p:nvSpPr>
          <p:spPr bwMode="auto">
            <a:xfrm>
              <a:off x="5878" y="6957"/>
              <a:ext cx="323" cy="302"/>
            </a:xfrm>
            <a:prstGeom prst="ellipse">
              <a:avLst/>
            </a:prstGeom>
            <a:solidFill>
              <a:srgbClr val="D8A940"/>
            </a:solidFill>
            <a:ln w="12700">
              <a:solidFill>
                <a:srgbClr val="FFFFFF"/>
              </a:solidFill>
              <a:round/>
            </a:ln>
          </p:spPr>
          <p:txBody>
            <a:bodyPr/>
            <a:lstStyle/>
            <a:p>
              <a:endParaRPr lang="zh-CN" altLang="en-US" sz="2800">
                <a:solidFill>
                  <a:schemeClr val="accent3"/>
                </a:solidFill>
              </a:endParaRPr>
            </a:p>
          </p:txBody>
        </p:sp>
        <p:sp>
          <p:nvSpPr>
            <p:cNvPr id="129" name="Rectangle 56"/>
            <p:cNvSpPr>
              <a:spLocks noChangeArrowheads="1"/>
            </p:cNvSpPr>
            <p:nvPr/>
          </p:nvSpPr>
          <p:spPr bwMode="auto">
            <a:xfrm>
              <a:off x="4660" y="7465"/>
              <a:ext cx="274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sz="2000" b="1" dirty="0">
                  <a:solidFill>
                    <a:srgbClr val="D8A940"/>
                  </a:solidFill>
                  <a:latin typeface="微软雅黑" panose="020B0503020204020204" charset="-122"/>
                </a:rPr>
                <a:t>T-2</a:t>
              </a:r>
              <a:r>
                <a:rPr lang="zh-CN" altLang="en-US" sz="2000" b="1" dirty="0">
                  <a:solidFill>
                    <a:srgbClr val="D8A940"/>
                  </a:solidFill>
                  <a:latin typeface="微软雅黑" panose="020B0503020204020204" charset="-122"/>
                </a:rPr>
                <a:t>工作</a:t>
              </a:r>
              <a:r>
                <a:rPr lang="zh-CN" altLang="en-US" sz="2000" b="1" dirty="0">
                  <a:solidFill>
                    <a:srgbClr val="D8A940"/>
                  </a:solidFill>
                  <a:latin typeface="微软雅黑" panose="020B0503020204020204" charset="-122"/>
                  <a:sym typeface="+mn-ea"/>
                </a:rPr>
                <a:t>日前</a:t>
              </a:r>
              <a:endParaRPr lang="zh-CN" altLang="en-US" sz="2000" b="1" dirty="0">
                <a:solidFill>
                  <a:srgbClr val="D8A940"/>
                </a:solidFill>
                <a:latin typeface="微软雅黑" panose="020B0503020204020204" charset="-122"/>
                <a:sym typeface="+mn-ea"/>
              </a:endParaRPr>
            </a:p>
          </p:txBody>
        </p:sp>
        <p:sp>
          <p:nvSpPr>
            <p:cNvPr id="128" name="Rectangle 55"/>
            <p:cNvSpPr>
              <a:spLocks noChangeArrowheads="1"/>
            </p:cNvSpPr>
            <p:nvPr/>
          </p:nvSpPr>
          <p:spPr bwMode="auto">
            <a:xfrm>
              <a:off x="4980" y="5753"/>
              <a:ext cx="2090"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D8A940"/>
                  </a:solidFill>
                  <a:latin typeface="微软雅黑" panose="020B0503020204020204" charset="-122"/>
                </a:rPr>
                <a:t>意向受让方申请</a:t>
              </a:r>
              <a:endParaRPr lang="zh-CN" altLang="en-US" sz="2000" b="1" dirty="0">
                <a:solidFill>
                  <a:srgbClr val="D8A940"/>
                </a:solidFill>
                <a:latin typeface="微软雅黑" panose="020B0503020204020204" charset="-122"/>
              </a:endParaRPr>
            </a:p>
          </p:txBody>
        </p:sp>
        <p:grpSp>
          <p:nvGrpSpPr>
            <p:cNvPr id="11" name="组合 10"/>
            <p:cNvGrpSpPr/>
            <p:nvPr/>
          </p:nvGrpSpPr>
          <p:grpSpPr>
            <a:xfrm>
              <a:off x="5480" y="4488"/>
              <a:ext cx="1130" cy="1059"/>
              <a:chOff x="4823" y="4801"/>
              <a:chExt cx="894" cy="838"/>
            </a:xfrm>
          </p:grpSpPr>
          <p:sp>
            <p:nvSpPr>
              <p:cNvPr id="127" name="Oval 33"/>
              <p:cNvSpPr>
                <a:spLocks noChangeArrowheads="1"/>
              </p:cNvSpPr>
              <p:nvPr/>
            </p:nvSpPr>
            <p:spPr bwMode="auto">
              <a:xfrm>
                <a:off x="4823" y="4801"/>
                <a:ext cx="894" cy="838"/>
              </a:xfrm>
              <a:prstGeom prst="ellipse">
                <a:avLst/>
              </a:prstGeom>
              <a:solidFill>
                <a:srgbClr val="D8A940"/>
              </a:solidFill>
              <a:ln>
                <a:noFill/>
              </a:ln>
            </p:spPr>
            <p:txBody>
              <a:bodyPr/>
              <a:lstStyle/>
              <a:p>
                <a:endParaRPr lang="zh-CN" altLang="en-US" sz="2000" dirty="0"/>
              </a:p>
            </p:txBody>
          </p:sp>
          <p:sp>
            <p:nvSpPr>
              <p:cNvPr id="130" name="Shape 2533"/>
              <p:cNvSpPr>
                <a:spLocks noChangeAspect="1"/>
              </p:cNvSpPr>
              <p:nvPr/>
            </p:nvSpPr>
            <p:spPr>
              <a:xfrm>
                <a:off x="5084" y="4980"/>
                <a:ext cx="447" cy="490"/>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chemeClr val="bg1"/>
              </a:solidFill>
              <a:ln w="12700">
                <a:miter lim="400000"/>
              </a:ln>
            </p:spPr>
            <p:txBody>
              <a:bodyPr lIns="38091" tIns="38091" rIns="38091" bIns="38091" anchor="ctr"/>
              <a:lstStyle/>
              <a:p>
                <a:pPr defTabSz="4565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000" dirty="0">
                  <a:latin typeface="微软雅黑" panose="020B0503020204020204" charset="-122"/>
                  <a:cs typeface="Source Sans Pro Regular" charset="0"/>
                </a:endParaRPr>
              </a:p>
            </p:txBody>
          </p:sp>
        </p:grpSp>
      </p:grpSp>
      <p:grpSp>
        <p:nvGrpSpPr>
          <p:cNvPr id="33" name="组合 32"/>
          <p:cNvGrpSpPr/>
          <p:nvPr/>
        </p:nvGrpSpPr>
        <p:grpSpPr>
          <a:xfrm>
            <a:off x="2336165" y="1910080"/>
            <a:ext cx="1068070" cy="1759585"/>
            <a:chOff x="912" y="4488"/>
            <a:chExt cx="1682" cy="2771"/>
          </a:xfrm>
        </p:grpSpPr>
        <p:sp>
          <p:nvSpPr>
            <p:cNvPr id="34" name="Rectangle 55"/>
            <p:cNvSpPr>
              <a:spLocks noChangeArrowheads="1"/>
            </p:cNvSpPr>
            <p:nvPr/>
          </p:nvSpPr>
          <p:spPr bwMode="auto">
            <a:xfrm>
              <a:off x="912" y="5753"/>
              <a:ext cx="1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资产登记</a:t>
              </a:r>
              <a:endParaRPr lang="zh-CN" altLang="en-US" sz="2000" b="1" dirty="0">
                <a:solidFill>
                  <a:srgbClr val="2361AE"/>
                </a:solidFill>
                <a:latin typeface="微软雅黑" panose="020B0503020204020204" charset="-122"/>
              </a:endParaRPr>
            </a:p>
          </p:txBody>
        </p:sp>
        <p:grpSp>
          <p:nvGrpSpPr>
            <p:cNvPr id="35" name="组合 34"/>
            <p:cNvGrpSpPr/>
            <p:nvPr/>
          </p:nvGrpSpPr>
          <p:grpSpPr>
            <a:xfrm>
              <a:off x="1194" y="4488"/>
              <a:ext cx="1130" cy="1060"/>
              <a:chOff x="1230" y="4717"/>
              <a:chExt cx="894" cy="839"/>
            </a:xfrm>
          </p:grpSpPr>
          <p:sp>
            <p:nvSpPr>
              <p:cNvPr id="36" name="Oval 33"/>
              <p:cNvSpPr>
                <a:spLocks noChangeArrowheads="1"/>
              </p:cNvSpPr>
              <p:nvPr/>
            </p:nvSpPr>
            <p:spPr bwMode="auto">
              <a:xfrm>
                <a:off x="1230" y="4717"/>
                <a:ext cx="894" cy="839"/>
              </a:xfrm>
              <a:prstGeom prst="ellipse">
                <a:avLst/>
              </a:prstGeom>
              <a:solidFill>
                <a:srgbClr val="2361AE"/>
              </a:solidFill>
              <a:ln>
                <a:noFill/>
              </a:ln>
            </p:spPr>
            <p:txBody>
              <a:bodyPr/>
              <a:lstStyle/>
              <a:p>
                <a:endParaRPr lang="zh-CN" altLang="en-US" sz="2800" dirty="0"/>
              </a:p>
            </p:txBody>
          </p:sp>
          <p:sp>
            <p:nvSpPr>
              <p:cNvPr id="37" name="Freeform 17"/>
              <p:cNvSpPr>
                <a:spLocks noEditPoints="1"/>
              </p:cNvSpPr>
              <p:nvPr/>
            </p:nvSpPr>
            <p:spPr bwMode="auto">
              <a:xfrm>
                <a:off x="1433" y="4937"/>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dirty="0"/>
              </a:p>
            </p:txBody>
          </p:sp>
        </p:grpSp>
        <p:sp>
          <p:nvSpPr>
            <p:cNvPr id="38" name="Oval 30"/>
            <p:cNvSpPr>
              <a:spLocks noChangeArrowheads="1"/>
            </p:cNvSpPr>
            <p:nvPr/>
          </p:nvSpPr>
          <p:spPr bwMode="auto">
            <a:xfrm>
              <a:off x="1507" y="6957"/>
              <a:ext cx="323" cy="302"/>
            </a:xfrm>
            <a:prstGeom prst="ellipse">
              <a:avLst/>
            </a:prstGeom>
            <a:solidFill>
              <a:srgbClr val="2361AE"/>
            </a:solidFill>
            <a:ln w="12700">
              <a:solidFill>
                <a:srgbClr val="FFFFFF"/>
              </a:solidFill>
              <a:round/>
            </a:ln>
          </p:spPr>
          <p:txBody>
            <a:bodyPr/>
            <a:lstStyle/>
            <a:p>
              <a:endParaRPr lang="zh-CN" altLang="en-US" sz="2800"/>
            </a:p>
          </p:txBody>
        </p:sp>
      </p:grpSp>
      <p:grpSp>
        <p:nvGrpSpPr>
          <p:cNvPr id="40" name="组合 39"/>
          <p:cNvGrpSpPr/>
          <p:nvPr/>
        </p:nvGrpSpPr>
        <p:grpSpPr>
          <a:xfrm>
            <a:off x="579120" y="1907540"/>
            <a:ext cx="1068070" cy="1758950"/>
            <a:chOff x="912" y="4488"/>
            <a:chExt cx="1682" cy="2770"/>
          </a:xfrm>
        </p:grpSpPr>
        <p:grpSp>
          <p:nvGrpSpPr>
            <p:cNvPr id="32" name="组合 31"/>
            <p:cNvGrpSpPr/>
            <p:nvPr/>
          </p:nvGrpSpPr>
          <p:grpSpPr>
            <a:xfrm>
              <a:off x="912" y="4488"/>
              <a:ext cx="1682" cy="2771"/>
              <a:chOff x="912" y="4488"/>
              <a:chExt cx="1682" cy="2771"/>
            </a:xfrm>
          </p:grpSpPr>
          <p:sp>
            <p:nvSpPr>
              <p:cNvPr id="112" name="Rectangle 55"/>
              <p:cNvSpPr>
                <a:spLocks noChangeArrowheads="1"/>
              </p:cNvSpPr>
              <p:nvPr/>
            </p:nvSpPr>
            <p:spPr bwMode="auto">
              <a:xfrm>
                <a:off x="912" y="5753"/>
                <a:ext cx="1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账户开立</a:t>
                </a:r>
                <a:endParaRPr lang="zh-CN" altLang="en-US" sz="2000" b="1" dirty="0">
                  <a:solidFill>
                    <a:srgbClr val="2361AE"/>
                  </a:solidFill>
                  <a:latin typeface="微软雅黑" panose="020B0503020204020204" charset="-122"/>
                </a:endParaRPr>
              </a:p>
            </p:txBody>
          </p:sp>
          <p:sp>
            <p:nvSpPr>
              <p:cNvPr id="111" name="Oval 33"/>
              <p:cNvSpPr>
                <a:spLocks noChangeArrowheads="1"/>
              </p:cNvSpPr>
              <p:nvPr/>
            </p:nvSpPr>
            <p:spPr bwMode="auto">
              <a:xfrm>
                <a:off x="1194" y="4488"/>
                <a:ext cx="1130" cy="1060"/>
              </a:xfrm>
              <a:prstGeom prst="ellipse">
                <a:avLst/>
              </a:prstGeom>
              <a:solidFill>
                <a:srgbClr val="2361AE"/>
              </a:solidFill>
              <a:ln>
                <a:noFill/>
              </a:ln>
            </p:spPr>
            <p:txBody>
              <a:bodyPr/>
              <a:lstStyle/>
              <a:p>
                <a:endParaRPr lang="zh-CN" altLang="en-US" sz="2800" dirty="0"/>
              </a:p>
            </p:txBody>
          </p:sp>
          <p:sp>
            <p:nvSpPr>
              <p:cNvPr id="119" name="Oval 30"/>
              <p:cNvSpPr>
                <a:spLocks noChangeArrowheads="1"/>
              </p:cNvSpPr>
              <p:nvPr/>
            </p:nvSpPr>
            <p:spPr bwMode="auto">
              <a:xfrm>
                <a:off x="1507" y="6957"/>
                <a:ext cx="323" cy="302"/>
              </a:xfrm>
              <a:prstGeom prst="ellipse">
                <a:avLst/>
              </a:prstGeom>
              <a:solidFill>
                <a:srgbClr val="2361AE"/>
              </a:solidFill>
              <a:ln w="12700">
                <a:solidFill>
                  <a:srgbClr val="FFFFFF"/>
                </a:solidFill>
                <a:round/>
              </a:ln>
            </p:spPr>
            <p:txBody>
              <a:bodyPr/>
              <a:lstStyle/>
              <a:p>
                <a:endParaRPr lang="zh-CN" altLang="en-US" sz="2800"/>
              </a:p>
            </p:txBody>
          </p:sp>
        </p:grpSp>
        <p:sp>
          <p:nvSpPr>
            <p:cNvPr id="39" name="Freeform 49"/>
            <p:cNvSpPr>
              <a:spLocks noEditPoints="1"/>
            </p:cNvSpPr>
            <p:nvPr/>
          </p:nvSpPr>
          <p:spPr bwMode="auto">
            <a:xfrm>
              <a:off x="1433" y="4716"/>
              <a:ext cx="656" cy="508"/>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41" name="Rectangle 56"/>
          <p:cNvSpPr>
            <a:spLocks noChangeArrowheads="1"/>
          </p:cNvSpPr>
          <p:nvPr/>
        </p:nvSpPr>
        <p:spPr bwMode="auto">
          <a:xfrm>
            <a:off x="1351915" y="4760595"/>
            <a:ext cx="9464040"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42900" indent="-342900" algn="l" eaLnBrk="1" latinLnBrk="0" hangingPunct="1">
              <a:lnSpc>
                <a:spcPct val="150000"/>
              </a:lnSpc>
              <a:buFont typeface="Arial" panose="020B0604020202020204" pitchFamily="34" charset="0"/>
              <a:buChar char="•"/>
            </a:pPr>
            <a:r>
              <a:rPr sz="1800" dirty="0">
                <a:solidFill>
                  <a:schemeClr val="bg1">
                    <a:lumMod val="50000"/>
                  </a:schemeClr>
                </a:solidFill>
                <a:latin typeface="微软雅黑" panose="020B0503020204020204" charset="-122"/>
                <a:sym typeface="+mn-ea"/>
              </a:rPr>
              <a:t>受让方可通过</a:t>
            </a:r>
            <a:r>
              <a:rPr sz="1800" b="1" dirty="0">
                <a:solidFill>
                  <a:schemeClr val="bg1">
                    <a:lumMod val="50000"/>
                  </a:schemeClr>
                </a:solidFill>
                <a:latin typeface="微软雅黑" panose="020B0503020204020204" charset="-122"/>
                <a:sym typeface="+mn-ea"/>
              </a:rPr>
              <a:t>银登网</a:t>
            </a:r>
            <a:r>
              <a:rPr sz="1800" dirty="0">
                <a:solidFill>
                  <a:schemeClr val="bg1">
                    <a:lumMod val="50000"/>
                  </a:schemeClr>
                </a:solidFill>
                <a:latin typeface="微软雅黑" panose="020B0503020204020204" charset="-122"/>
                <a:sym typeface="+mn-ea"/>
              </a:rPr>
              <a:t>和</a:t>
            </a:r>
            <a:r>
              <a:rPr sz="1800" b="1" dirty="0">
                <a:solidFill>
                  <a:schemeClr val="bg1">
                    <a:lumMod val="50000"/>
                  </a:schemeClr>
                </a:solidFill>
                <a:latin typeface="微软雅黑" panose="020B0503020204020204" charset="-122"/>
                <a:sym typeface="+mn-ea"/>
              </a:rPr>
              <a:t>业务系统</a:t>
            </a:r>
            <a:r>
              <a:rPr sz="1800" dirty="0">
                <a:solidFill>
                  <a:schemeClr val="bg1">
                    <a:lumMod val="50000"/>
                  </a:schemeClr>
                </a:solidFill>
                <a:latin typeface="微软雅黑" panose="020B0503020204020204" charset="-122"/>
                <a:sym typeface="+mn-ea"/>
              </a:rPr>
              <a:t>查看挂牌公告信息，并在</a:t>
            </a:r>
            <a:r>
              <a:rPr sz="1800" b="1" dirty="0">
                <a:solidFill>
                  <a:schemeClr val="bg1">
                    <a:lumMod val="50000"/>
                  </a:schemeClr>
                </a:solidFill>
                <a:latin typeface="微软雅黑" panose="020B0503020204020204" charset="-122"/>
                <a:sym typeface="+mn-ea"/>
              </a:rPr>
              <a:t>报名截止日前</a:t>
            </a:r>
            <a:r>
              <a:rPr sz="1800" dirty="0">
                <a:solidFill>
                  <a:schemeClr val="bg1">
                    <a:lumMod val="50000"/>
                  </a:schemeClr>
                </a:solidFill>
                <a:latin typeface="微软雅黑" panose="020B0503020204020204" charset="-122"/>
                <a:sym typeface="+mn-ea"/>
              </a:rPr>
              <a:t>通过业务系统提交报名申请</a:t>
            </a:r>
            <a:endParaRPr sz="1800" dirty="0">
              <a:solidFill>
                <a:schemeClr val="bg1">
                  <a:lumMod val="50000"/>
                </a:schemeClr>
              </a:solidFill>
              <a:latin typeface="微软雅黑" panose="020B0503020204020204" charset="-122"/>
              <a:sym typeface="+mn-ea"/>
            </a:endParaRPr>
          </a:p>
          <a:p>
            <a:pPr marL="342900" indent="-342900" algn="l" eaLnBrk="1" latinLnBrk="0" hangingPunct="1">
              <a:lnSpc>
                <a:spcPct val="150000"/>
              </a:lnSpc>
              <a:buFont typeface="Arial" panose="020B0604020202020204" pitchFamily="34" charset="0"/>
              <a:buChar char="•"/>
            </a:pPr>
            <a:r>
              <a:rPr sz="1800" b="1" dirty="0">
                <a:solidFill>
                  <a:schemeClr val="bg1">
                    <a:lumMod val="50000"/>
                  </a:schemeClr>
                </a:solidFill>
                <a:latin typeface="微软雅黑" panose="020B0503020204020204" charset="-122"/>
                <a:sym typeface="+mn-ea"/>
              </a:rPr>
              <a:t>报名截止日不得晚于公开竞价前2个工作日</a:t>
            </a:r>
            <a:endParaRPr sz="1800" b="1" dirty="0">
              <a:solidFill>
                <a:schemeClr val="bg1">
                  <a:lumMod val="50000"/>
                </a:schemeClr>
              </a:solidFill>
              <a:latin typeface="微软雅黑" panose="020B0503020204020204" charset="-122"/>
              <a:sym typeface="+mn-ea"/>
            </a:endParaRPr>
          </a:p>
          <a:p>
            <a:pPr marL="342900" indent="-342900" algn="l" eaLnBrk="1" latinLnBrk="0" hangingPunct="1">
              <a:lnSpc>
                <a:spcPct val="150000"/>
              </a:lnSpc>
              <a:buFont typeface="Arial" panose="020B0604020202020204" pitchFamily="34" charset="0"/>
              <a:buChar char="•"/>
            </a:pPr>
            <a:endParaRPr lang="zh-CN" sz="1800" b="1" dirty="0">
              <a:solidFill>
                <a:srgbClr val="C00000"/>
              </a:solidFill>
              <a:latin typeface="微软雅黑" panose="020B0503020204020204" charset="-122"/>
              <a:sym typeface="+mn-ea"/>
            </a:endParaRPr>
          </a:p>
        </p:txBody>
      </p:sp>
    </p:spTree>
    <p:custDataLst>
      <p:tags r:id="rId1"/>
    </p:custData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圆角矩形 42"/>
          <p:cNvSpPr/>
          <p:nvPr/>
        </p:nvSpPr>
        <p:spPr>
          <a:xfrm>
            <a:off x="1011555" y="4510405"/>
            <a:ext cx="10003790" cy="1734820"/>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p>
        </p:txBody>
      </p:sp>
      <p:sp>
        <p:nvSpPr>
          <p:cNvPr id="14" name="文本框 13"/>
          <p:cNvSpPr txBox="1"/>
          <p:nvPr/>
        </p:nvSpPr>
        <p:spPr>
          <a:xfrm>
            <a:off x="716448" y="1132052"/>
            <a:ext cx="3362787" cy="417830"/>
          </a:xfrm>
          <a:prstGeom prst="rect">
            <a:avLst/>
          </a:prstGeom>
          <a:noFill/>
        </p:spPr>
        <p:txBody>
          <a:bodyPr vert="horz" wrap="square" rtlCol="0">
            <a:spAutoFit/>
          </a:bodyPr>
          <a:lstStyle/>
          <a:p>
            <a:pPr defTabSz="457200" fontAlgn="auto">
              <a:spcBef>
                <a:spcPts val="0"/>
              </a:spcBef>
              <a:spcAft>
                <a:spcPts val="0"/>
              </a:spcAft>
              <a:defRPr/>
            </a:pPr>
            <a:r>
              <a:rPr lang="zh-CN" altLang="en-US" sz="2000" b="1" dirty="0">
                <a:solidFill>
                  <a:srgbClr val="7F7F7F"/>
                </a:solidFill>
                <a:latin typeface="微软雅黑" panose="020B0503020204020204" charset="-122"/>
                <a:sym typeface="+mn-ea"/>
              </a:rPr>
              <a:t>转让前准备工作</a:t>
            </a:r>
            <a:endParaRPr lang="zh-CN" altLang="en-US" sz="2000" b="1" dirty="0">
              <a:solidFill>
                <a:srgbClr val="7F7F7F"/>
              </a:solidFill>
              <a:latin typeface="微软雅黑" panose="020B0503020204020204" charset="-122"/>
              <a:sym typeface="+mn-ea"/>
            </a:endParaRPr>
          </a:p>
        </p:txBody>
      </p:sp>
      <p:grpSp>
        <p:nvGrpSpPr>
          <p:cNvPr id="15" name="组合 14"/>
          <p:cNvGrpSpPr/>
          <p:nvPr/>
        </p:nvGrpSpPr>
        <p:grpSpPr>
          <a:xfrm>
            <a:off x="436564" y="1195446"/>
            <a:ext cx="279885" cy="297452"/>
            <a:chOff x="235425" y="990578"/>
            <a:chExt cx="279885" cy="297452"/>
          </a:xfrm>
        </p:grpSpPr>
        <p:sp>
          <p:nvSpPr>
            <p:cNvPr id="16" name="矩形 15"/>
            <p:cNvSpPr/>
            <p:nvPr/>
          </p:nvSpPr>
          <p:spPr>
            <a:xfrm>
              <a:off x="235425" y="990578"/>
              <a:ext cx="72550" cy="297452"/>
            </a:xfrm>
            <a:prstGeom prst="rect">
              <a:avLst/>
            </a:prstGeom>
            <a:solidFill>
              <a:srgbClr val="C8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sp>
          <p:nvSpPr>
            <p:cNvPr id="17" name="矩形 16"/>
            <p:cNvSpPr/>
            <p:nvPr/>
          </p:nvSpPr>
          <p:spPr>
            <a:xfrm>
              <a:off x="327025" y="990578"/>
              <a:ext cx="188285" cy="297452"/>
            </a:xfrm>
            <a:prstGeom prst="rect">
              <a:avLst/>
            </a:prstGeom>
            <a:solidFill>
              <a:srgbClr val="3468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grpSp>
      <p:sp>
        <p:nvSpPr>
          <p:cNvPr id="2" name="灯片编号占位符 1"/>
          <p:cNvSpPr>
            <a:spLocks noGrp="1"/>
          </p:cNvSpPr>
          <p:nvPr>
            <p:ph type="sldNum" sz="quarter" idx="4"/>
          </p:nvPr>
        </p:nvSpPr>
        <p:spPr>
          <a:xfrm>
            <a:off x="8737600" y="6245225"/>
            <a:ext cx="2844800" cy="476250"/>
          </a:xfr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EAB507-6BF6-44B7-B0AA-FEDA2A5C4BA7}"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微软雅黑" panose="020B0503020204020204"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charset="-122"/>
              <a:cs typeface="+mn-cs"/>
            </a:endParaRPr>
          </a:p>
        </p:txBody>
      </p:sp>
      <p:sp>
        <p:nvSpPr>
          <p:cNvPr id="62" name="Line 29"/>
          <p:cNvSpPr>
            <a:spLocks noChangeShapeType="1"/>
          </p:cNvSpPr>
          <p:nvPr/>
        </p:nvSpPr>
        <p:spPr bwMode="auto">
          <a:xfrm>
            <a:off x="1011555" y="3570605"/>
            <a:ext cx="10027920" cy="635"/>
          </a:xfrm>
          <a:prstGeom prst="line">
            <a:avLst/>
          </a:prstGeom>
          <a:noFill/>
          <a:ln w="28575">
            <a:solidFill>
              <a:schemeClr val="tx1">
                <a:lumMod val="75000"/>
                <a:lumOff val="25000"/>
              </a:schemeClr>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grpSp>
        <p:nvGrpSpPr>
          <p:cNvPr id="31" name="组合 30"/>
          <p:cNvGrpSpPr/>
          <p:nvPr/>
        </p:nvGrpSpPr>
        <p:grpSpPr>
          <a:xfrm>
            <a:off x="3895090" y="1907540"/>
            <a:ext cx="1826895" cy="2256155"/>
            <a:chOff x="2416" y="4488"/>
            <a:chExt cx="2877" cy="3553"/>
          </a:xfrm>
        </p:grpSpPr>
        <p:sp>
          <p:nvSpPr>
            <p:cNvPr id="65" name="Oval 30"/>
            <p:cNvSpPr>
              <a:spLocks noChangeArrowheads="1"/>
            </p:cNvSpPr>
            <p:nvPr/>
          </p:nvSpPr>
          <p:spPr bwMode="auto">
            <a:xfrm>
              <a:off x="3724" y="6957"/>
              <a:ext cx="323" cy="302"/>
            </a:xfrm>
            <a:prstGeom prst="ellipse">
              <a:avLst/>
            </a:prstGeom>
            <a:solidFill>
              <a:srgbClr val="2361AE"/>
            </a:solidFill>
            <a:ln w="12700">
              <a:solidFill>
                <a:srgbClr val="FFFFFF"/>
              </a:solidFill>
              <a:round/>
            </a:ln>
          </p:spPr>
          <p:txBody>
            <a:bodyPr/>
            <a:lstStyle/>
            <a:p>
              <a:endParaRPr lang="zh-CN" altLang="en-US" sz="2800"/>
            </a:p>
          </p:txBody>
        </p:sp>
        <p:grpSp>
          <p:nvGrpSpPr>
            <p:cNvPr id="82" name="组合 81"/>
            <p:cNvGrpSpPr/>
            <p:nvPr/>
          </p:nvGrpSpPr>
          <p:grpSpPr>
            <a:xfrm>
              <a:off x="3329" y="4488"/>
              <a:ext cx="1123" cy="1061"/>
              <a:chOff x="4622800" y="2214802"/>
              <a:chExt cx="651933" cy="658283"/>
            </a:xfrm>
          </p:grpSpPr>
          <p:sp>
            <p:nvSpPr>
              <p:cNvPr id="83" name="Oval 31"/>
              <p:cNvSpPr>
                <a:spLocks noChangeArrowheads="1"/>
              </p:cNvSpPr>
              <p:nvPr/>
            </p:nvSpPr>
            <p:spPr bwMode="auto">
              <a:xfrm>
                <a:off x="4622800" y="2214802"/>
                <a:ext cx="651933" cy="658283"/>
              </a:xfrm>
              <a:prstGeom prst="ellipse">
                <a:avLst/>
              </a:prstGeom>
              <a:solidFill>
                <a:srgbClr val="2361AE"/>
              </a:solidFill>
              <a:ln>
                <a:noFill/>
              </a:ln>
            </p:spPr>
            <p:txBody>
              <a:bodyPr/>
              <a:lstStyle/>
              <a:p>
                <a:endParaRPr lang="zh-CN" altLang="en-US" sz="2800" dirty="0"/>
              </a:p>
            </p:txBody>
          </p:sp>
          <p:sp>
            <p:nvSpPr>
              <p:cNvPr id="84" name="Freeform 49"/>
              <p:cNvSpPr>
                <a:spLocks noEditPoints="1"/>
              </p:cNvSpPr>
              <p:nvPr/>
            </p:nvSpPr>
            <p:spPr bwMode="auto">
              <a:xfrm>
                <a:off x="4758267" y="2367203"/>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85" name="Rectangle 53"/>
            <p:cNvSpPr>
              <a:spLocks noChangeArrowheads="1"/>
            </p:cNvSpPr>
            <p:nvPr/>
          </p:nvSpPr>
          <p:spPr bwMode="auto">
            <a:xfrm>
              <a:off x="2978" y="5753"/>
              <a:ext cx="181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2000" b="1" dirty="0">
                  <a:solidFill>
                    <a:srgbClr val="2361AE"/>
                  </a:solidFill>
                  <a:latin typeface="微软雅黑" panose="020B0503020204020204" charset="-122"/>
                  <a:sym typeface="Calibri" panose="020F0502020204030204" charset="0"/>
                </a:rPr>
                <a:t>挂牌公告</a:t>
              </a:r>
              <a:endParaRPr lang="zh-CN" altLang="en-US" sz="2000" b="1" dirty="0">
                <a:solidFill>
                  <a:srgbClr val="2361AE"/>
                </a:solidFill>
                <a:latin typeface="微软雅黑" panose="020B0503020204020204" charset="-122"/>
                <a:sym typeface="Calibri" panose="020F0502020204030204" charset="0"/>
              </a:endParaRPr>
            </a:p>
          </p:txBody>
        </p:sp>
        <p:sp>
          <p:nvSpPr>
            <p:cNvPr id="90" name="Rectangle 56"/>
            <p:cNvSpPr>
              <a:spLocks noChangeArrowheads="1"/>
            </p:cNvSpPr>
            <p:nvPr/>
          </p:nvSpPr>
          <p:spPr bwMode="auto">
            <a:xfrm>
              <a:off x="2416" y="7465"/>
              <a:ext cx="287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solidFill>
                    <a:srgbClr val="2361AE"/>
                  </a:solidFill>
                  <a:latin typeface="微软雅黑" panose="020B0503020204020204" charset="-122"/>
                </a:rPr>
                <a:t>T-10</a:t>
              </a:r>
              <a:r>
                <a:rPr lang="zh-CN" altLang="en-US" sz="2000" b="1" dirty="0">
                  <a:solidFill>
                    <a:srgbClr val="2361AE"/>
                  </a:solidFill>
                  <a:latin typeface="微软雅黑" panose="020B0503020204020204" charset="-122"/>
                </a:rPr>
                <a:t>工作日前</a:t>
              </a:r>
              <a:endParaRPr lang="zh-CN" altLang="en-US" sz="2000" b="1" dirty="0">
                <a:solidFill>
                  <a:srgbClr val="2361AE"/>
                </a:solidFill>
                <a:latin typeface="微软雅黑" panose="020B0503020204020204" charset="-122"/>
              </a:endParaRPr>
            </a:p>
          </p:txBody>
        </p:sp>
      </p:grpSp>
      <p:grpSp>
        <p:nvGrpSpPr>
          <p:cNvPr id="29" name="组合 28"/>
          <p:cNvGrpSpPr/>
          <p:nvPr/>
        </p:nvGrpSpPr>
        <p:grpSpPr>
          <a:xfrm>
            <a:off x="8188325" y="1907540"/>
            <a:ext cx="1536065" cy="2256155"/>
            <a:chOff x="7079" y="4488"/>
            <a:chExt cx="2419" cy="3553"/>
          </a:xfrm>
        </p:grpSpPr>
        <p:sp>
          <p:nvSpPr>
            <p:cNvPr id="98" name="Oval 32"/>
            <p:cNvSpPr>
              <a:spLocks noChangeArrowheads="1"/>
            </p:cNvSpPr>
            <p:nvPr/>
          </p:nvSpPr>
          <p:spPr bwMode="auto">
            <a:xfrm>
              <a:off x="8118" y="6957"/>
              <a:ext cx="323" cy="302"/>
            </a:xfrm>
            <a:prstGeom prst="ellipse">
              <a:avLst/>
            </a:prstGeom>
            <a:solidFill>
              <a:srgbClr val="D8A940"/>
            </a:solidFill>
            <a:ln w="12700">
              <a:solidFill>
                <a:srgbClr val="FFFFFF"/>
              </a:solidFill>
              <a:round/>
            </a:ln>
          </p:spPr>
          <p:txBody>
            <a:bodyPr/>
            <a:lstStyle/>
            <a:p>
              <a:endParaRPr lang="zh-CN" altLang="en-US" sz="2800">
                <a:solidFill>
                  <a:schemeClr val="accent3"/>
                </a:solidFill>
              </a:endParaRPr>
            </a:p>
          </p:txBody>
        </p:sp>
        <p:grpSp>
          <p:nvGrpSpPr>
            <p:cNvPr id="95" name="组合 94"/>
            <p:cNvGrpSpPr/>
            <p:nvPr/>
          </p:nvGrpSpPr>
          <p:grpSpPr>
            <a:xfrm>
              <a:off x="7723" y="4488"/>
              <a:ext cx="1123" cy="1060"/>
              <a:chOff x="4622800" y="2280709"/>
              <a:chExt cx="651933" cy="658283"/>
            </a:xfrm>
          </p:grpSpPr>
          <p:sp>
            <p:nvSpPr>
              <p:cNvPr id="96" name="Oval 31"/>
              <p:cNvSpPr>
                <a:spLocks noChangeArrowheads="1"/>
              </p:cNvSpPr>
              <p:nvPr/>
            </p:nvSpPr>
            <p:spPr bwMode="auto">
              <a:xfrm>
                <a:off x="4622800" y="2280709"/>
                <a:ext cx="651933" cy="658283"/>
              </a:xfrm>
              <a:prstGeom prst="ellipse">
                <a:avLst/>
              </a:prstGeom>
              <a:solidFill>
                <a:srgbClr val="D8A940"/>
              </a:solidFill>
              <a:ln>
                <a:noFill/>
              </a:ln>
            </p:spPr>
            <p:txBody>
              <a:bodyPr/>
              <a:lstStyle/>
              <a:p>
                <a:endParaRPr lang="zh-CN" altLang="en-US" sz="2800" dirty="0"/>
              </a:p>
            </p:txBody>
          </p:sp>
          <p:sp>
            <p:nvSpPr>
              <p:cNvPr id="97" name="Freeform 49"/>
              <p:cNvSpPr>
                <a:spLocks noEditPoints="1"/>
              </p:cNvSpPr>
              <p:nvPr/>
            </p:nvSpPr>
            <p:spPr bwMode="auto">
              <a:xfrm>
                <a:off x="4758267" y="2433110"/>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99" name="Rectangle 53"/>
            <p:cNvSpPr>
              <a:spLocks noChangeArrowheads="1"/>
            </p:cNvSpPr>
            <p:nvPr/>
          </p:nvSpPr>
          <p:spPr bwMode="auto">
            <a:xfrm>
              <a:off x="7204" y="5753"/>
              <a:ext cx="2151"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D8A940"/>
                  </a:solidFill>
                  <a:latin typeface="微软雅黑" panose="020B0503020204020204" charset="-122"/>
                </a:rPr>
                <a:t>合格意向</a:t>
              </a:r>
              <a:endParaRPr lang="zh-CN" altLang="en-US" sz="2000" b="1" dirty="0">
                <a:solidFill>
                  <a:srgbClr val="D8A940"/>
                </a:solidFill>
                <a:latin typeface="微软雅黑" panose="020B0503020204020204" charset="-122"/>
              </a:endParaRPr>
            </a:p>
            <a:p>
              <a:pPr algn="ctr">
                <a:lnSpc>
                  <a:spcPct val="120000"/>
                </a:lnSpc>
                <a:buFont typeface="Arial" panose="020B0604020202020204" pitchFamily="34" charset="0"/>
                <a:buNone/>
              </a:pPr>
              <a:r>
                <a:rPr lang="zh-CN" altLang="en-US" sz="2000" b="1" dirty="0">
                  <a:solidFill>
                    <a:srgbClr val="D8A940"/>
                  </a:solidFill>
                  <a:latin typeface="微软雅黑" panose="020B0503020204020204" charset="-122"/>
                </a:rPr>
                <a:t>受让方确认</a:t>
              </a:r>
              <a:endParaRPr lang="zh-CN" altLang="en-US" sz="2000" b="1" dirty="0">
                <a:solidFill>
                  <a:srgbClr val="D8A940"/>
                </a:solidFill>
                <a:latin typeface="微软雅黑" panose="020B0503020204020204" charset="-122"/>
              </a:endParaRPr>
            </a:p>
          </p:txBody>
        </p:sp>
        <p:sp>
          <p:nvSpPr>
            <p:cNvPr id="100" name="Rectangle 56"/>
            <p:cNvSpPr>
              <a:spLocks noChangeArrowheads="1"/>
            </p:cNvSpPr>
            <p:nvPr/>
          </p:nvSpPr>
          <p:spPr bwMode="auto">
            <a:xfrm>
              <a:off x="7079" y="7465"/>
              <a:ext cx="241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solidFill>
                    <a:srgbClr val="D8A940"/>
                  </a:solidFill>
                  <a:latin typeface="微软雅黑" panose="020B0503020204020204" charset="-122"/>
                </a:rPr>
                <a:t>T-1</a:t>
              </a:r>
              <a:r>
                <a:rPr lang="zh-CN" altLang="en-US" sz="2000" b="1" dirty="0">
                  <a:solidFill>
                    <a:srgbClr val="D8A940"/>
                  </a:solidFill>
                  <a:latin typeface="微软雅黑" panose="020B0503020204020204" charset="-122"/>
                </a:rPr>
                <a:t>工作</a:t>
              </a:r>
              <a:r>
                <a:rPr lang="zh-CN" altLang="en-US" sz="2000" b="1" dirty="0">
                  <a:solidFill>
                    <a:srgbClr val="D8A940"/>
                  </a:solidFill>
                  <a:latin typeface="微软雅黑" panose="020B0503020204020204" charset="-122"/>
                  <a:sym typeface="+mn-ea"/>
                </a:rPr>
                <a:t>日前</a:t>
              </a:r>
              <a:endParaRPr lang="zh-CN" altLang="en-US" sz="2000" b="1" dirty="0">
                <a:solidFill>
                  <a:srgbClr val="D8A940"/>
                </a:solidFill>
                <a:latin typeface="微软雅黑" panose="020B0503020204020204" charset="-122"/>
                <a:sym typeface="+mn-ea"/>
              </a:endParaRPr>
            </a:p>
          </p:txBody>
        </p:sp>
      </p:grpSp>
      <p:grpSp>
        <p:nvGrpSpPr>
          <p:cNvPr id="28" name="组合 27"/>
          <p:cNvGrpSpPr/>
          <p:nvPr/>
        </p:nvGrpSpPr>
        <p:grpSpPr>
          <a:xfrm>
            <a:off x="9928860" y="1907540"/>
            <a:ext cx="1806575" cy="2256155"/>
            <a:chOff x="9168" y="4488"/>
            <a:chExt cx="2845" cy="3553"/>
          </a:xfrm>
        </p:grpSpPr>
        <p:sp>
          <p:nvSpPr>
            <p:cNvPr id="101" name="Oval 32"/>
            <p:cNvSpPr>
              <a:spLocks noChangeArrowheads="1"/>
            </p:cNvSpPr>
            <p:nvPr/>
          </p:nvSpPr>
          <p:spPr bwMode="auto">
            <a:xfrm>
              <a:off x="10631"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sp>
          <p:nvSpPr>
            <p:cNvPr id="103" name="Rectangle 56"/>
            <p:cNvSpPr>
              <a:spLocks noChangeArrowheads="1"/>
            </p:cNvSpPr>
            <p:nvPr/>
          </p:nvSpPr>
          <p:spPr bwMode="auto">
            <a:xfrm>
              <a:off x="9168" y="7465"/>
              <a:ext cx="284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latin typeface="微软雅黑" panose="020B0503020204020204" charset="-122"/>
                </a:rPr>
                <a:t>T-1</a:t>
              </a:r>
              <a:r>
                <a:rPr lang="zh-CN" altLang="en-US" sz="2000" b="1" dirty="0">
                  <a:latin typeface="微软雅黑" panose="020B0503020204020204" charset="-122"/>
                </a:rPr>
                <a:t>工作</a:t>
              </a:r>
              <a:r>
                <a:rPr lang="zh-CN" altLang="en-US" sz="2000" b="1" dirty="0">
                  <a:latin typeface="微软雅黑" panose="020B0503020204020204" charset="-122"/>
                  <a:sym typeface="+mn-ea"/>
                </a:rPr>
                <a:t>日前</a:t>
              </a:r>
              <a:endParaRPr lang="zh-CN" altLang="en-US" sz="2000" b="1" dirty="0">
                <a:latin typeface="微软雅黑" panose="020B0503020204020204" charset="-122"/>
                <a:sym typeface="+mn-ea"/>
              </a:endParaRPr>
            </a:p>
          </p:txBody>
        </p:sp>
        <p:sp>
          <p:nvSpPr>
            <p:cNvPr id="102" name="Rectangle 53"/>
            <p:cNvSpPr>
              <a:spLocks noChangeArrowheads="1"/>
            </p:cNvSpPr>
            <p:nvPr/>
          </p:nvSpPr>
          <p:spPr bwMode="auto">
            <a:xfrm>
              <a:off x="9787" y="5753"/>
              <a:ext cx="208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设置保留价</a:t>
              </a:r>
              <a:endParaRPr lang="zh-CN" altLang="en-US" sz="2000" b="1" dirty="0">
                <a:solidFill>
                  <a:srgbClr val="2361AE"/>
                </a:solidFill>
                <a:latin typeface="微软雅黑" panose="020B0503020204020204" charset="-122"/>
              </a:endParaRPr>
            </a:p>
          </p:txBody>
        </p:sp>
        <p:grpSp>
          <p:nvGrpSpPr>
            <p:cNvPr id="12" name="组合 11"/>
            <p:cNvGrpSpPr/>
            <p:nvPr/>
          </p:nvGrpSpPr>
          <p:grpSpPr>
            <a:xfrm>
              <a:off x="10233" y="4488"/>
              <a:ext cx="1130" cy="1059"/>
              <a:chOff x="9031" y="4796"/>
              <a:chExt cx="894" cy="838"/>
            </a:xfrm>
          </p:grpSpPr>
          <p:sp>
            <p:nvSpPr>
              <p:cNvPr id="114" name="Oval 33"/>
              <p:cNvSpPr>
                <a:spLocks noChangeArrowheads="1"/>
              </p:cNvSpPr>
              <p:nvPr/>
            </p:nvSpPr>
            <p:spPr bwMode="auto">
              <a:xfrm>
                <a:off x="9031" y="4796"/>
                <a:ext cx="894" cy="838"/>
              </a:xfrm>
              <a:prstGeom prst="ellipse">
                <a:avLst/>
              </a:prstGeom>
              <a:solidFill>
                <a:srgbClr val="2361AE"/>
              </a:solidFill>
              <a:ln>
                <a:noFill/>
              </a:ln>
            </p:spPr>
            <p:txBody>
              <a:bodyPr/>
              <a:lstStyle/>
              <a:p>
                <a:endParaRPr lang="zh-CN" altLang="en-US" sz="2800" dirty="0"/>
              </a:p>
            </p:txBody>
          </p:sp>
          <p:sp>
            <p:nvSpPr>
              <p:cNvPr id="115" name="Freeform 17"/>
              <p:cNvSpPr>
                <a:spLocks noEditPoints="1"/>
              </p:cNvSpPr>
              <p:nvPr/>
            </p:nvSpPr>
            <p:spPr bwMode="auto">
              <a:xfrm>
                <a:off x="9262" y="5016"/>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dirty="0"/>
              </a:p>
            </p:txBody>
          </p:sp>
        </p:grpSp>
      </p:grpSp>
      <p:grpSp>
        <p:nvGrpSpPr>
          <p:cNvPr id="30" name="组合 29"/>
          <p:cNvGrpSpPr/>
          <p:nvPr/>
        </p:nvGrpSpPr>
        <p:grpSpPr>
          <a:xfrm>
            <a:off x="6048375" y="1907540"/>
            <a:ext cx="1745615" cy="2256155"/>
            <a:chOff x="4660" y="4488"/>
            <a:chExt cx="2749" cy="3553"/>
          </a:xfrm>
        </p:grpSpPr>
        <p:sp>
          <p:nvSpPr>
            <p:cNvPr id="125" name="Oval 32"/>
            <p:cNvSpPr>
              <a:spLocks noChangeArrowheads="1"/>
            </p:cNvSpPr>
            <p:nvPr/>
          </p:nvSpPr>
          <p:spPr bwMode="auto">
            <a:xfrm>
              <a:off x="5878"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sp>
          <p:nvSpPr>
            <p:cNvPr id="129" name="Rectangle 56"/>
            <p:cNvSpPr>
              <a:spLocks noChangeArrowheads="1"/>
            </p:cNvSpPr>
            <p:nvPr/>
          </p:nvSpPr>
          <p:spPr bwMode="auto">
            <a:xfrm>
              <a:off x="4660" y="7465"/>
              <a:ext cx="274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sz="2000" b="1" dirty="0">
                  <a:solidFill>
                    <a:srgbClr val="2361AE"/>
                  </a:solidFill>
                  <a:latin typeface="微软雅黑" panose="020B0503020204020204" charset="-122"/>
                </a:rPr>
                <a:t>T-2</a:t>
              </a:r>
              <a:r>
                <a:rPr lang="zh-CN" altLang="en-US" sz="2000" b="1" dirty="0">
                  <a:solidFill>
                    <a:srgbClr val="2361AE"/>
                  </a:solidFill>
                  <a:latin typeface="微软雅黑" panose="020B0503020204020204" charset="-122"/>
                </a:rPr>
                <a:t>工作</a:t>
              </a:r>
              <a:r>
                <a:rPr lang="zh-CN" altLang="en-US" sz="2000" b="1" dirty="0">
                  <a:solidFill>
                    <a:srgbClr val="2361AE"/>
                  </a:solidFill>
                  <a:latin typeface="微软雅黑" panose="020B0503020204020204" charset="-122"/>
                  <a:sym typeface="+mn-ea"/>
                </a:rPr>
                <a:t>日前</a:t>
              </a:r>
              <a:endParaRPr lang="zh-CN" altLang="en-US" sz="2000" b="1" dirty="0">
                <a:solidFill>
                  <a:srgbClr val="2361AE"/>
                </a:solidFill>
                <a:latin typeface="微软雅黑" panose="020B0503020204020204" charset="-122"/>
                <a:sym typeface="+mn-ea"/>
              </a:endParaRPr>
            </a:p>
          </p:txBody>
        </p:sp>
        <p:sp>
          <p:nvSpPr>
            <p:cNvPr id="128" name="Rectangle 55"/>
            <p:cNvSpPr>
              <a:spLocks noChangeArrowheads="1"/>
            </p:cNvSpPr>
            <p:nvPr/>
          </p:nvSpPr>
          <p:spPr bwMode="auto">
            <a:xfrm>
              <a:off x="4980" y="5753"/>
              <a:ext cx="2090"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意向受让方申请</a:t>
              </a:r>
              <a:endParaRPr lang="zh-CN" altLang="en-US" sz="2000" b="1" dirty="0">
                <a:solidFill>
                  <a:srgbClr val="2361AE"/>
                </a:solidFill>
                <a:latin typeface="微软雅黑" panose="020B0503020204020204" charset="-122"/>
              </a:endParaRPr>
            </a:p>
          </p:txBody>
        </p:sp>
        <p:grpSp>
          <p:nvGrpSpPr>
            <p:cNvPr id="11" name="组合 10"/>
            <p:cNvGrpSpPr/>
            <p:nvPr/>
          </p:nvGrpSpPr>
          <p:grpSpPr>
            <a:xfrm>
              <a:off x="5480" y="4488"/>
              <a:ext cx="1130" cy="1059"/>
              <a:chOff x="4823" y="4801"/>
              <a:chExt cx="894" cy="838"/>
            </a:xfrm>
          </p:grpSpPr>
          <p:sp>
            <p:nvSpPr>
              <p:cNvPr id="127" name="Oval 33"/>
              <p:cNvSpPr>
                <a:spLocks noChangeArrowheads="1"/>
              </p:cNvSpPr>
              <p:nvPr/>
            </p:nvSpPr>
            <p:spPr bwMode="auto">
              <a:xfrm>
                <a:off x="4823" y="4801"/>
                <a:ext cx="894" cy="838"/>
              </a:xfrm>
              <a:prstGeom prst="ellipse">
                <a:avLst/>
              </a:prstGeom>
              <a:solidFill>
                <a:srgbClr val="2361AE"/>
              </a:solidFill>
              <a:ln>
                <a:noFill/>
              </a:ln>
            </p:spPr>
            <p:txBody>
              <a:bodyPr/>
              <a:lstStyle/>
              <a:p>
                <a:endParaRPr lang="zh-CN" altLang="en-US" sz="2000" dirty="0"/>
              </a:p>
            </p:txBody>
          </p:sp>
          <p:sp>
            <p:nvSpPr>
              <p:cNvPr id="130" name="Shape 2533"/>
              <p:cNvSpPr>
                <a:spLocks noChangeAspect="1"/>
              </p:cNvSpPr>
              <p:nvPr/>
            </p:nvSpPr>
            <p:spPr>
              <a:xfrm>
                <a:off x="5084" y="4980"/>
                <a:ext cx="447" cy="490"/>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chemeClr val="bg1"/>
              </a:solidFill>
              <a:ln w="12700">
                <a:miter lim="400000"/>
              </a:ln>
            </p:spPr>
            <p:txBody>
              <a:bodyPr lIns="38091" tIns="38091" rIns="38091" bIns="38091" anchor="ctr"/>
              <a:lstStyle/>
              <a:p>
                <a:pPr defTabSz="4565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000" dirty="0">
                  <a:latin typeface="微软雅黑" panose="020B0503020204020204" charset="-122"/>
                  <a:cs typeface="Source Sans Pro Regular" charset="0"/>
                </a:endParaRPr>
              </a:p>
            </p:txBody>
          </p:sp>
        </p:grpSp>
      </p:grpSp>
      <p:grpSp>
        <p:nvGrpSpPr>
          <p:cNvPr id="33" name="组合 32"/>
          <p:cNvGrpSpPr/>
          <p:nvPr/>
        </p:nvGrpSpPr>
        <p:grpSpPr>
          <a:xfrm>
            <a:off x="2336165" y="1910080"/>
            <a:ext cx="1068070" cy="1759585"/>
            <a:chOff x="912" y="4488"/>
            <a:chExt cx="1682" cy="2771"/>
          </a:xfrm>
        </p:grpSpPr>
        <p:sp>
          <p:nvSpPr>
            <p:cNvPr id="34" name="Rectangle 55"/>
            <p:cNvSpPr>
              <a:spLocks noChangeArrowheads="1"/>
            </p:cNvSpPr>
            <p:nvPr/>
          </p:nvSpPr>
          <p:spPr bwMode="auto">
            <a:xfrm>
              <a:off x="912" y="5753"/>
              <a:ext cx="1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资产登记</a:t>
              </a:r>
              <a:endParaRPr lang="zh-CN" altLang="en-US" sz="2000" b="1" dirty="0">
                <a:solidFill>
                  <a:srgbClr val="2361AE"/>
                </a:solidFill>
                <a:latin typeface="微软雅黑" panose="020B0503020204020204" charset="-122"/>
              </a:endParaRPr>
            </a:p>
          </p:txBody>
        </p:sp>
        <p:grpSp>
          <p:nvGrpSpPr>
            <p:cNvPr id="35" name="组合 34"/>
            <p:cNvGrpSpPr/>
            <p:nvPr/>
          </p:nvGrpSpPr>
          <p:grpSpPr>
            <a:xfrm>
              <a:off x="1194" y="4488"/>
              <a:ext cx="1130" cy="1060"/>
              <a:chOff x="1230" y="4717"/>
              <a:chExt cx="894" cy="839"/>
            </a:xfrm>
          </p:grpSpPr>
          <p:sp>
            <p:nvSpPr>
              <p:cNvPr id="36" name="Oval 33"/>
              <p:cNvSpPr>
                <a:spLocks noChangeArrowheads="1"/>
              </p:cNvSpPr>
              <p:nvPr/>
            </p:nvSpPr>
            <p:spPr bwMode="auto">
              <a:xfrm>
                <a:off x="1230" y="4717"/>
                <a:ext cx="894" cy="839"/>
              </a:xfrm>
              <a:prstGeom prst="ellipse">
                <a:avLst/>
              </a:prstGeom>
              <a:solidFill>
                <a:srgbClr val="2361AE"/>
              </a:solidFill>
              <a:ln>
                <a:noFill/>
              </a:ln>
            </p:spPr>
            <p:txBody>
              <a:bodyPr/>
              <a:lstStyle/>
              <a:p>
                <a:endParaRPr lang="zh-CN" altLang="en-US" sz="2800" dirty="0"/>
              </a:p>
            </p:txBody>
          </p:sp>
          <p:sp>
            <p:nvSpPr>
              <p:cNvPr id="37" name="Freeform 17"/>
              <p:cNvSpPr>
                <a:spLocks noEditPoints="1"/>
              </p:cNvSpPr>
              <p:nvPr/>
            </p:nvSpPr>
            <p:spPr bwMode="auto">
              <a:xfrm>
                <a:off x="1433" y="4937"/>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dirty="0"/>
              </a:p>
            </p:txBody>
          </p:sp>
        </p:grpSp>
        <p:sp>
          <p:nvSpPr>
            <p:cNvPr id="38" name="Oval 30"/>
            <p:cNvSpPr>
              <a:spLocks noChangeArrowheads="1"/>
            </p:cNvSpPr>
            <p:nvPr/>
          </p:nvSpPr>
          <p:spPr bwMode="auto">
            <a:xfrm>
              <a:off x="1507" y="6957"/>
              <a:ext cx="323" cy="302"/>
            </a:xfrm>
            <a:prstGeom prst="ellipse">
              <a:avLst/>
            </a:prstGeom>
            <a:solidFill>
              <a:srgbClr val="2361AE"/>
            </a:solidFill>
            <a:ln w="12700">
              <a:solidFill>
                <a:srgbClr val="FFFFFF"/>
              </a:solidFill>
              <a:round/>
            </a:ln>
          </p:spPr>
          <p:txBody>
            <a:bodyPr/>
            <a:lstStyle/>
            <a:p>
              <a:endParaRPr lang="zh-CN" altLang="en-US" sz="2800"/>
            </a:p>
          </p:txBody>
        </p:sp>
      </p:grpSp>
      <p:grpSp>
        <p:nvGrpSpPr>
          <p:cNvPr id="40" name="组合 39"/>
          <p:cNvGrpSpPr/>
          <p:nvPr/>
        </p:nvGrpSpPr>
        <p:grpSpPr>
          <a:xfrm>
            <a:off x="579120" y="1907540"/>
            <a:ext cx="1068070" cy="1758950"/>
            <a:chOff x="912" y="4488"/>
            <a:chExt cx="1682" cy="2770"/>
          </a:xfrm>
        </p:grpSpPr>
        <p:grpSp>
          <p:nvGrpSpPr>
            <p:cNvPr id="32" name="组合 31"/>
            <p:cNvGrpSpPr/>
            <p:nvPr/>
          </p:nvGrpSpPr>
          <p:grpSpPr>
            <a:xfrm>
              <a:off x="912" y="4488"/>
              <a:ext cx="1682" cy="2771"/>
              <a:chOff x="912" y="4488"/>
              <a:chExt cx="1682" cy="2771"/>
            </a:xfrm>
          </p:grpSpPr>
          <p:sp>
            <p:nvSpPr>
              <p:cNvPr id="112" name="Rectangle 55"/>
              <p:cNvSpPr>
                <a:spLocks noChangeArrowheads="1"/>
              </p:cNvSpPr>
              <p:nvPr/>
            </p:nvSpPr>
            <p:spPr bwMode="auto">
              <a:xfrm>
                <a:off x="912" y="5753"/>
                <a:ext cx="1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账户开立</a:t>
                </a:r>
                <a:endParaRPr lang="zh-CN" altLang="en-US" sz="2000" b="1" dirty="0">
                  <a:solidFill>
                    <a:srgbClr val="2361AE"/>
                  </a:solidFill>
                  <a:latin typeface="微软雅黑" panose="020B0503020204020204" charset="-122"/>
                </a:endParaRPr>
              </a:p>
            </p:txBody>
          </p:sp>
          <p:sp>
            <p:nvSpPr>
              <p:cNvPr id="111" name="Oval 33"/>
              <p:cNvSpPr>
                <a:spLocks noChangeArrowheads="1"/>
              </p:cNvSpPr>
              <p:nvPr/>
            </p:nvSpPr>
            <p:spPr bwMode="auto">
              <a:xfrm>
                <a:off x="1194" y="4488"/>
                <a:ext cx="1130" cy="1060"/>
              </a:xfrm>
              <a:prstGeom prst="ellipse">
                <a:avLst/>
              </a:prstGeom>
              <a:solidFill>
                <a:srgbClr val="2361AE"/>
              </a:solidFill>
              <a:ln>
                <a:noFill/>
              </a:ln>
            </p:spPr>
            <p:txBody>
              <a:bodyPr/>
              <a:lstStyle/>
              <a:p>
                <a:endParaRPr lang="zh-CN" altLang="en-US" sz="2800" dirty="0"/>
              </a:p>
            </p:txBody>
          </p:sp>
          <p:sp>
            <p:nvSpPr>
              <p:cNvPr id="119" name="Oval 30"/>
              <p:cNvSpPr>
                <a:spLocks noChangeArrowheads="1"/>
              </p:cNvSpPr>
              <p:nvPr/>
            </p:nvSpPr>
            <p:spPr bwMode="auto">
              <a:xfrm>
                <a:off x="1507" y="6957"/>
                <a:ext cx="323" cy="302"/>
              </a:xfrm>
              <a:prstGeom prst="ellipse">
                <a:avLst/>
              </a:prstGeom>
              <a:solidFill>
                <a:srgbClr val="2361AE"/>
              </a:solidFill>
              <a:ln w="12700">
                <a:solidFill>
                  <a:srgbClr val="FFFFFF"/>
                </a:solidFill>
                <a:round/>
              </a:ln>
            </p:spPr>
            <p:txBody>
              <a:bodyPr/>
              <a:lstStyle/>
              <a:p>
                <a:endParaRPr lang="zh-CN" altLang="en-US" sz="2800"/>
              </a:p>
            </p:txBody>
          </p:sp>
        </p:grpSp>
        <p:sp>
          <p:nvSpPr>
            <p:cNvPr id="39" name="Freeform 49"/>
            <p:cNvSpPr>
              <a:spLocks noEditPoints="1"/>
            </p:cNvSpPr>
            <p:nvPr/>
          </p:nvSpPr>
          <p:spPr bwMode="auto">
            <a:xfrm>
              <a:off x="1433" y="4716"/>
              <a:ext cx="656" cy="508"/>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41" name="Rectangle 56"/>
          <p:cNvSpPr>
            <a:spLocks noChangeArrowheads="1"/>
          </p:cNvSpPr>
          <p:nvPr/>
        </p:nvSpPr>
        <p:spPr bwMode="auto">
          <a:xfrm>
            <a:off x="1351915" y="4760595"/>
            <a:ext cx="9464040" cy="1234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42900" indent="-342900" algn="l" eaLnBrk="1" latinLnBrk="0" hangingPunct="1">
              <a:lnSpc>
                <a:spcPct val="150000"/>
              </a:lnSpc>
              <a:buFont typeface="Arial" panose="020B0604020202020204" pitchFamily="34" charset="0"/>
              <a:buChar char="•"/>
            </a:pPr>
            <a:r>
              <a:rPr sz="1800" b="1" dirty="0">
                <a:solidFill>
                  <a:schemeClr val="bg1">
                    <a:lumMod val="50000"/>
                  </a:schemeClr>
                </a:solidFill>
                <a:latin typeface="微软雅黑" panose="020B0503020204020204" charset="-122"/>
                <a:sym typeface="+mn-ea"/>
              </a:rPr>
              <a:t>出让方应至少于公开竞价前1个工作日完成</a:t>
            </a:r>
            <a:r>
              <a:rPr lang="zh-CN" sz="1800" b="1" dirty="0">
                <a:solidFill>
                  <a:schemeClr val="bg1">
                    <a:lumMod val="50000"/>
                  </a:schemeClr>
                </a:solidFill>
                <a:latin typeface="微软雅黑" panose="020B0503020204020204" charset="-122"/>
                <a:sym typeface="+mn-ea"/>
              </a:rPr>
              <a:t>全部合格意向</a:t>
            </a:r>
            <a:r>
              <a:rPr sz="1800" b="1" dirty="0">
                <a:solidFill>
                  <a:schemeClr val="bg1">
                    <a:lumMod val="50000"/>
                  </a:schemeClr>
                </a:solidFill>
                <a:latin typeface="微软雅黑" panose="020B0503020204020204" charset="-122"/>
                <a:sym typeface="+mn-ea"/>
              </a:rPr>
              <a:t>受让方确认</a:t>
            </a:r>
            <a:r>
              <a:rPr lang="zh-CN" sz="1800" b="1" dirty="0">
                <a:solidFill>
                  <a:schemeClr val="bg1">
                    <a:lumMod val="50000"/>
                  </a:schemeClr>
                </a:solidFill>
                <a:latin typeface="微软雅黑" panose="020B0503020204020204" charset="-122"/>
                <a:sym typeface="+mn-ea"/>
              </a:rPr>
              <a:t>。</a:t>
            </a:r>
            <a:endParaRPr lang="zh-CN" sz="1800" b="1" dirty="0">
              <a:solidFill>
                <a:schemeClr val="bg1">
                  <a:lumMod val="50000"/>
                </a:schemeClr>
              </a:solidFill>
              <a:latin typeface="微软雅黑" panose="020B0503020204020204" charset="-122"/>
              <a:sym typeface="+mn-ea"/>
            </a:endParaRPr>
          </a:p>
          <a:p>
            <a:pPr marL="342900" indent="-342900" algn="l" eaLnBrk="1" latinLnBrk="0" hangingPunct="1">
              <a:lnSpc>
                <a:spcPct val="150000"/>
              </a:lnSpc>
              <a:buFont typeface="Arial" panose="020B0604020202020204" pitchFamily="34" charset="0"/>
              <a:buChar char="•"/>
            </a:pPr>
            <a:r>
              <a:rPr lang="zh-CN" sz="1800" b="1" dirty="0">
                <a:solidFill>
                  <a:srgbClr val="C00000"/>
                </a:solidFill>
                <a:latin typeface="微软雅黑" panose="020B0503020204020204" charset="-122"/>
                <a:sym typeface="+mn-ea"/>
              </a:rPr>
              <a:t>优化亮点：①支持灵活确认合格意向受让方；</a:t>
            </a:r>
            <a:endParaRPr lang="zh-CN" sz="1800" b="1" dirty="0">
              <a:solidFill>
                <a:srgbClr val="C00000"/>
              </a:solidFill>
              <a:latin typeface="微软雅黑" panose="020B0503020204020204" charset="-122"/>
              <a:sym typeface="+mn-ea"/>
            </a:endParaRPr>
          </a:p>
          <a:p>
            <a:pPr marL="0" indent="0" algn="l" eaLnBrk="1" latinLnBrk="0" hangingPunct="1">
              <a:lnSpc>
                <a:spcPct val="150000"/>
              </a:lnSpc>
              <a:buFont typeface="Arial" panose="020B0604020202020204" pitchFamily="34" charset="0"/>
              <a:buNone/>
            </a:pPr>
            <a:r>
              <a:rPr lang="zh-CN" sz="1800" b="1" dirty="0">
                <a:solidFill>
                  <a:srgbClr val="C00000"/>
                </a:solidFill>
                <a:latin typeface="微软雅黑" panose="020B0503020204020204" charset="-122"/>
                <a:sym typeface="+mn-ea"/>
              </a:rPr>
              <a:t>                      ②意向受让方可修改报名材料再申请。</a:t>
            </a:r>
            <a:endParaRPr sz="1800" b="1" dirty="0">
              <a:solidFill>
                <a:schemeClr val="bg1">
                  <a:lumMod val="50000"/>
                </a:schemeClr>
              </a:solidFill>
              <a:latin typeface="微软雅黑" panose="020B0503020204020204" charset="-122"/>
              <a:sym typeface="+mn-ea"/>
            </a:endParaRPr>
          </a:p>
        </p:txBody>
      </p:sp>
    </p:spTree>
    <p:custDataLst>
      <p:tags r:id="rId1"/>
    </p:custData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圆角矩形 42"/>
          <p:cNvSpPr/>
          <p:nvPr/>
        </p:nvSpPr>
        <p:spPr>
          <a:xfrm>
            <a:off x="1011555" y="4510405"/>
            <a:ext cx="10003790" cy="1734820"/>
          </a:xfrm>
          <a:prstGeom prst="roundRect">
            <a:avLst>
              <a:gd name="adj" fmla="val 7400"/>
            </a:avLst>
          </a:prstGeom>
          <a:solidFill>
            <a:srgbClr val="FFFFFF"/>
          </a:solidFill>
          <a:ln w="12700" cap="rnd">
            <a:noFill/>
            <a:prstDash val="solid"/>
            <a:round/>
          </a:ln>
          <a:effectLst>
            <a:outerShdw blurRad="254000" dist="127000" algn="ctr" rotWithShape="0">
              <a:schemeClr val="bg1">
                <a:lumMod val="6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dirty="0"/>
          </a:p>
        </p:txBody>
      </p:sp>
      <p:sp>
        <p:nvSpPr>
          <p:cNvPr id="14" name="文本框 13"/>
          <p:cNvSpPr txBox="1"/>
          <p:nvPr/>
        </p:nvSpPr>
        <p:spPr>
          <a:xfrm>
            <a:off x="716448" y="1132052"/>
            <a:ext cx="3362787" cy="417830"/>
          </a:xfrm>
          <a:prstGeom prst="rect">
            <a:avLst/>
          </a:prstGeom>
          <a:noFill/>
        </p:spPr>
        <p:txBody>
          <a:bodyPr vert="horz" wrap="square" rtlCol="0">
            <a:spAutoFit/>
          </a:bodyPr>
          <a:lstStyle/>
          <a:p>
            <a:pPr defTabSz="457200" fontAlgn="auto">
              <a:spcBef>
                <a:spcPts val="0"/>
              </a:spcBef>
              <a:spcAft>
                <a:spcPts val="0"/>
              </a:spcAft>
              <a:defRPr/>
            </a:pPr>
            <a:r>
              <a:rPr lang="zh-CN" altLang="en-US" sz="2000" b="1" dirty="0">
                <a:solidFill>
                  <a:srgbClr val="7F7F7F"/>
                </a:solidFill>
                <a:latin typeface="微软雅黑" panose="020B0503020204020204" charset="-122"/>
                <a:sym typeface="+mn-ea"/>
              </a:rPr>
              <a:t>转让前准备工作</a:t>
            </a:r>
            <a:endParaRPr lang="zh-CN" altLang="en-US" sz="2000" b="1" dirty="0">
              <a:solidFill>
                <a:srgbClr val="7F7F7F"/>
              </a:solidFill>
              <a:latin typeface="微软雅黑" panose="020B0503020204020204" charset="-122"/>
              <a:sym typeface="+mn-ea"/>
            </a:endParaRPr>
          </a:p>
        </p:txBody>
      </p:sp>
      <p:grpSp>
        <p:nvGrpSpPr>
          <p:cNvPr id="15" name="组合 14"/>
          <p:cNvGrpSpPr/>
          <p:nvPr/>
        </p:nvGrpSpPr>
        <p:grpSpPr>
          <a:xfrm>
            <a:off x="436564" y="1195446"/>
            <a:ext cx="279885" cy="297452"/>
            <a:chOff x="235425" y="990578"/>
            <a:chExt cx="279885" cy="297452"/>
          </a:xfrm>
        </p:grpSpPr>
        <p:sp>
          <p:nvSpPr>
            <p:cNvPr id="16" name="矩形 15"/>
            <p:cNvSpPr/>
            <p:nvPr/>
          </p:nvSpPr>
          <p:spPr>
            <a:xfrm>
              <a:off x="235425" y="990578"/>
              <a:ext cx="72550" cy="297452"/>
            </a:xfrm>
            <a:prstGeom prst="rect">
              <a:avLst/>
            </a:prstGeom>
            <a:solidFill>
              <a:srgbClr val="C8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sp>
          <p:nvSpPr>
            <p:cNvPr id="17" name="矩形 16"/>
            <p:cNvSpPr/>
            <p:nvPr/>
          </p:nvSpPr>
          <p:spPr>
            <a:xfrm>
              <a:off x="327025" y="990578"/>
              <a:ext cx="188285" cy="297452"/>
            </a:xfrm>
            <a:prstGeom prst="rect">
              <a:avLst/>
            </a:prstGeom>
            <a:solidFill>
              <a:srgbClr val="3468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grpSp>
      <p:sp>
        <p:nvSpPr>
          <p:cNvPr id="2" name="灯片编号占位符 1"/>
          <p:cNvSpPr>
            <a:spLocks noGrp="1"/>
          </p:cNvSpPr>
          <p:nvPr>
            <p:ph type="sldNum" sz="quarter" idx="4"/>
          </p:nvPr>
        </p:nvSpPr>
        <p:spPr>
          <a:xfrm>
            <a:off x="8737600" y="6245225"/>
            <a:ext cx="2844800" cy="476250"/>
          </a:xfr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EAB507-6BF6-44B7-B0AA-FEDA2A5C4BA7}"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微软雅黑" panose="020B0503020204020204"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charset="-122"/>
              <a:cs typeface="+mn-cs"/>
            </a:endParaRPr>
          </a:p>
        </p:txBody>
      </p:sp>
      <p:sp>
        <p:nvSpPr>
          <p:cNvPr id="62" name="Line 29"/>
          <p:cNvSpPr>
            <a:spLocks noChangeShapeType="1"/>
          </p:cNvSpPr>
          <p:nvPr/>
        </p:nvSpPr>
        <p:spPr bwMode="auto">
          <a:xfrm>
            <a:off x="1011555" y="3570605"/>
            <a:ext cx="10027920" cy="635"/>
          </a:xfrm>
          <a:prstGeom prst="line">
            <a:avLst/>
          </a:prstGeom>
          <a:noFill/>
          <a:ln w="28575">
            <a:solidFill>
              <a:schemeClr val="tx1">
                <a:lumMod val="75000"/>
                <a:lumOff val="25000"/>
              </a:schemeClr>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grpSp>
        <p:nvGrpSpPr>
          <p:cNvPr id="31" name="组合 30"/>
          <p:cNvGrpSpPr/>
          <p:nvPr/>
        </p:nvGrpSpPr>
        <p:grpSpPr>
          <a:xfrm>
            <a:off x="3895090" y="1907540"/>
            <a:ext cx="1826895" cy="2256155"/>
            <a:chOff x="2416" y="4488"/>
            <a:chExt cx="2877" cy="3553"/>
          </a:xfrm>
        </p:grpSpPr>
        <p:sp>
          <p:nvSpPr>
            <p:cNvPr id="65" name="Oval 30"/>
            <p:cNvSpPr>
              <a:spLocks noChangeArrowheads="1"/>
            </p:cNvSpPr>
            <p:nvPr/>
          </p:nvSpPr>
          <p:spPr bwMode="auto">
            <a:xfrm>
              <a:off x="3724" y="6957"/>
              <a:ext cx="323" cy="302"/>
            </a:xfrm>
            <a:prstGeom prst="ellipse">
              <a:avLst/>
            </a:prstGeom>
            <a:solidFill>
              <a:srgbClr val="2361AE"/>
            </a:solidFill>
            <a:ln w="12700">
              <a:solidFill>
                <a:srgbClr val="FFFFFF"/>
              </a:solidFill>
              <a:round/>
            </a:ln>
          </p:spPr>
          <p:txBody>
            <a:bodyPr/>
            <a:lstStyle/>
            <a:p>
              <a:endParaRPr lang="zh-CN" altLang="en-US" sz="2800"/>
            </a:p>
          </p:txBody>
        </p:sp>
        <p:grpSp>
          <p:nvGrpSpPr>
            <p:cNvPr id="82" name="组合 81"/>
            <p:cNvGrpSpPr/>
            <p:nvPr/>
          </p:nvGrpSpPr>
          <p:grpSpPr>
            <a:xfrm>
              <a:off x="3329" y="4488"/>
              <a:ext cx="1123" cy="1061"/>
              <a:chOff x="4622800" y="2214802"/>
              <a:chExt cx="651933" cy="658283"/>
            </a:xfrm>
          </p:grpSpPr>
          <p:sp>
            <p:nvSpPr>
              <p:cNvPr id="83" name="Oval 31"/>
              <p:cNvSpPr>
                <a:spLocks noChangeArrowheads="1"/>
              </p:cNvSpPr>
              <p:nvPr/>
            </p:nvSpPr>
            <p:spPr bwMode="auto">
              <a:xfrm>
                <a:off x="4622800" y="2214802"/>
                <a:ext cx="651933" cy="658283"/>
              </a:xfrm>
              <a:prstGeom prst="ellipse">
                <a:avLst/>
              </a:prstGeom>
              <a:solidFill>
                <a:srgbClr val="2361AE"/>
              </a:solidFill>
              <a:ln>
                <a:noFill/>
              </a:ln>
            </p:spPr>
            <p:txBody>
              <a:bodyPr/>
              <a:lstStyle/>
              <a:p>
                <a:endParaRPr lang="zh-CN" altLang="en-US" sz="2800" dirty="0"/>
              </a:p>
            </p:txBody>
          </p:sp>
          <p:sp>
            <p:nvSpPr>
              <p:cNvPr id="84" name="Freeform 49"/>
              <p:cNvSpPr>
                <a:spLocks noEditPoints="1"/>
              </p:cNvSpPr>
              <p:nvPr/>
            </p:nvSpPr>
            <p:spPr bwMode="auto">
              <a:xfrm>
                <a:off x="4758267" y="2367203"/>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85" name="Rectangle 53"/>
            <p:cNvSpPr>
              <a:spLocks noChangeArrowheads="1"/>
            </p:cNvSpPr>
            <p:nvPr/>
          </p:nvSpPr>
          <p:spPr bwMode="auto">
            <a:xfrm>
              <a:off x="2978" y="5753"/>
              <a:ext cx="1815"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2000" b="1" dirty="0">
                  <a:solidFill>
                    <a:srgbClr val="2361AE"/>
                  </a:solidFill>
                  <a:latin typeface="微软雅黑" panose="020B0503020204020204" charset="-122"/>
                  <a:sym typeface="Calibri" panose="020F0502020204030204" charset="0"/>
                </a:rPr>
                <a:t>挂牌公告</a:t>
              </a:r>
              <a:endParaRPr lang="zh-CN" altLang="en-US" sz="2000" b="1" dirty="0">
                <a:solidFill>
                  <a:srgbClr val="2361AE"/>
                </a:solidFill>
                <a:latin typeface="微软雅黑" panose="020B0503020204020204" charset="-122"/>
                <a:sym typeface="Calibri" panose="020F0502020204030204" charset="0"/>
              </a:endParaRPr>
            </a:p>
          </p:txBody>
        </p:sp>
        <p:sp>
          <p:nvSpPr>
            <p:cNvPr id="90" name="Rectangle 56"/>
            <p:cNvSpPr>
              <a:spLocks noChangeArrowheads="1"/>
            </p:cNvSpPr>
            <p:nvPr/>
          </p:nvSpPr>
          <p:spPr bwMode="auto">
            <a:xfrm>
              <a:off x="2416" y="7465"/>
              <a:ext cx="287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solidFill>
                    <a:srgbClr val="2361AE"/>
                  </a:solidFill>
                  <a:latin typeface="微软雅黑" panose="020B0503020204020204" charset="-122"/>
                </a:rPr>
                <a:t>T-10</a:t>
              </a:r>
              <a:r>
                <a:rPr lang="zh-CN" altLang="en-US" sz="2000" b="1" dirty="0">
                  <a:solidFill>
                    <a:srgbClr val="2361AE"/>
                  </a:solidFill>
                  <a:latin typeface="微软雅黑" panose="020B0503020204020204" charset="-122"/>
                </a:rPr>
                <a:t>工作日前</a:t>
              </a:r>
              <a:endParaRPr lang="zh-CN" altLang="en-US" sz="2000" b="1" dirty="0">
                <a:solidFill>
                  <a:srgbClr val="2361AE"/>
                </a:solidFill>
                <a:latin typeface="微软雅黑" panose="020B0503020204020204" charset="-122"/>
              </a:endParaRPr>
            </a:p>
          </p:txBody>
        </p:sp>
      </p:grpSp>
      <p:grpSp>
        <p:nvGrpSpPr>
          <p:cNvPr id="28" name="组合 27"/>
          <p:cNvGrpSpPr/>
          <p:nvPr/>
        </p:nvGrpSpPr>
        <p:grpSpPr>
          <a:xfrm>
            <a:off x="9928860" y="1907540"/>
            <a:ext cx="1806575" cy="2228215"/>
            <a:chOff x="9168" y="4488"/>
            <a:chExt cx="2845" cy="3509"/>
          </a:xfrm>
        </p:grpSpPr>
        <p:sp>
          <p:nvSpPr>
            <p:cNvPr id="101" name="Oval 32"/>
            <p:cNvSpPr>
              <a:spLocks noChangeArrowheads="1"/>
            </p:cNvSpPr>
            <p:nvPr/>
          </p:nvSpPr>
          <p:spPr bwMode="auto">
            <a:xfrm>
              <a:off x="10631" y="6957"/>
              <a:ext cx="323" cy="302"/>
            </a:xfrm>
            <a:prstGeom prst="ellipse">
              <a:avLst/>
            </a:prstGeom>
            <a:solidFill>
              <a:srgbClr val="D8A941"/>
            </a:solidFill>
            <a:ln w="12700">
              <a:solidFill>
                <a:srgbClr val="FFFFFF"/>
              </a:solidFill>
              <a:round/>
            </a:ln>
          </p:spPr>
          <p:txBody>
            <a:bodyPr/>
            <a:lstStyle/>
            <a:p>
              <a:endParaRPr lang="zh-CN" altLang="en-US" sz="2800">
                <a:solidFill>
                  <a:schemeClr val="accent3"/>
                </a:solidFill>
              </a:endParaRPr>
            </a:p>
          </p:txBody>
        </p:sp>
        <p:sp>
          <p:nvSpPr>
            <p:cNvPr id="103" name="Rectangle 56"/>
            <p:cNvSpPr>
              <a:spLocks noChangeArrowheads="1"/>
            </p:cNvSpPr>
            <p:nvPr/>
          </p:nvSpPr>
          <p:spPr bwMode="auto">
            <a:xfrm>
              <a:off x="9168" y="7465"/>
              <a:ext cx="2845"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solidFill>
                    <a:srgbClr val="D8A941"/>
                  </a:solidFill>
                  <a:latin typeface="微软雅黑" panose="020B0503020204020204" charset="-122"/>
                </a:rPr>
                <a:t>T-1</a:t>
              </a:r>
              <a:r>
                <a:rPr lang="zh-CN" altLang="en-US" sz="2000" b="1" dirty="0">
                  <a:solidFill>
                    <a:srgbClr val="D8A941"/>
                  </a:solidFill>
                  <a:latin typeface="微软雅黑" panose="020B0503020204020204" charset="-122"/>
                </a:rPr>
                <a:t>工作</a:t>
              </a:r>
              <a:r>
                <a:rPr lang="zh-CN" altLang="en-US" sz="2000" b="1" dirty="0">
                  <a:solidFill>
                    <a:srgbClr val="D8A941"/>
                  </a:solidFill>
                  <a:latin typeface="微软雅黑" panose="020B0503020204020204" charset="-122"/>
                  <a:sym typeface="+mn-ea"/>
                </a:rPr>
                <a:t>日前</a:t>
              </a:r>
              <a:endParaRPr lang="zh-CN" altLang="en-US" sz="2000" b="1" dirty="0">
                <a:solidFill>
                  <a:srgbClr val="D8A941"/>
                </a:solidFill>
                <a:latin typeface="微软雅黑" panose="020B0503020204020204" charset="-122"/>
                <a:sym typeface="+mn-ea"/>
              </a:endParaRPr>
            </a:p>
          </p:txBody>
        </p:sp>
        <p:sp>
          <p:nvSpPr>
            <p:cNvPr id="102" name="Rectangle 53"/>
            <p:cNvSpPr>
              <a:spLocks noChangeArrowheads="1"/>
            </p:cNvSpPr>
            <p:nvPr/>
          </p:nvSpPr>
          <p:spPr bwMode="auto">
            <a:xfrm>
              <a:off x="9787" y="5753"/>
              <a:ext cx="2080"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D8A941"/>
                  </a:solidFill>
                  <a:latin typeface="微软雅黑" panose="020B0503020204020204" charset="-122"/>
                </a:rPr>
                <a:t>设置保留价</a:t>
              </a:r>
              <a:endParaRPr lang="zh-CN" altLang="en-US" sz="2000" b="1" dirty="0">
                <a:solidFill>
                  <a:srgbClr val="D8A941"/>
                </a:solidFill>
                <a:latin typeface="微软雅黑" panose="020B0503020204020204" charset="-122"/>
              </a:endParaRPr>
            </a:p>
          </p:txBody>
        </p:sp>
        <p:grpSp>
          <p:nvGrpSpPr>
            <p:cNvPr id="12" name="组合 11"/>
            <p:cNvGrpSpPr/>
            <p:nvPr/>
          </p:nvGrpSpPr>
          <p:grpSpPr>
            <a:xfrm>
              <a:off x="10233" y="4488"/>
              <a:ext cx="1130" cy="1059"/>
              <a:chOff x="9031" y="4796"/>
              <a:chExt cx="894" cy="838"/>
            </a:xfrm>
          </p:grpSpPr>
          <p:sp>
            <p:nvSpPr>
              <p:cNvPr id="114" name="Oval 33"/>
              <p:cNvSpPr>
                <a:spLocks noChangeArrowheads="1"/>
              </p:cNvSpPr>
              <p:nvPr/>
            </p:nvSpPr>
            <p:spPr bwMode="auto">
              <a:xfrm>
                <a:off x="9031" y="4796"/>
                <a:ext cx="894" cy="838"/>
              </a:xfrm>
              <a:prstGeom prst="ellipse">
                <a:avLst/>
              </a:prstGeom>
              <a:solidFill>
                <a:srgbClr val="D8A941"/>
              </a:solidFill>
              <a:ln>
                <a:noFill/>
              </a:ln>
            </p:spPr>
            <p:txBody>
              <a:bodyPr/>
              <a:lstStyle/>
              <a:p>
                <a:endParaRPr lang="zh-CN" altLang="en-US" sz="2800" dirty="0"/>
              </a:p>
            </p:txBody>
          </p:sp>
          <p:sp>
            <p:nvSpPr>
              <p:cNvPr id="115" name="Freeform 17"/>
              <p:cNvSpPr>
                <a:spLocks noEditPoints="1"/>
              </p:cNvSpPr>
              <p:nvPr/>
            </p:nvSpPr>
            <p:spPr bwMode="auto">
              <a:xfrm>
                <a:off x="9262" y="5016"/>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dirty="0"/>
              </a:p>
            </p:txBody>
          </p:sp>
        </p:grpSp>
      </p:grpSp>
      <p:grpSp>
        <p:nvGrpSpPr>
          <p:cNvPr id="30" name="组合 29"/>
          <p:cNvGrpSpPr/>
          <p:nvPr/>
        </p:nvGrpSpPr>
        <p:grpSpPr>
          <a:xfrm>
            <a:off x="6048375" y="1907540"/>
            <a:ext cx="1745615" cy="2256155"/>
            <a:chOff x="4660" y="4488"/>
            <a:chExt cx="2749" cy="3553"/>
          </a:xfrm>
        </p:grpSpPr>
        <p:sp>
          <p:nvSpPr>
            <p:cNvPr id="125" name="Oval 32"/>
            <p:cNvSpPr>
              <a:spLocks noChangeArrowheads="1"/>
            </p:cNvSpPr>
            <p:nvPr/>
          </p:nvSpPr>
          <p:spPr bwMode="auto">
            <a:xfrm>
              <a:off x="5878" y="6957"/>
              <a:ext cx="323" cy="302"/>
            </a:xfrm>
            <a:prstGeom prst="ellipse">
              <a:avLst/>
            </a:prstGeom>
            <a:solidFill>
              <a:srgbClr val="2361AE"/>
            </a:solidFill>
            <a:ln w="12700">
              <a:solidFill>
                <a:srgbClr val="FFFFFF"/>
              </a:solidFill>
              <a:round/>
            </a:ln>
          </p:spPr>
          <p:txBody>
            <a:bodyPr/>
            <a:lstStyle/>
            <a:p>
              <a:endParaRPr lang="zh-CN" altLang="en-US" sz="2800">
                <a:solidFill>
                  <a:schemeClr val="accent3"/>
                </a:solidFill>
              </a:endParaRPr>
            </a:p>
          </p:txBody>
        </p:sp>
        <p:sp>
          <p:nvSpPr>
            <p:cNvPr id="129" name="Rectangle 56"/>
            <p:cNvSpPr>
              <a:spLocks noChangeArrowheads="1"/>
            </p:cNvSpPr>
            <p:nvPr/>
          </p:nvSpPr>
          <p:spPr bwMode="auto">
            <a:xfrm>
              <a:off x="4660" y="7465"/>
              <a:ext cx="2749"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sz="2000" b="1" dirty="0">
                  <a:solidFill>
                    <a:srgbClr val="2361AE"/>
                  </a:solidFill>
                  <a:latin typeface="微软雅黑" panose="020B0503020204020204" charset="-122"/>
                </a:rPr>
                <a:t>T-2</a:t>
              </a:r>
              <a:r>
                <a:rPr lang="zh-CN" altLang="en-US" sz="2000" b="1" dirty="0">
                  <a:solidFill>
                    <a:srgbClr val="2361AE"/>
                  </a:solidFill>
                  <a:latin typeface="微软雅黑" panose="020B0503020204020204" charset="-122"/>
                </a:rPr>
                <a:t>工作</a:t>
              </a:r>
              <a:r>
                <a:rPr lang="zh-CN" altLang="en-US" sz="2000" b="1" dirty="0">
                  <a:solidFill>
                    <a:srgbClr val="2361AE"/>
                  </a:solidFill>
                  <a:latin typeface="微软雅黑" panose="020B0503020204020204" charset="-122"/>
                  <a:sym typeface="+mn-ea"/>
                </a:rPr>
                <a:t>日前</a:t>
              </a:r>
              <a:endParaRPr lang="zh-CN" altLang="en-US" sz="2000" b="1" dirty="0">
                <a:solidFill>
                  <a:srgbClr val="2361AE"/>
                </a:solidFill>
                <a:latin typeface="微软雅黑" panose="020B0503020204020204" charset="-122"/>
                <a:sym typeface="+mn-ea"/>
              </a:endParaRPr>
            </a:p>
          </p:txBody>
        </p:sp>
        <p:sp>
          <p:nvSpPr>
            <p:cNvPr id="128" name="Rectangle 55"/>
            <p:cNvSpPr>
              <a:spLocks noChangeArrowheads="1"/>
            </p:cNvSpPr>
            <p:nvPr/>
          </p:nvSpPr>
          <p:spPr bwMode="auto">
            <a:xfrm>
              <a:off x="4980" y="5753"/>
              <a:ext cx="2090"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意向受让方申请</a:t>
              </a:r>
              <a:endParaRPr lang="zh-CN" altLang="en-US" sz="2000" b="1" dirty="0">
                <a:solidFill>
                  <a:srgbClr val="2361AE"/>
                </a:solidFill>
                <a:latin typeface="微软雅黑" panose="020B0503020204020204" charset="-122"/>
              </a:endParaRPr>
            </a:p>
          </p:txBody>
        </p:sp>
        <p:grpSp>
          <p:nvGrpSpPr>
            <p:cNvPr id="11" name="组合 10"/>
            <p:cNvGrpSpPr/>
            <p:nvPr/>
          </p:nvGrpSpPr>
          <p:grpSpPr>
            <a:xfrm>
              <a:off x="5480" y="4488"/>
              <a:ext cx="1130" cy="1059"/>
              <a:chOff x="4823" y="4801"/>
              <a:chExt cx="894" cy="838"/>
            </a:xfrm>
          </p:grpSpPr>
          <p:sp>
            <p:nvSpPr>
              <p:cNvPr id="127" name="Oval 33"/>
              <p:cNvSpPr>
                <a:spLocks noChangeArrowheads="1"/>
              </p:cNvSpPr>
              <p:nvPr/>
            </p:nvSpPr>
            <p:spPr bwMode="auto">
              <a:xfrm>
                <a:off x="4823" y="4801"/>
                <a:ext cx="894" cy="838"/>
              </a:xfrm>
              <a:prstGeom prst="ellipse">
                <a:avLst/>
              </a:prstGeom>
              <a:solidFill>
                <a:srgbClr val="2361AE"/>
              </a:solidFill>
              <a:ln>
                <a:noFill/>
              </a:ln>
            </p:spPr>
            <p:txBody>
              <a:bodyPr/>
              <a:lstStyle/>
              <a:p>
                <a:endParaRPr lang="zh-CN" altLang="en-US" sz="2000" dirty="0"/>
              </a:p>
            </p:txBody>
          </p:sp>
          <p:sp>
            <p:nvSpPr>
              <p:cNvPr id="130" name="Shape 2533"/>
              <p:cNvSpPr>
                <a:spLocks noChangeAspect="1"/>
              </p:cNvSpPr>
              <p:nvPr/>
            </p:nvSpPr>
            <p:spPr>
              <a:xfrm>
                <a:off x="5084" y="4980"/>
                <a:ext cx="447" cy="490"/>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chemeClr val="bg1"/>
              </a:solidFill>
              <a:ln w="12700">
                <a:miter lim="400000"/>
              </a:ln>
            </p:spPr>
            <p:txBody>
              <a:bodyPr lIns="38091" tIns="38091" rIns="38091" bIns="38091" anchor="ctr"/>
              <a:lstStyle/>
              <a:p>
                <a:pPr defTabSz="4565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000" dirty="0">
                  <a:latin typeface="微软雅黑" panose="020B0503020204020204" charset="-122"/>
                  <a:cs typeface="Source Sans Pro Regular" charset="0"/>
                </a:endParaRPr>
              </a:p>
            </p:txBody>
          </p:sp>
        </p:grpSp>
      </p:grpSp>
      <p:grpSp>
        <p:nvGrpSpPr>
          <p:cNvPr id="33" name="组合 32"/>
          <p:cNvGrpSpPr/>
          <p:nvPr/>
        </p:nvGrpSpPr>
        <p:grpSpPr>
          <a:xfrm>
            <a:off x="2336165" y="1910080"/>
            <a:ext cx="1068070" cy="1759585"/>
            <a:chOff x="912" y="4488"/>
            <a:chExt cx="1682" cy="2771"/>
          </a:xfrm>
        </p:grpSpPr>
        <p:sp>
          <p:nvSpPr>
            <p:cNvPr id="34" name="Rectangle 55"/>
            <p:cNvSpPr>
              <a:spLocks noChangeArrowheads="1"/>
            </p:cNvSpPr>
            <p:nvPr/>
          </p:nvSpPr>
          <p:spPr bwMode="auto">
            <a:xfrm>
              <a:off x="912" y="5753"/>
              <a:ext cx="1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资产登记</a:t>
              </a:r>
              <a:endParaRPr lang="zh-CN" altLang="en-US" sz="2000" b="1" dirty="0">
                <a:solidFill>
                  <a:srgbClr val="2361AE"/>
                </a:solidFill>
                <a:latin typeface="微软雅黑" panose="020B0503020204020204" charset="-122"/>
              </a:endParaRPr>
            </a:p>
          </p:txBody>
        </p:sp>
        <p:grpSp>
          <p:nvGrpSpPr>
            <p:cNvPr id="35" name="组合 34"/>
            <p:cNvGrpSpPr/>
            <p:nvPr/>
          </p:nvGrpSpPr>
          <p:grpSpPr>
            <a:xfrm>
              <a:off x="1194" y="4488"/>
              <a:ext cx="1130" cy="1060"/>
              <a:chOff x="1230" y="4717"/>
              <a:chExt cx="894" cy="839"/>
            </a:xfrm>
          </p:grpSpPr>
          <p:sp>
            <p:nvSpPr>
              <p:cNvPr id="36" name="Oval 33"/>
              <p:cNvSpPr>
                <a:spLocks noChangeArrowheads="1"/>
              </p:cNvSpPr>
              <p:nvPr/>
            </p:nvSpPr>
            <p:spPr bwMode="auto">
              <a:xfrm>
                <a:off x="1230" y="4717"/>
                <a:ext cx="894" cy="839"/>
              </a:xfrm>
              <a:prstGeom prst="ellipse">
                <a:avLst/>
              </a:prstGeom>
              <a:solidFill>
                <a:srgbClr val="2361AE"/>
              </a:solidFill>
              <a:ln>
                <a:noFill/>
              </a:ln>
            </p:spPr>
            <p:txBody>
              <a:bodyPr/>
              <a:lstStyle/>
              <a:p>
                <a:endParaRPr lang="zh-CN" altLang="en-US" sz="2800" dirty="0"/>
              </a:p>
            </p:txBody>
          </p:sp>
          <p:sp>
            <p:nvSpPr>
              <p:cNvPr id="37" name="Freeform 17"/>
              <p:cNvSpPr>
                <a:spLocks noEditPoints="1"/>
              </p:cNvSpPr>
              <p:nvPr/>
            </p:nvSpPr>
            <p:spPr bwMode="auto">
              <a:xfrm>
                <a:off x="1433" y="4937"/>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dirty="0"/>
              </a:p>
            </p:txBody>
          </p:sp>
        </p:grpSp>
        <p:sp>
          <p:nvSpPr>
            <p:cNvPr id="38" name="Oval 30"/>
            <p:cNvSpPr>
              <a:spLocks noChangeArrowheads="1"/>
            </p:cNvSpPr>
            <p:nvPr/>
          </p:nvSpPr>
          <p:spPr bwMode="auto">
            <a:xfrm>
              <a:off x="1507" y="6957"/>
              <a:ext cx="323" cy="302"/>
            </a:xfrm>
            <a:prstGeom prst="ellipse">
              <a:avLst/>
            </a:prstGeom>
            <a:solidFill>
              <a:srgbClr val="2361AE"/>
            </a:solidFill>
            <a:ln w="12700">
              <a:solidFill>
                <a:srgbClr val="FFFFFF"/>
              </a:solidFill>
              <a:round/>
            </a:ln>
          </p:spPr>
          <p:txBody>
            <a:bodyPr/>
            <a:lstStyle/>
            <a:p>
              <a:endParaRPr lang="zh-CN" altLang="en-US" sz="2800"/>
            </a:p>
          </p:txBody>
        </p:sp>
      </p:grpSp>
      <p:grpSp>
        <p:nvGrpSpPr>
          <p:cNvPr id="40" name="组合 39"/>
          <p:cNvGrpSpPr/>
          <p:nvPr/>
        </p:nvGrpSpPr>
        <p:grpSpPr>
          <a:xfrm>
            <a:off x="579120" y="1907540"/>
            <a:ext cx="1068070" cy="1758950"/>
            <a:chOff x="912" y="4488"/>
            <a:chExt cx="1682" cy="2770"/>
          </a:xfrm>
        </p:grpSpPr>
        <p:grpSp>
          <p:nvGrpSpPr>
            <p:cNvPr id="32" name="组合 31"/>
            <p:cNvGrpSpPr/>
            <p:nvPr/>
          </p:nvGrpSpPr>
          <p:grpSpPr>
            <a:xfrm>
              <a:off x="912" y="4488"/>
              <a:ext cx="1682" cy="2771"/>
              <a:chOff x="912" y="4488"/>
              <a:chExt cx="1682" cy="2771"/>
            </a:xfrm>
          </p:grpSpPr>
          <p:sp>
            <p:nvSpPr>
              <p:cNvPr id="112" name="Rectangle 55"/>
              <p:cNvSpPr>
                <a:spLocks noChangeArrowheads="1"/>
              </p:cNvSpPr>
              <p:nvPr/>
            </p:nvSpPr>
            <p:spPr bwMode="auto">
              <a:xfrm>
                <a:off x="912" y="5753"/>
                <a:ext cx="1682"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2361AE"/>
                    </a:solidFill>
                    <a:latin typeface="微软雅黑" panose="020B0503020204020204" charset="-122"/>
                  </a:rPr>
                  <a:t>账户开立</a:t>
                </a:r>
                <a:endParaRPr lang="zh-CN" altLang="en-US" sz="2000" b="1" dirty="0">
                  <a:solidFill>
                    <a:srgbClr val="2361AE"/>
                  </a:solidFill>
                  <a:latin typeface="微软雅黑" panose="020B0503020204020204" charset="-122"/>
                </a:endParaRPr>
              </a:p>
            </p:txBody>
          </p:sp>
          <p:sp>
            <p:nvSpPr>
              <p:cNvPr id="111" name="Oval 33"/>
              <p:cNvSpPr>
                <a:spLocks noChangeArrowheads="1"/>
              </p:cNvSpPr>
              <p:nvPr/>
            </p:nvSpPr>
            <p:spPr bwMode="auto">
              <a:xfrm>
                <a:off x="1194" y="4488"/>
                <a:ext cx="1130" cy="1060"/>
              </a:xfrm>
              <a:prstGeom prst="ellipse">
                <a:avLst/>
              </a:prstGeom>
              <a:solidFill>
                <a:srgbClr val="2361AE"/>
              </a:solidFill>
              <a:ln>
                <a:noFill/>
              </a:ln>
            </p:spPr>
            <p:txBody>
              <a:bodyPr/>
              <a:lstStyle/>
              <a:p>
                <a:endParaRPr lang="zh-CN" altLang="en-US" sz="2800" dirty="0"/>
              </a:p>
            </p:txBody>
          </p:sp>
          <p:sp>
            <p:nvSpPr>
              <p:cNvPr id="119" name="Oval 30"/>
              <p:cNvSpPr>
                <a:spLocks noChangeArrowheads="1"/>
              </p:cNvSpPr>
              <p:nvPr/>
            </p:nvSpPr>
            <p:spPr bwMode="auto">
              <a:xfrm>
                <a:off x="1507" y="6957"/>
                <a:ext cx="323" cy="302"/>
              </a:xfrm>
              <a:prstGeom prst="ellipse">
                <a:avLst/>
              </a:prstGeom>
              <a:solidFill>
                <a:srgbClr val="2361AE"/>
              </a:solidFill>
              <a:ln w="12700">
                <a:solidFill>
                  <a:srgbClr val="FFFFFF"/>
                </a:solidFill>
                <a:round/>
              </a:ln>
            </p:spPr>
            <p:txBody>
              <a:bodyPr/>
              <a:lstStyle/>
              <a:p>
                <a:endParaRPr lang="zh-CN" altLang="en-US" sz="2800"/>
              </a:p>
            </p:txBody>
          </p:sp>
        </p:grpSp>
        <p:sp>
          <p:nvSpPr>
            <p:cNvPr id="39" name="Freeform 49"/>
            <p:cNvSpPr>
              <a:spLocks noEditPoints="1"/>
            </p:cNvSpPr>
            <p:nvPr/>
          </p:nvSpPr>
          <p:spPr bwMode="auto">
            <a:xfrm>
              <a:off x="1433" y="4716"/>
              <a:ext cx="656" cy="508"/>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41" name="Rectangle 56"/>
          <p:cNvSpPr>
            <a:spLocks noChangeArrowheads="1"/>
          </p:cNvSpPr>
          <p:nvPr/>
        </p:nvSpPr>
        <p:spPr bwMode="auto">
          <a:xfrm>
            <a:off x="1351915" y="4760595"/>
            <a:ext cx="9464040" cy="164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342900" indent="-342900" algn="l" eaLnBrk="1" latinLnBrk="0" hangingPunct="1">
              <a:lnSpc>
                <a:spcPct val="150000"/>
              </a:lnSpc>
              <a:buFont typeface="Arial" panose="020B0604020202020204" pitchFamily="34" charset="0"/>
              <a:buChar char="•"/>
            </a:pPr>
            <a:r>
              <a:rPr sz="1800" b="1" dirty="0">
                <a:solidFill>
                  <a:schemeClr val="bg1">
                    <a:lumMod val="50000"/>
                  </a:schemeClr>
                </a:solidFill>
                <a:latin typeface="微软雅黑" panose="020B0503020204020204" charset="-122"/>
                <a:sym typeface="+mn-ea"/>
              </a:rPr>
              <a:t>出让方应至少于公开竞价前1个工作日完成保留价设置</a:t>
            </a:r>
            <a:r>
              <a:rPr lang="zh-CN" sz="1800" b="1" dirty="0">
                <a:solidFill>
                  <a:schemeClr val="bg1">
                    <a:lumMod val="50000"/>
                  </a:schemeClr>
                </a:solidFill>
                <a:latin typeface="微软雅黑" panose="020B0503020204020204" charset="-122"/>
                <a:sym typeface="+mn-ea"/>
              </a:rPr>
              <a:t>。</a:t>
            </a:r>
            <a:endParaRPr lang="zh-CN" sz="1800" b="1" dirty="0">
              <a:solidFill>
                <a:schemeClr val="bg1">
                  <a:lumMod val="50000"/>
                </a:schemeClr>
              </a:solidFill>
              <a:latin typeface="微软雅黑" panose="020B0503020204020204" charset="-122"/>
              <a:sym typeface="+mn-ea"/>
            </a:endParaRPr>
          </a:p>
          <a:p>
            <a:pPr marL="342900" indent="-342900" algn="l" eaLnBrk="1" latinLnBrk="0" hangingPunct="1">
              <a:lnSpc>
                <a:spcPct val="150000"/>
              </a:lnSpc>
              <a:buFont typeface="Arial" panose="020B0604020202020204" pitchFamily="34" charset="0"/>
              <a:buChar char="•"/>
            </a:pPr>
            <a:r>
              <a:rPr lang="zh-CN" sz="1800" dirty="0">
                <a:solidFill>
                  <a:schemeClr val="bg1">
                    <a:lumMod val="50000"/>
                  </a:schemeClr>
                </a:solidFill>
                <a:latin typeface="微软雅黑" panose="020B0503020204020204" charset="-122"/>
                <a:sym typeface="+mn-ea"/>
              </a:rPr>
              <a:t>保留价全程</a:t>
            </a:r>
            <a:r>
              <a:rPr lang="zh-CN" sz="1800" b="1" dirty="0">
                <a:solidFill>
                  <a:schemeClr val="bg1">
                    <a:lumMod val="50000"/>
                  </a:schemeClr>
                </a:solidFill>
                <a:latin typeface="微软雅黑" panose="020B0503020204020204" charset="-122"/>
                <a:sym typeface="+mn-ea"/>
              </a:rPr>
              <a:t>信息保密</a:t>
            </a:r>
            <a:r>
              <a:rPr lang="zh-CN" sz="1800" dirty="0">
                <a:solidFill>
                  <a:schemeClr val="bg1">
                    <a:lumMod val="50000"/>
                  </a:schemeClr>
                </a:solidFill>
                <a:latin typeface="微软雅黑" panose="020B0503020204020204" charset="-122"/>
                <a:sym typeface="+mn-ea"/>
              </a:rPr>
              <a:t>，保证仅出让方可知晓和管理。</a:t>
            </a:r>
            <a:endParaRPr lang="zh-CN" sz="1800" dirty="0">
              <a:solidFill>
                <a:schemeClr val="bg1">
                  <a:lumMod val="50000"/>
                </a:schemeClr>
              </a:solidFill>
              <a:latin typeface="微软雅黑" panose="020B0503020204020204" charset="-122"/>
              <a:sym typeface="+mn-ea"/>
            </a:endParaRPr>
          </a:p>
          <a:p>
            <a:pPr marL="342900" indent="-342900" algn="l" eaLnBrk="1" latinLnBrk="0" hangingPunct="1">
              <a:lnSpc>
                <a:spcPct val="150000"/>
              </a:lnSpc>
              <a:buFont typeface="Arial" panose="020B0604020202020204" pitchFamily="34" charset="0"/>
              <a:buChar char="•"/>
            </a:pPr>
            <a:r>
              <a:rPr lang="zh-CN" sz="1800" b="1" dirty="0">
                <a:solidFill>
                  <a:srgbClr val="C00000"/>
                </a:solidFill>
                <a:latin typeface="微软雅黑" panose="020B0503020204020204" charset="-122"/>
                <a:sym typeface="+mn-ea"/>
              </a:rPr>
              <a:t>优化亮点：单独设置保留价，便于机构内部风险隔离管理，业务开展更加灵活。</a:t>
            </a:r>
            <a:endParaRPr lang="zh-CN" sz="1800" b="1" dirty="0">
              <a:solidFill>
                <a:srgbClr val="C00000"/>
              </a:solidFill>
              <a:latin typeface="微软雅黑" panose="020B0503020204020204" charset="-122"/>
              <a:sym typeface="+mn-ea"/>
            </a:endParaRPr>
          </a:p>
          <a:p>
            <a:pPr marL="342900" indent="-342900" algn="l" eaLnBrk="1" latinLnBrk="0" hangingPunct="1">
              <a:lnSpc>
                <a:spcPct val="150000"/>
              </a:lnSpc>
              <a:buFont typeface="Arial" panose="020B0604020202020204" pitchFamily="34" charset="0"/>
              <a:buChar char="•"/>
            </a:pPr>
            <a:endParaRPr lang="zh-CN" sz="1800" b="1" dirty="0">
              <a:solidFill>
                <a:srgbClr val="C00000"/>
              </a:solidFill>
              <a:latin typeface="微软雅黑" panose="020B0503020204020204" charset="-122"/>
              <a:sym typeface="+mn-ea"/>
            </a:endParaRPr>
          </a:p>
        </p:txBody>
      </p:sp>
      <p:grpSp>
        <p:nvGrpSpPr>
          <p:cNvPr id="3" name="组合 2"/>
          <p:cNvGrpSpPr/>
          <p:nvPr/>
        </p:nvGrpSpPr>
        <p:grpSpPr>
          <a:xfrm>
            <a:off x="8188325" y="1907540"/>
            <a:ext cx="1536065" cy="2228215"/>
            <a:chOff x="7079" y="4488"/>
            <a:chExt cx="2419" cy="3509"/>
          </a:xfrm>
        </p:grpSpPr>
        <p:sp>
          <p:nvSpPr>
            <p:cNvPr id="4" name="Oval 32"/>
            <p:cNvSpPr>
              <a:spLocks noChangeArrowheads="1"/>
            </p:cNvSpPr>
            <p:nvPr/>
          </p:nvSpPr>
          <p:spPr bwMode="auto">
            <a:xfrm>
              <a:off x="8118" y="6957"/>
              <a:ext cx="323" cy="302"/>
            </a:xfrm>
            <a:prstGeom prst="ellipse">
              <a:avLst/>
            </a:prstGeom>
            <a:solidFill>
              <a:srgbClr val="3468B1"/>
            </a:solidFill>
            <a:ln w="12700">
              <a:solidFill>
                <a:srgbClr val="FFFFFF"/>
              </a:solidFill>
              <a:round/>
            </a:ln>
          </p:spPr>
          <p:txBody>
            <a:bodyPr/>
            <a:lstStyle/>
            <a:p>
              <a:endParaRPr lang="zh-CN" altLang="en-US" sz="2800">
                <a:solidFill>
                  <a:schemeClr val="accent3"/>
                </a:solidFill>
              </a:endParaRPr>
            </a:p>
          </p:txBody>
        </p:sp>
        <p:grpSp>
          <p:nvGrpSpPr>
            <p:cNvPr id="5" name="组合 4"/>
            <p:cNvGrpSpPr/>
            <p:nvPr/>
          </p:nvGrpSpPr>
          <p:grpSpPr>
            <a:xfrm>
              <a:off x="7723" y="4488"/>
              <a:ext cx="1123" cy="1060"/>
              <a:chOff x="4622800" y="2280709"/>
              <a:chExt cx="651933" cy="658283"/>
            </a:xfrm>
          </p:grpSpPr>
          <p:sp>
            <p:nvSpPr>
              <p:cNvPr id="8" name="Oval 31"/>
              <p:cNvSpPr>
                <a:spLocks noChangeArrowheads="1"/>
              </p:cNvSpPr>
              <p:nvPr/>
            </p:nvSpPr>
            <p:spPr bwMode="auto">
              <a:xfrm>
                <a:off x="4622800" y="2280709"/>
                <a:ext cx="651933" cy="658283"/>
              </a:xfrm>
              <a:prstGeom prst="ellipse">
                <a:avLst/>
              </a:prstGeom>
              <a:solidFill>
                <a:srgbClr val="3468B1"/>
              </a:solidFill>
              <a:ln>
                <a:noFill/>
              </a:ln>
            </p:spPr>
            <p:txBody>
              <a:bodyPr/>
              <a:lstStyle/>
              <a:p>
                <a:endParaRPr lang="zh-CN" altLang="en-US" sz="2800" dirty="0"/>
              </a:p>
            </p:txBody>
          </p:sp>
          <p:sp>
            <p:nvSpPr>
              <p:cNvPr id="9" name="Freeform 49"/>
              <p:cNvSpPr>
                <a:spLocks noEditPoints="1"/>
              </p:cNvSpPr>
              <p:nvPr/>
            </p:nvSpPr>
            <p:spPr bwMode="auto">
              <a:xfrm>
                <a:off x="4758267" y="2433110"/>
                <a:ext cx="381000" cy="315383"/>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800"/>
              </a:p>
            </p:txBody>
          </p:sp>
        </p:grpSp>
        <p:sp>
          <p:nvSpPr>
            <p:cNvPr id="6" name="Rectangle 53"/>
            <p:cNvSpPr>
              <a:spLocks noChangeArrowheads="1"/>
            </p:cNvSpPr>
            <p:nvPr/>
          </p:nvSpPr>
          <p:spPr bwMode="auto">
            <a:xfrm>
              <a:off x="7204" y="5753"/>
              <a:ext cx="2151"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3468B1"/>
                  </a:solidFill>
                  <a:latin typeface="微软雅黑" panose="020B0503020204020204" charset="-122"/>
                </a:rPr>
                <a:t>合格意向</a:t>
              </a:r>
              <a:endParaRPr lang="zh-CN" altLang="en-US" sz="2000" b="1" dirty="0">
                <a:solidFill>
                  <a:srgbClr val="3468B1"/>
                </a:solidFill>
                <a:latin typeface="微软雅黑" panose="020B0503020204020204" charset="-122"/>
              </a:endParaRPr>
            </a:p>
            <a:p>
              <a:pPr algn="ctr">
                <a:lnSpc>
                  <a:spcPct val="120000"/>
                </a:lnSpc>
                <a:buFont typeface="Arial" panose="020B0604020202020204" pitchFamily="34" charset="0"/>
                <a:buNone/>
              </a:pPr>
              <a:r>
                <a:rPr lang="zh-CN" altLang="en-US" sz="2000" b="1" dirty="0">
                  <a:solidFill>
                    <a:srgbClr val="3468B1"/>
                  </a:solidFill>
                  <a:latin typeface="微软雅黑" panose="020B0503020204020204" charset="-122"/>
                </a:rPr>
                <a:t>受让方确认</a:t>
              </a:r>
              <a:endParaRPr lang="zh-CN" altLang="en-US" sz="2000" b="1" dirty="0">
                <a:solidFill>
                  <a:srgbClr val="3468B1"/>
                </a:solidFill>
                <a:latin typeface="微软雅黑" panose="020B0503020204020204" charset="-122"/>
              </a:endParaRPr>
            </a:p>
          </p:txBody>
        </p:sp>
        <p:sp>
          <p:nvSpPr>
            <p:cNvPr id="7" name="Rectangle 56"/>
            <p:cNvSpPr>
              <a:spLocks noChangeArrowheads="1"/>
            </p:cNvSpPr>
            <p:nvPr/>
          </p:nvSpPr>
          <p:spPr bwMode="auto">
            <a:xfrm>
              <a:off x="7079" y="7465"/>
              <a:ext cx="2419"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solidFill>
                    <a:srgbClr val="3468B1"/>
                  </a:solidFill>
                  <a:latin typeface="微软雅黑" panose="020B0503020204020204" charset="-122"/>
                </a:rPr>
                <a:t>T-1</a:t>
              </a:r>
              <a:r>
                <a:rPr lang="zh-CN" altLang="en-US" sz="2000" b="1" dirty="0">
                  <a:solidFill>
                    <a:srgbClr val="3468B1"/>
                  </a:solidFill>
                  <a:latin typeface="微软雅黑" panose="020B0503020204020204" charset="-122"/>
                </a:rPr>
                <a:t>工作</a:t>
              </a:r>
              <a:r>
                <a:rPr lang="zh-CN" altLang="en-US" sz="2000" b="1" dirty="0">
                  <a:solidFill>
                    <a:srgbClr val="3468B1"/>
                  </a:solidFill>
                  <a:latin typeface="微软雅黑" panose="020B0503020204020204" charset="-122"/>
                  <a:sym typeface="+mn-ea"/>
                </a:rPr>
                <a:t>日前</a:t>
              </a:r>
              <a:endParaRPr lang="zh-CN" altLang="en-US" sz="2000" b="1" dirty="0">
                <a:solidFill>
                  <a:srgbClr val="3468B1"/>
                </a:solidFill>
                <a:latin typeface="微软雅黑" panose="020B0503020204020204" charset="-122"/>
                <a:sym typeface="+mn-ea"/>
              </a:endParaRPr>
            </a:p>
          </p:txBody>
        </p:sp>
      </p:grpSp>
    </p:spTree>
    <p:custDataLst>
      <p:tags r:id="rId1"/>
    </p:custData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716448" y="1132052"/>
            <a:ext cx="3362787" cy="417830"/>
          </a:xfrm>
          <a:prstGeom prst="rect">
            <a:avLst/>
          </a:prstGeom>
          <a:noFill/>
        </p:spPr>
        <p:txBody>
          <a:bodyPr vert="horz" wrap="square" rtlCol="0">
            <a:spAutoFit/>
          </a:bodyPr>
          <a:lstStyle/>
          <a:p>
            <a:pPr defTabSz="457200" fontAlgn="auto">
              <a:spcBef>
                <a:spcPts val="0"/>
              </a:spcBef>
              <a:spcAft>
                <a:spcPts val="0"/>
              </a:spcAft>
              <a:defRPr/>
            </a:pPr>
            <a:r>
              <a:rPr lang="zh-CN" altLang="en-US" sz="2000" b="1" dirty="0">
                <a:solidFill>
                  <a:srgbClr val="7F7F7F"/>
                </a:solidFill>
                <a:latin typeface="微软雅黑" panose="020B0503020204020204" charset="-122"/>
                <a:sym typeface="+mn-ea"/>
              </a:rPr>
              <a:t>转让后续事项</a:t>
            </a:r>
            <a:endParaRPr lang="zh-CN" altLang="en-US" sz="2000" b="1" dirty="0">
              <a:solidFill>
                <a:srgbClr val="7F7F7F"/>
              </a:solidFill>
              <a:latin typeface="微软雅黑" panose="020B0503020204020204" charset="-122"/>
              <a:sym typeface="+mn-ea"/>
            </a:endParaRPr>
          </a:p>
        </p:txBody>
      </p:sp>
      <p:grpSp>
        <p:nvGrpSpPr>
          <p:cNvPr id="15" name="组合 14"/>
          <p:cNvGrpSpPr/>
          <p:nvPr/>
        </p:nvGrpSpPr>
        <p:grpSpPr>
          <a:xfrm>
            <a:off x="436564" y="1195446"/>
            <a:ext cx="279885" cy="297452"/>
            <a:chOff x="235425" y="990578"/>
            <a:chExt cx="279885" cy="297452"/>
          </a:xfrm>
        </p:grpSpPr>
        <p:sp>
          <p:nvSpPr>
            <p:cNvPr id="16" name="矩形 15"/>
            <p:cNvSpPr/>
            <p:nvPr/>
          </p:nvSpPr>
          <p:spPr>
            <a:xfrm>
              <a:off x="235425" y="990578"/>
              <a:ext cx="72550" cy="297452"/>
            </a:xfrm>
            <a:prstGeom prst="rect">
              <a:avLst/>
            </a:prstGeom>
            <a:solidFill>
              <a:srgbClr val="C89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sp>
          <p:nvSpPr>
            <p:cNvPr id="17" name="矩形 16"/>
            <p:cNvSpPr/>
            <p:nvPr/>
          </p:nvSpPr>
          <p:spPr>
            <a:xfrm>
              <a:off x="327025" y="990578"/>
              <a:ext cx="188285" cy="297452"/>
            </a:xfrm>
            <a:prstGeom prst="rect">
              <a:avLst/>
            </a:prstGeom>
            <a:solidFill>
              <a:srgbClr val="3468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fontAlgn="auto">
                <a:spcBef>
                  <a:spcPts val="0"/>
                </a:spcBef>
                <a:spcAft>
                  <a:spcPts val="0"/>
                </a:spcAft>
                <a:defRPr/>
              </a:pPr>
              <a:endParaRPr lang="zh-CN" altLang="en-US">
                <a:solidFill>
                  <a:prstClr val="white"/>
                </a:solidFill>
                <a:latin typeface="Tw Cen MT"/>
                <a:ea typeface="华文仿宋" panose="02010600040101010101" pitchFamily="2" charset="-122"/>
              </a:endParaRPr>
            </a:p>
          </p:txBody>
        </p:sp>
      </p:grpSp>
      <p:sp>
        <p:nvSpPr>
          <p:cNvPr id="2" name="灯片编号占位符 1"/>
          <p:cNvSpPr>
            <a:spLocks noGrp="1"/>
          </p:cNvSpPr>
          <p:nvPr>
            <p:ph type="sldNum" sz="quarter" idx="4"/>
          </p:nvPr>
        </p:nvSpPr>
        <p:spPr>
          <a:xfrm>
            <a:off x="8737600" y="6245225"/>
            <a:ext cx="2844800" cy="476250"/>
          </a:xfrm>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EAB507-6BF6-44B7-B0AA-FEDA2A5C4BA7}" type="slidenum">
              <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微软雅黑" panose="020B0503020204020204"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charset="-122"/>
              <a:cs typeface="+mn-cs"/>
            </a:endParaRPr>
          </a:p>
        </p:txBody>
      </p:sp>
      <p:sp>
        <p:nvSpPr>
          <p:cNvPr id="62" name="Line 29"/>
          <p:cNvSpPr>
            <a:spLocks noChangeShapeType="1"/>
          </p:cNvSpPr>
          <p:nvPr/>
        </p:nvSpPr>
        <p:spPr bwMode="auto">
          <a:xfrm>
            <a:off x="2510155" y="3757930"/>
            <a:ext cx="7074535" cy="635"/>
          </a:xfrm>
          <a:prstGeom prst="line">
            <a:avLst/>
          </a:prstGeom>
          <a:noFill/>
          <a:ln w="28575">
            <a:solidFill>
              <a:schemeClr val="tx1">
                <a:lumMod val="75000"/>
                <a:lumOff val="25000"/>
              </a:schemeClr>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grpSp>
        <p:nvGrpSpPr>
          <p:cNvPr id="11" name="组合 10"/>
          <p:cNvGrpSpPr/>
          <p:nvPr/>
        </p:nvGrpSpPr>
        <p:grpSpPr>
          <a:xfrm>
            <a:off x="1956435" y="2363470"/>
            <a:ext cx="1183640" cy="2058670"/>
            <a:chOff x="9278" y="4911"/>
            <a:chExt cx="1864" cy="3242"/>
          </a:xfrm>
        </p:grpSpPr>
        <p:sp>
          <p:nvSpPr>
            <p:cNvPr id="75" name="Oval 34"/>
            <p:cNvSpPr>
              <a:spLocks noChangeArrowheads="1"/>
            </p:cNvSpPr>
            <p:nvPr/>
          </p:nvSpPr>
          <p:spPr bwMode="auto">
            <a:xfrm>
              <a:off x="10049" y="6928"/>
              <a:ext cx="323" cy="302"/>
            </a:xfrm>
            <a:prstGeom prst="ellipse">
              <a:avLst/>
            </a:prstGeom>
            <a:solidFill>
              <a:srgbClr val="C00000"/>
            </a:solidFill>
            <a:ln w="12700">
              <a:solidFill>
                <a:srgbClr val="FFFFFF"/>
              </a:solidFill>
              <a:round/>
            </a:ln>
          </p:spPr>
          <p:txBody>
            <a:bodyPr/>
            <a:lstStyle/>
            <a:p>
              <a:endParaRPr lang="zh-CN" altLang="en-US" sz="2000"/>
            </a:p>
          </p:txBody>
        </p:sp>
        <p:sp>
          <p:nvSpPr>
            <p:cNvPr id="87" name="Rectangle 55"/>
            <p:cNvSpPr>
              <a:spLocks noChangeArrowheads="1"/>
            </p:cNvSpPr>
            <p:nvPr/>
          </p:nvSpPr>
          <p:spPr bwMode="auto">
            <a:xfrm>
              <a:off x="9278" y="6069"/>
              <a:ext cx="1864" cy="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C00000"/>
                  </a:solidFill>
                  <a:latin typeface="微软雅黑" panose="020B0503020204020204" charset="-122"/>
                </a:rPr>
                <a:t>公开竞价</a:t>
              </a:r>
              <a:endParaRPr lang="zh-CN" altLang="en-US" sz="2000" b="1" dirty="0">
                <a:solidFill>
                  <a:srgbClr val="C00000"/>
                </a:solidFill>
                <a:latin typeface="微软雅黑" panose="020B0503020204020204" charset="-122"/>
              </a:endParaRPr>
            </a:p>
          </p:txBody>
        </p:sp>
        <p:grpSp>
          <p:nvGrpSpPr>
            <p:cNvPr id="91" name="组合 90"/>
            <p:cNvGrpSpPr/>
            <p:nvPr/>
          </p:nvGrpSpPr>
          <p:grpSpPr>
            <a:xfrm>
              <a:off x="9763" y="4911"/>
              <a:ext cx="894" cy="838"/>
              <a:chOff x="7198785" y="4763559"/>
              <a:chExt cx="656167" cy="658284"/>
            </a:xfrm>
          </p:grpSpPr>
          <p:sp>
            <p:nvSpPr>
              <p:cNvPr id="92" name="Oval 33"/>
              <p:cNvSpPr>
                <a:spLocks noChangeArrowheads="1"/>
              </p:cNvSpPr>
              <p:nvPr/>
            </p:nvSpPr>
            <p:spPr bwMode="auto">
              <a:xfrm>
                <a:off x="7198785" y="4763559"/>
                <a:ext cx="656167" cy="658284"/>
              </a:xfrm>
              <a:prstGeom prst="ellipse">
                <a:avLst/>
              </a:prstGeom>
              <a:solidFill>
                <a:srgbClr val="C00000"/>
              </a:solidFill>
              <a:ln>
                <a:noFill/>
              </a:ln>
            </p:spPr>
            <p:txBody>
              <a:bodyPr/>
              <a:lstStyle/>
              <a:p>
                <a:endParaRPr lang="zh-CN" altLang="en-US" sz="2000" dirty="0"/>
              </a:p>
            </p:txBody>
          </p:sp>
          <p:sp>
            <p:nvSpPr>
              <p:cNvPr id="93" name="Freeform 46"/>
              <p:cNvSpPr>
                <a:spLocks noEditPoints="1"/>
              </p:cNvSpPr>
              <p:nvPr/>
            </p:nvSpPr>
            <p:spPr bwMode="auto">
              <a:xfrm>
                <a:off x="7359651" y="4932893"/>
                <a:ext cx="317500" cy="319617"/>
              </a:xfrm>
              <a:custGeom>
                <a:avLst/>
                <a:gdLst>
                  <a:gd name="T0" fmla="*/ 40 w 75"/>
                  <a:gd name="T1" fmla="*/ 12 h 75"/>
                  <a:gd name="T2" fmla="*/ 41 w 75"/>
                  <a:gd name="T3" fmla="*/ 18 h 75"/>
                  <a:gd name="T4" fmla="*/ 38 w 75"/>
                  <a:gd name="T5" fmla="*/ 18 h 75"/>
                  <a:gd name="T6" fmla="*/ 40 w 75"/>
                  <a:gd name="T7" fmla="*/ 11 h 75"/>
                  <a:gd name="T8" fmla="*/ 28 w 75"/>
                  <a:gd name="T9" fmla="*/ 13 h 75"/>
                  <a:gd name="T10" fmla="*/ 13 w 75"/>
                  <a:gd name="T11" fmla="*/ 29 h 75"/>
                  <a:gd name="T12" fmla="*/ 19 w 75"/>
                  <a:gd name="T13" fmla="*/ 61 h 75"/>
                  <a:gd name="T14" fmla="*/ 40 w 75"/>
                  <a:gd name="T15" fmla="*/ 69 h 75"/>
                  <a:gd name="T16" fmla="*/ 67 w 75"/>
                  <a:gd name="T17" fmla="*/ 51 h 75"/>
                  <a:gd name="T18" fmla="*/ 67 w 75"/>
                  <a:gd name="T19" fmla="*/ 51 h 75"/>
                  <a:gd name="T20" fmla="*/ 67 w 75"/>
                  <a:gd name="T21" fmla="*/ 29 h 75"/>
                  <a:gd name="T22" fmla="*/ 40 w 75"/>
                  <a:gd name="T23" fmla="*/ 11 h 75"/>
                  <a:gd name="T24" fmla="*/ 26 w 75"/>
                  <a:gd name="T25" fmla="*/ 8 h 75"/>
                  <a:gd name="T26" fmla="*/ 64 w 75"/>
                  <a:gd name="T27" fmla="*/ 15 h 75"/>
                  <a:gd name="T28" fmla="*/ 75 w 75"/>
                  <a:gd name="T29" fmla="*/ 40 h 75"/>
                  <a:gd name="T30" fmla="*/ 72 w 75"/>
                  <a:gd name="T31" fmla="*/ 53 h 75"/>
                  <a:gd name="T32" fmla="*/ 40 w 75"/>
                  <a:gd name="T33" fmla="*/ 75 h 75"/>
                  <a:gd name="T34" fmla="*/ 15 w 75"/>
                  <a:gd name="T35" fmla="*/ 65 h 75"/>
                  <a:gd name="T36" fmla="*/ 7 w 75"/>
                  <a:gd name="T37" fmla="*/ 27 h 75"/>
                  <a:gd name="T38" fmla="*/ 10 w 75"/>
                  <a:gd name="T39" fmla="*/ 21 h 75"/>
                  <a:gd name="T40" fmla="*/ 1 w 75"/>
                  <a:gd name="T41" fmla="*/ 7 h 75"/>
                  <a:gd name="T42" fmla="*/ 6 w 75"/>
                  <a:gd name="T43" fmla="*/ 1 h 75"/>
                  <a:gd name="T44" fmla="*/ 17 w 75"/>
                  <a:gd name="T45" fmla="*/ 4 h 75"/>
                  <a:gd name="T46" fmla="*/ 20 w 75"/>
                  <a:gd name="T47" fmla="*/ 11 h 75"/>
                  <a:gd name="T48" fmla="*/ 14 w 75"/>
                  <a:gd name="T49" fmla="*/ 16 h 75"/>
                  <a:gd name="T50" fmla="*/ 15 w 75"/>
                  <a:gd name="T51" fmla="*/ 15 h 75"/>
                  <a:gd name="T52" fmla="*/ 16 w 75"/>
                  <a:gd name="T53" fmla="*/ 13 h 75"/>
                  <a:gd name="T54" fmla="*/ 16 w 75"/>
                  <a:gd name="T55" fmla="*/ 8 h 75"/>
                  <a:gd name="T56" fmla="*/ 5 w 75"/>
                  <a:gd name="T57" fmla="*/ 6 h 75"/>
                  <a:gd name="T58" fmla="*/ 3 w 75"/>
                  <a:gd name="T59" fmla="*/ 11 h 75"/>
                  <a:gd name="T60" fmla="*/ 10 w 75"/>
                  <a:gd name="T61" fmla="*/ 17 h 75"/>
                  <a:gd name="T62" fmla="*/ 14 w 75"/>
                  <a:gd name="T63" fmla="*/ 16 h 75"/>
                  <a:gd name="T64" fmla="*/ 27 w 75"/>
                  <a:gd name="T65" fmla="*/ 25 h 75"/>
                  <a:gd name="T66" fmla="*/ 46 w 75"/>
                  <a:gd name="T67" fmla="*/ 33 h 75"/>
                  <a:gd name="T68" fmla="*/ 47 w 75"/>
                  <a:gd name="T69" fmla="*/ 33 h 75"/>
                  <a:gd name="T70" fmla="*/ 47 w 75"/>
                  <a:gd name="T71" fmla="*/ 33 h 75"/>
                  <a:gd name="T72" fmla="*/ 47 w 75"/>
                  <a:gd name="T73" fmla="*/ 33 h 75"/>
                  <a:gd name="T74" fmla="*/ 47 w 75"/>
                  <a:gd name="T75" fmla="*/ 34 h 75"/>
                  <a:gd name="T76" fmla="*/ 54 w 75"/>
                  <a:gd name="T77" fmla="*/ 55 h 75"/>
                  <a:gd name="T78" fmla="*/ 33 w 75"/>
                  <a:gd name="T79" fmla="*/ 48 h 75"/>
                  <a:gd name="T80" fmla="*/ 33 w 75"/>
                  <a:gd name="T81" fmla="*/ 47 h 75"/>
                  <a:gd name="T82" fmla="*/ 32 w 75"/>
                  <a:gd name="T83" fmla="*/ 47 h 75"/>
                  <a:gd name="T84" fmla="*/ 32 w 75"/>
                  <a:gd name="T85" fmla="*/ 47 h 75"/>
                  <a:gd name="T86" fmla="*/ 32 w 75"/>
                  <a:gd name="T87" fmla="*/ 46 h 75"/>
                  <a:gd name="T88" fmla="*/ 25 w 75"/>
                  <a:gd name="T89" fmla="*/ 25 h 75"/>
                  <a:gd name="T90" fmla="*/ 42 w 75"/>
                  <a:gd name="T91" fmla="*/ 35 h 75"/>
                  <a:gd name="T92" fmla="*/ 29 w 75"/>
                  <a:gd name="T93" fmla="*/ 30 h 75"/>
                  <a:gd name="T94" fmla="*/ 42 w 75"/>
                  <a:gd name="T95" fmla="*/ 35 h 75"/>
                  <a:gd name="T96" fmla="*/ 37 w 75"/>
                  <a:gd name="T97" fmla="*/ 45 h 75"/>
                  <a:gd name="T98" fmla="*/ 45 w 75"/>
                  <a:gd name="T99" fmla="*/ 37 h 75"/>
                  <a:gd name="T100" fmla="*/ 14 w 75"/>
                  <a:gd name="T101" fmla="*/ 42 h 75"/>
                  <a:gd name="T102" fmla="*/ 12 w 75"/>
                  <a:gd name="T103" fmla="*/ 40 h 75"/>
                  <a:gd name="T104" fmla="*/ 18 w 75"/>
                  <a:gd name="T105" fmla="*/ 38 h 75"/>
                  <a:gd name="T106" fmla="*/ 18 w 75"/>
                  <a:gd name="T107" fmla="*/ 42 h 75"/>
                  <a:gd name="T108" fmla="*/ 41 w 75"/>
                  <a:gd name="T109" fmla="*/ 66 h 75"/>
                  <a:gd name="T110" fmla="*/ 40 w 75"/>
                  <a:gd name="T111" fmla="*/ 68 h 75"/>
                  <a:gd name="T112" fmla="*/ 38 w 75"/>
                  <a:gd name="T113" fmla="*/ 62 h 75"/>
                  <a:gd name="T114" fmla="*/ 41 w 75"/>
                  <a:gd name="T115" fmla="*/ 62 h 75"/>
                  <a:gd name="T116" fmla="*/ 66 w 75"/>
                  <a:gd name="T117" fmla="*/ 38 h 75"/>
                  <a:gd name="T118" fmla="*/ 67 w 75"/>
                  <a:gd name="T119" fmla="*/ 40 h 75"/>
                  <a:gd name="T120" fmla="*/ 61 w 75"/>
                  <a:gd name="T121" fmla="*/ 42 h 75"/>
                  <a:gd name="T122" fmla="*/ 61 w 75"/>
                  <a:gd name="T123" fmla="*/ 3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5" h="75">
                    <a:moveTo>
                      <a:pt x="38" y="14"/>
                    </a:moveTo>
                    <a:cubicBezTo>
                      <a:pt x="38" y="13"/>
                      <a:pt x="39" y="12"/>
                      <a:pt x="40" y="12"/>
                    </a:cubicBezTo>
                    <a:cubicBezTo>
                      <a:pt x="41" y="12"/>
                      <a:pt x="41" y="13"/>
                      <a:pt x="41" y="14"/>
                    </a:cubicBezTo>
                    <a:cubicBezTo>
                      <a:pt x="41" y="18"/>
                      <a:pt x="41" y="18"/>
                      <a:pt x="41" y="18"/>
                    </a:cubicBezTo>
                    <a:cubicBezTo>
                      <a:pt x="41" y="19"/>
                      <a:pt x="41" y="20"/>
                      <a:pt x="40" y="20"/>
                    </a:cubicBezTo>
                    <a:cubicBezTo>
                      <a:pt x="39" y="20"/>
                      <a:pt x="38" y="19"/>
                      <a:pt x="38" y="18"/>
                    </a:cubicBezTo>
                    <a:cubicBezTo>
                      <a:pt x="38" y="14"/>
                      <a:pt x="38" y="14"/>
                      <a:pt x="38" y="14"/>
                    </a:cubicBezTo>
                    <a:close/>
                    <a:moveTo>
                      <a:pt x="40" y="11"/>
                    </a:moveTo>
                    <a:cubicBezTo>
                      <a:pt x="40" y="11"/>
                      <a:pt x="40" y="11"/>
                      <a:pt x="40" y="11"/>
                    </a:cubicBezTo>
                    <a:cubicBezTo>
                      <a:pt x="36" y="11"/>
                      <a:pt x="32" y="12"/>
                      <a:pt x="28" y="13"/>
                    </a:cubicBezTo>
                    <a:cubicBezTo>
                      <a:pt x="25" y="14"/>
                      <a:pt x="22" y="17"/>
                      <a:pt x="19" y="19"/>
                    </a:cubicBezTo>
                    <a:cubicBezTo>
                      <a:pt x="16" y="22"/>
                      <a:pt x="14" y="25"/>
                      <a:pt x="13" y="29"/>
                    </a:cubicBezTo>
                    <a:cubicBezTo>
                      <a:pt x="11" y="32"/>
                      <a:pt x="10" y="36"/>
                      <a:pt x="10" y="40"/>
                    </a:cubicBezTo>
                    <a:cubicBezTo>
                      <a:pt x="10" y="48"/>
                      <a:pt x="13" y="55"/>
                      <a:pt x="19" y="61"/>
                    </a:cubicBezTo>
                    <a:cubicBezTo>
                      <a:pt x="22" y="63"/>
                      <a:pt x="25" y="66"/>
                      <a:pt x="28" y="67"/>
                    </a:cubicBezTo>
                    <a:cubicBezTo>
                      <a:pt x="32" y="68"/>
                      <a:pt x="36" y="69"/>
                      <a:pt x="40" y="69"/>
                    </a:cubicBezTo>
                    <a:cubicBezTo>
                      <a:pt x="47" y="69"/>
                      <a:pt x="55" y="66"/>
                      <a:pt x="60" y="61"/>
                    </a:cubicBezTo>
                    <a:cubicBezTo>
                      <a:pt x="63" y="58"/>
                      <a:pt x="65" y="55"/>
                      <a:pt x="67" y="51"/>
                    </a:cubicBezTo>
                    <a:cubicBezTo>
                      <a:pt x="67" y="51"/>
                      <a:pt x="67" y="51"/>
                      <a:pt x="67" y="51"/>
                    </a:cubicBezTo>
                    <a:cubicBezTo>
                      <a:pt x="67" y="51"/>
                      <a:pt x="67" y="51"/>
                      <a:pt x="67" y="51"/>
                    </a:cubicBezTo>
                    <a:cubicBezTo>
                      <a:pt x="68" y="48"/>
                      <a:pt x="69" y="44"/>
                      <a:pt x="69" y="40"/>
                    </a:cubicBezTo>
                    <a:cubicBezTo>
                      <a:pt x="69" y="36"/>
                      <a:pt x="68" y="32"/>
                      <a:pt x="67" y="29"/>
                    </a:cubicBezTo>
                    <a:cubicBezTo>
                      <a:pt x="65" y="25"/>
                      <a:pt x="63" y="22"/>
                      <a:pt x="60" y="19"/>
                    </a:cubicBezTo>
                    <a:cubicBezTo>
                      <a:pt x="55" y="14"/>
                      <a:pt x="48" y="11"/>
                      <a:pt x="40" y="11"/>
                    </a:cubicBezTo>
                    <a:close/>
                    <a:moveTo>
                      <a:pt x="26" y="8"/>
                    </a:moveTo>
                    <a:cubicBezTo>
                      <a:pt x="26" y="8"/>
                      <a:pt x="26" y="8"/>
                      <a:pt x="26" y="8"/>
                    </a:cubicBezTo>
                    <a:cubicBezTo>
                      <a:pt x="30" y="6"/>
                      <a:pt x="35" y="5"/>
                      <a:pt x="40" y="5"/>
                    </a:cubicBezTo>
                    <a:cubicBezTo>
                      <a:pt x="49" y="5"/>
                      <a:pt x="58" y="9"/>
                      <a:pt x="64" y="15"/>
                    </a:cubicBezTo>
                    <a:cubicBezTo>
                      <a:pt x="68" y="18"/>
                      <a:pt x="70" y="22"/>
                      <a:pt x="72" y="27"/>
                    </a:cubicBezTo>
                    <a:cubicBezTo>
                      <a:pt x="74" y="31"/>
                      <a:pt x="75" y="35"/>
                      <a:pt x="75" y="40"/>
                    </a:cubicBezTo>
                    <a:cubicBezTo>
                      <a:pt x="75" y="45"/>
                      <a:pt x="74" y="49"/>
                      <a:pt x="72" y="53"/>
                    </a:cubicBezTo>
                    <a:cubicBezTo>
                      <a:pt x="72" y="53"/>
                      <a:pt x="72" y="53"/>
                      <a:pt x="72" y="53"/>
                    </a:cubicBezTo>
                    <a:cubicBezTo>
                      <a:pt x="70" y="58"/>
                      <a:pt x="68" y="62"/>
                      <a:pt x="64" y="65"/>
                    </a:cubicBezTo>
                    <a:cubicBezTo>
                      <a:pt x="58" y="71"/>
                      <a:pt x="49" y="75"/>
                      <a:pt x="40" y="75"/>
                    </a:cubicBezTo>
                    <a:cubicBezTo>
                      <a:pt x="35" y="75"/>
                      <a:pt x="30" y="74"/>
                      <a:pt x="26" y="72"/>
                    </a:cubicBezTo>
                    <a:cubicBezTo>
                      <a:pt x="22" y="71"/>
                      <a:pt x="18" y="68"/>
                      <a:pt x="15" y="65"/>
                    </a:cubicBezTo>
                    <a:cubicBezTo>
                      <a:pt x="8" y="58"/>
                      <a:pt x="5" y="49"/>
                      <a:pt x="5" y="40"/>
                    </a:cubicBezTo>
                    <a:cubicBezTo>
                      <a:pt x="5" y="35"/>
                      <a:pt x="6" y="31"/>
                      <a:pt x="7" y="27"/>
                    </a:cubicBezTo>
                    <a:cubicBezTo>
                      <a:pt x="8" y="25"/>
                      <a:pt x="9" y="23"/>
                      <a:pt x="10" y="21"/>
                    </a:cubicBezTo>
                    <a:cubicBezTo>
                      <a:pt x="10" y="21"/>
                      <a:pt x="10" y="21"/>
                      <a:pt x="10" y="21"/>
                    </a:cubicBezTo>
                    <a:cubicBezTo>
                      <a:pt x="4" y="21"/>
                      <a:pt x="0" y="16"/>
                      <a:pt x="0" y="11"/>
                    </a:cubicBezTo>
                    <a:cubicBezTo>
                      <a:pt x="0" y="9"/>
                      <a:pt x="0" y="8"/>
                      <a:pt x="1" y="7"/>
                    </a:cubicBezTo>
                    <a:cubicBezTo>
                      <a:pt x="1" y="6"/>
                      <a:pt x="2" y="5"/>
                      <a:pt x="3" y="4"/>
                    </a:cubicBezTo>
                    <a:cubicBezTo>
                      <a:pt x="4" y="3"/>
                      <a:pt x="5" y="2"/>
                      <a:pt x="6" y="1"/>
                    </a:cubicBezTo>
                    <a:cubicBezTo>
                      <a:pt x="6" y="1"/>
                      <a:pt x="6" y="1"/>
                      <a:pt x="6" y="1"/>
                    </a:cubicBezTo>
                    <a:cubicBezTo>
                      <a:pt x="10" y="0"/>
                      <a:pt x="14" y="1"/>
                      <a:pt x="17" y="4"/>
                    </a:cubicBezTo>
                    <a:cubicBezTo>
                      <a:pt x="18" y="5"/>
                      <a:pt x="19" y="6"/>
                      <a:pt x="19" y="7"/>
                    </a:cubicBezTo>
                    <a:cubicBezTo>
                      <a:pt x="20" y="8"/>
                      <a:pt x="20" y="9"/>
                      <a:pt x="20" y="11"/>
                    </a:cubicBezTo>
                    <a:cubicBezTo>
                      <a:pt x="22" y="10"/>
                      <a:pt x="24" y="8"/>
                      <a:pt x="26" y="8"/>
                    </a:cubicBezTo>
                    <a:close/>
                    <a:moveTo>
                      <a:pt x="14" y="16"/>
                    </a:moveTo>
                    <a:cubicBezTo>
                      <a:pt x="14" y="16"/>
                      <a:pt x="14" y="16"/>
                      <a:pt x="14" y="16"/>
                    </a:cubicBezTo>
                    <a:cubicBezTo>
                      <a:pt x="14" y="16"/>
                      <a:pt x="14" y="16"/>
                      <a:pt x="15" y="15"/>
                    </a:cubicBezTo>
                    <a:cubicBezTo>
                      <a:pt x="16" y="14"/>
                      <a:pt x="16" y="14"/>
                      <a:pt x="16" y="14"/>
                    </a:cubicBezTo>
                    <a:cubicBezTo>
                      <a:pt x="16" y="14"/>
                      <a:pt x="16" y="14"/>
                      <a:pt x="16" y="13"/>
                    </a:cubicBezTo>
                    <a:cubicBezTo>
                      <a:pt x="17" y="13"/>
                      <a:pt x="17" y="12"/>
                      <a:pt x="17" y="11"/>
                    </a:cubicBezTo>
                    <a:cubicBezTo>
                      <a:pt x="17" y="10"/>
                      <a:pt x="17" y="9"/>
                      <a:pt x="16" y="8"/>
                    </a:cubicBezTo>
                    <a:cubicBezTo>
                      <a:pt x="15" y="5"/>
                      <a:pt x="11" y="3"/>
                      <a:pt x="8" y="5"/>
                    </a:cubicBezTo>
                    <a:cubicBezTo>
                      <a:pt x="7" y="5"/>
                      <a:pt x="6" y="6"/>
                      <a:pt x="5" y="6"/>
                    </a:cubicBezTo>
                    <a:cubicBezTo>
                      <a:pt x="5" y="7"/>
                      <a:pt x="4" y="7"/>
                      <a:pt x="4" y="8"/>
                    </a:cubicBezTo>
                    <a:cubicBezTo>
                      <a:pt x="4" y="9"/>
                      <a:pt x="3" y="10"/>
                      <a:pt x="3" y="11"/>
                    </a:cubicBezTo>
                    <a:cubicBezTo>
                      <a:pt x="3" y="13"/>
                      <a:pt x="5" y="16"/>
                      <a:pt x="8" y="17"/>
                    </a:cubicBezTo>
                    <a:cubicBezTo>
                      <a:pt x="8" y="17"/>
                      <a:pt x="9" y="17"/>
                      <a:pt x="10" y="17"/>
                    </a:cubicBezTo>
                    <a:cubicBezTo>
                      <a:pt x="11" y="17"/>
                      <a:pt x="12" y="17"/>
                      <a:pt x="13" y="17"/>
                    </a:cubicBezTo>
                    <a:cubicBezTo>
                      <a:pt x="13" y="17"/>
                      <a:pt x="13" y="17"/>
                      <a:pt x="14" y="16"/>
                    </a:cubicBezTo>
                    <a:close/>
                    <a:moveTo>
                      <a:pt x="27" y="25"/>
                    </a:moveTo>
                    <a:cubicBezTo>
                      <a:pt x="27" y="25"/>
                      <a:pt x="27" y="25"/>
                      <a:pt x="27" y="25"/>
                    </a:cubicBezTo>
                    <a:cubicBezTo>
                      <a:pt x="46" y="33"/>
                      <a:pt x="46" y="33"/>
                      <a:pt x="46" y="33"/>
                    </a:cubicBezTo>
                    <a:cubicBezTo>
                      <a:pt x="46" y="33"/>
                      <a:pt x="46" y="33"/>
                      <a:pt x="46" y="33"/>
                    </a:cubicBezTo>
                    <a:cubicBezTo>
                      <a:pt x="46" y="33"/>
                      <a:pt x="46" y="33"/>
                      <a:pt x="46" y="33"/>
                    </a:cubicBezTo>
                    <a:cubicBezTo>
                      <a:pt x="46" y="33"/>
                      <a:pt x="47" y="33"/>
                      <a:pt x="47" y="33"/>
                    </a:cubicBezTo>
                    <a:cubicBezTo>
                      <a:pt x="47" y="33"/>
                      <a:pt x="47" y="33"/>
                      <a:pt x="47" y="33"/>
                    </a:cubicBezTo>
                    <a:cubicBezTo>
                      <a:pt x="47" y="33"/>
                      <a:pt x="47" y="33"/>
                      <a:pt x="47" y="33"/>
                    </a:cubicBezTo>
                    <a:cubicBezTo>
                      <a:pt x="47" y="33"/>
                      <a:pt x="47" y="33"/>
                      <a:pt x="47" y="33"/>
                    </a:cubicBezTo>
                    <a:cubicBezTo>
                      <a:pt x="47" y="33"/>
                      <a:pt x="47" y="33"/>
                      <a:pt x="47" y="33"/>
                    </a:cubicBezTo>
                    <a:cubicBezTo>
                      <a:pt x="47" y="33"/>
                      <a:pt x="47" y="34"/>
                      <a:pt x="47" y="34"/>
                    </a:cubicBezTo>
                    <a:cubicBezTo>
                      <a:pt x="47" y="34"/>
                      <a:pt x="47" y="34"/>
                      <a:pt x="47" y="34"/>
                    </a:cubicBezTo>
                    <a:cubicBezTo>
                      <a:pt x="55" y="53"/>
                      <a:pt x="55" y="53"/>
                      <a:pt x="55" y="53"/>
                    </a:cubicBezTo>
                    <a:cubicBezTo>
                      <a:pt x="55" y="54"/>
                      <a:pt x="55" y="55"/>
                      <a:pt x="54" y="55"/>
                    </a:cubicBezTo>
                    <a:cubicBezTo>
                      <a:pt x="53" y="55"/>
                      <a:pt x="53" y="55"/>
                      <a:pt x="53" y="55"/>
                    </a:cubicBezTo>
                    <a:cubicBezTo>
                      <a:pt x="33" y="48"/>
                      <a:pt x="33" y="48"/>
                      <a:pt x="33" y="48"/>
                    </a:cubicBezTo>
                    <a:cubicBezTo>
                      <a:pt x="33" y="48"/>
                      <a:pt x="33" y="48"/>
                      <a:pt x="33" y="48"/>
                    </a:cubicBezTo>
                    <a:cubicBezTo>
                      <a:pt x="33" y="47"/>
                      <a:pt x="33" y="47"/>
                      <a:pt x="33" y="47"/>
                    </a:cubicBezTo>
                    <a:cubicBezTo>
                      <a:pt x="32" y="47"/>
                      <a:pt x="32" y="47"/>
                      <a:pt x="32" y="47"/>
                    </a:cubicBezTo>
                    <a:cubicBezTo>
                      <a:pt x="32" y="47"/>
                      <a:pt x="32" y="47"/>
                      <a:pt x="32" y="47"/>
                    </a:cubicBezTo>
                    <a:cubicBezTo>
                      <a:pt x="32" y="47"/>
                      <a:pt x="32" y="47"/>
                      <a:pt x="32" y="47"/>
                    </a:cubicBezTo>
                    <a:cubicBezTo>
                      <a:pt x="32" y="47"/>
                      <a:pt x="32" y="47"/>
                      <a:pt x="32" y="47"/>
                    </a:cubicBezTo>
                    <a:cubicBezTo>
                      <a:pt x="32" y="47"/>
                      <a:pt x="32" y="47"/>
                      <a:pt x="32" y="46"/>
                    </a:cubicBezTo>
                    <a:cubicBezTo>
                      <a:pt x="32" y="46"/>
                      <a:pt x="32" y="46"/>
                      <a:pt x="32" y="46"/>
                    </a:cubicBezTo>
                    <a:cubicBezTo>
                      <a:pt x="24" y="27"/>
                      <a:pt x="24" y="27"/>
                      <a:pt x="24" y="27"/>
                    </a:cubicBezTo>
                    <a:cubicBezTo>
                      <a:pt x="24" y="26"/>
                      <a:pt x="25" y="25"/>
                      <a:pt x="25" y="25"/>
                    </a:cubicBezTo>
                    <a:cubicBezTo>
                      <a:pt x="26" y="25"/>
                      <a:pt x="26" y="25"/>
                      <a:pt x="27" y="25"/>
                    </a:cubicBezTo>
                    <a:close/>
                    <a:moveTo>
                      <a:pt x="42" y="35"/>
                    </a:moveTo>
                    <a:cubicBezTo>
                      <a:pt x="42" y="35"/>
                      <a:pt x="42" y="35"/>
                      <a:pt x="42" y="35"/>
                    </a:cubicBezTo>
                    <a:cubicBezTo>
                      <a:pt x="29" y="30"/>
                      <a:pt x="29" y="30"/>
                      <a:pt x="29" y="30"/>
                    </a:cubicBezTo>
                    <a:cubicBezTo>
                      <a:pt x="34" y="43"/>
                      <a:pt x="34" y="43"/>
                      <a:pt x="34" y="43"/>
                    </a:cubicBezTo>
                    <a:cubicBezTo>
                      <a:pt x="42" y="35"/>
                      <a:pt x="42" y="35"/>
                      <a:pt x="42" y="35"/>
                    </a:cubicBezTo>
                    <a:close/>
                    <a:moveTo>
                      <a:pt x="37" y="45"/>
                    </a:moveTo>
                    <a:cubicBezTo>
                      <a:pt x="37" y="45"/>
                      <a:pt x="37" y="45"/>
                      <a:pt x="37" y="45"/>
                    </a:cubicBezTo>
                    <a:cubicBezTo>
                      <a:pt x="50" y="50"/>
                      <a:pt x="50" y="50"/>
                      <a:pt x="50" y="50"/>
                    </a:cubicBezTo>
                    <a:cubicBezTo>
                      <a:pt x="45" y="37"/>
                      <a:pt x="45" y="37"/>
                      <a:pt x="45" y="37"/>
                    </a:cubicBezTo>
                    <a:cubicBezTo>
                      <a:pt x="37" y="45"/>
                      <a:pt x="37" y="45"/>
                      <a:pt x="37" y="45"/>
                    </a:cubicBezTo>
                    <a:close/>
                    <a:moveTo>
                      <a:pt x="14" y="42"/>
                    </a:moveTo>
                    <a:cubicBezTo>
                      <a:pt x="14" y="42"/>
                      <a:pt x="14" y="42"/>
                      <a:pt x="14" y="42"/>
                    </a:cubicBezTo>
                    <a:cubicBezTo>
                      <a:pt x="13" y="42"/>
                      <a:pt x="12" y="41"/>
                      <a:pt x="12" y="40"/>
                    </a:cubicBezTo>
                    <a:cubicBezTo>
                      <a:pt x="12" y="39"/>
                      <a:pt x="13" y="38"/>
                      <a:pt x="14" y="38"/>
                    </a:cubicBezTo>
                    <a:cubicBezTo>
                      <a:pt x="18" y="38"/>
                      <a:pt x="18" y="38"/>
                      <a:pt x="18" y="38"/>
                    </a:cubicBezTo>
                    <a:cubicBezTo>
                      <a:pt x="19" y="38"/>
                      <a:pt x="20" y="39"/>
                      <a:pt x="20" y="40"/>
                    </a:cubicBezTo>
                    <a:cubicBezTo>
                      <a:pt x="20" y="41"/>
                      <a:pt x="19" y="42"/>
                      <a:pt x="18" y="42"/>
                    </a:cubicBezTo>
                    <a:cubicBezTo>
                      <a:pt x="14" y="42"/>
                      <a:pt x="14" y="42"/>
                      <a:pt x="14" y="42"/>
                    </a:cubicBezTo>
                    <a:close/>
                    <a:moveTo>
                      <a:pt x="41" y="66"/>
                    </a:moveTo>
                    <a:cubicBezTo>
                      <a:pt x="41" y="66"/>
                      <a:pt x="41" y="66"/>
                      <a:pt x="41" y="66"/>
                    </a:cubicBezTo>
                    <a:cubicBezTo>
                      <a:pt x="41" y="67"/>
                      <a:pt x="41" y="68"/>
                      <a:pt x="40" y="68"/>
                    </a:cubicBezTo>
                    <a:cubicBezTo>
                      <a:pt x="39" y="68"/>
                      <a:pt x="38" y="67"/>
                      <a:pt x="38" y="66"/>
                    </a:cubicBezTo>
                    <a:cubicBezTo>
                      <a:pt x="38" y="62"/>
                      <a:pt x="38" y="62"/>
                      <a:pt x="38" y="62"/>
                    </a:cubicBezTo>
                    <a:cubicBezTo>
                      <a:pt x="38" y="61"/>
                      <a:pt x="39" y="60"/>
                      <a:pt x="40" y="60"/>
                    </a:cubicBezTo>
                    <a:cubicBezTo>
                      <a:pt x="41" y="60"/>
                      <a:pt x="41" y="61"/>
                      <a:pt x="41" y="62"/>
                    </a:cubicBezTo>
                    <a:cubicBezTo>
                      <a:pt x="41" y="66"/>
                      <a:pt x="41" y="66"/>
                      <a:pt x="41" y="66"/>
                    </a:cubicBezTo>
                    <a:close/>
                    <a:moveTo>
                      <a:pt x="66" y="38"/>
                    </a:moveTo>
                    <a:cubicBezTo>
                      <a:pt x="66" y="38"/>
                      <a:pt x="66" y="38"/>
                      <a:pt x="66" y="38"/>
                    </a:cubicBezTo>
                    <a:cubicBezTo>
                      <a:pt x="67" y="38"/>
                      <a:pt x="67" y="39"/>
                      <a:pt x="67" y="40"/>
                    </a:cubicBezTo>
                    <a:cubicBezTo>
                      <a:pt x="67" y="41"/>
                      <a:pt x="67" y="42"/>
                      <a:pt x="66" y="42"/>
                    </a:cubicBezTo>
                    <a:cubicBezTo>
                      <a:pt x="61" y="42"/>
                      <a:pt x="61" y="42"/>
                      <a:pt x="61" y="42"/>
                    </a:cubicBezTo>
                    <a:cubicBezTo>
                      <a:pt x="60" y="42"/>
                      <a:pt x="59" y="41"/>
                      <a:pt x="59" y="40"/>
                    </a:cubicBezTo>
                    <a:cubicBezTo>
                      <a:pt x="59" y="39"/>
                      <a:pt x="60" y="38"/>
                      <a:pt x="61" y="38"/>
                    </a:cubicBezTo>
                    <a:cubicBezTo>
                      <a:pt x="66" y="38"/>
                      <a:pt x="66" y="38"/>
                      <a:pt x="66" y="3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000"/>
              </a:p>
            </p:txBody>
          </p:sp>
        </p:grpSp>
        <p:sp>
          <p:nvSpPr>
            <p:cNvPr id="94" name="Rectangle 56"/>
            <p:cNvSpPr>
              <a:spLocks noChangeArrowheads="1"/>
            </p:cNvSpPr>
            <p:nvPr/>
          </p:nvSpPr>
          <p:spPr bwMode="auto">
            <a:xfrm>
              <a:off x="9743" y="7577"/>
              <a:ext cx="934"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en-US" altLang="zh-CN" sz="2000" b="1" dirty="0">
                  <a:latin typeface="微软雅黑" panose="020B0503020204020204" charset="-122"/>
                </a:rPr>
                <a:t>T</a:t>
              </a:r>
              <a:r>
                <a:rPr lang="zh-CN" altLang="en-US" sz="2000" b="1" dirty="0">
                  <a:latin typeface="微软雅黑" panose="020B0503020204020204" charset="-122"/>
                  <a:sym typeface="+mn-ea"/>
                </a:rPr>
                <a:t>日</a:t>
              </a:r>
              <a:endParaRPr lang="zh-CN" altLang="en-US" sz="2000" b="1" dirty="0">
                <a:latin typeface="微软雅黑" panose="020B0503020204020204" charset="-122"/>
                <a:sym typeface="+mn-ea"/>
              </a:endParaRPr>
            </a:p>
          </p:txBody>
        </p:sp>
      </p:grpSp>
      <p:grpSp>
        <p:nvGrpSpPr>
          <p:cNvPr id="12" name="组合 11"/>
          <p:cNvGrpSpPr/>
          <p:nvPr/>
        </p:nvGrpSpPr>
        <p:grpSpPr>
          <a:xfrm>
            <a:off x="3875828" y="2363470"/>
            <a:ext cx="1899920" cy="2353310"/>
            <a:chOff x="11650" y="4911"/>
            <a:chExt cx="2992" cy="3706"/>
          </a:xfrm>
        </p:grpSpPr>
        <p:sp>
          <p:nvSpPr>
            <p:cNvPr id="104" name="Oval 34"/>
            <p:cNvSpPr>
              <a:spLocks noChangeArrowheads="1"/>
            </p:cNvSpPr>
            <p:nvPr/>
          </p:nvSpPr>
          <p:spPr bwMode="auto">
            <a:xfrm>
              <a:off x="12981" y="6928"/>
              <a:ext cx="323" cy="302"/>
            </a:xfrm>
            <a:prstGeom prst="ellipse">
              <a:avLst/>
            </a:prstGeom>
            <a:solidFill>
              <a:srgbClr val="D8A941"/>
            </a:solidFill>
            <a:ln w="12700">
              <a:solidFill>
                <a:srgbClr val="FFFFFF"/>
              </a:solidFill>
              <a:round/>
            </a:ln>
          </p:spPr>
          <p:txBody>
            <a:bodyPr/>
            <a:lstStyle/>
            <a:p>
              <a:endParaRPr lang="zh-CN" altLang="en-US" sz="2000"/>
            </a:p>
          </p:txBody>
        </p:sp>
        <p:sp>
          <p:nvSpPr>
            <p:cNvPr id="105" name="Rectangle 55"/>
            <p:cNvSpPr>
              <a:spLocks noChangeArrowheads="1"/>
            </p:cNvSpPr>
            <p:nvPr/>
          </p:nvSpPr>
          <p:spPr bwMode="auto">
            <a:xfrm>
              <a:off x="11650" y="6069"/>
              <a:ext cx="2984"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D8A941"/>
                  </a:solidFill>
                  <a:latin typeface="微软雅黑" panose="020B0503020204020204" charset="-122"/>
                </a:rPr>
                <a:t>签署转让协议</a:t>
              </a:r>
              <a:endParaRPr lang="zh-CN" altLang="en-US" sz="2000" b="1" dirty="0">
                <a:solidFill>
                  <a:srgbClr val="D8A941"/>
                </a:solidFill>
                <a:latin typeface="微软雅黑" panose="020B0503020204020204" charset="-122"/>
              </a:endParaRPr>
            </a:p>
          </p:txBody>
        </p:sp>
        <p:sp>
          <p:nvSpPr>
            <p:cNvPr id="106" name="Rectangle 56"/>
            <p:cNvSpPr>
              <a:spLocks noChangeArrowheads="1"/>
            </p:cNvSpPr>
            <p:nvPr/>
          </p:nvSpPr>
          <p:spPr bwMode="auto">
            <a:xfrm>
              <a:off x="11702" y="7465"/>
              <a:ext cx="2940"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2000" b="1" dirty="0">
                  <a:latin typeface="微软雅黑" panose="020B0503020204020204" charset="-122"/>
                </a:rPr>
                <a:t>结果确认后</a:t>
              </a:r>
              <a:endParaRPr lang="zh-CN" altLang="en-US" sz="2000" b="1" dirty="0">
                <a:latin typeface="微软雅黑" panose="020B0503020204020204" charset="-122"/>
              </a:endParaRPr>
            </a:p>
            <a:p>
              <a:pPr algn="ctr">
                <a:lnSpc>
                  <a:spcPct val="120000"/>
                </a:lnSpc>
              </a:pPr>
              <a:r>
                <a:rPr lang="en-US" altLang="zh-CN" sz="2000" b="1" dirty="0">
                  <a:latin typeface="微软雅黑" panose="020B0503020204020204" charset="-122"/>
                </a:rPr>
                <a:t>15</a:t>
              </a:r>
              <a:r>
                <a:rPr lang="zh-CN" altLang="en-US" sz="2000" b="1" dirty="0">
                  <a:latin typeface="微软雅黑" panose="020B0503020204020204" charset="-122"/>
                </a:rPr>
                <a:t>个</a:t>
              </a:r>
              <a:r>
                <a:rPr lang="zh-CN" altLang="en-US" sz="2000" b="1" dirty="0">
                  <a:latin typeface="微软雅黑" panose="020B0503020204020204" charset="-122"/>
                  <a:sym typeface="+mn-ea"/>
                </a:rPr>
                <a:t>工作</a:t>
              </a:r>
              <a:r>
                <a:rPr lang="zh-CN" altLang="en-US" sz="2000" b="1" dirty="0">
                  <a:latin typeface="微软雅黑" panose="020B0503020204020204" charset="-122"/>
                </a:rPr>
                <a:t>日</a:t>
              </a:r>
              <a:endParaRPr lang="zh-CN" altLang="en-US" sz="2000" b="1" dirty="0">
                <a:latin typeface="微软雅黑" panose="020B0503020204020204" charset="-122"/>
              </a:endParaRPr>
            </a:p>
          </p:txBody>
        </p:sp>
        <p:grpSp>
          <p:nvGrpSpPr>
            <p:cNvPr id="7" name="组合 6"/>
            <p:cNvGrpSpPr/>
            <p:nvPr/>
          </p:nvGrpSpPr>
          <p:grpSpPr>
            <a:xfrm>
              <a:off x="12695" y="4911"/>
              <a:ext cx="894" cy="838"/>
              <a:chOff x="12695" y="4460"/>
              <a:chExt cx="894" cy="838"/>
            </a:xfrm>
          </p:grpSpPr>
          <p:sp>
            <p:nvSpPr>
              <p:cNvPr id="59" name="Oval 33"/>
              <p:cNvSpPr>
                <a:spLocks noChangeArrowheads="1"/>
              </p:cNvSpPr>
              <p:nvPr/>
            </p:nvSpPr>
            <p:spPr bwMode="auto">
              <a:xfrm>
                <a:off x="12695" y="4460"/>
                <a:ext cx="894" cy="838"/>
              </a:xfrm>
              <a:prstGeom prst="ellipse">
                <a:avLst/>
              </a:prstGeom>
              <a:solidFill>
                <a:srgbClr val="D8A940"/>
              </a:solidFill>
              <a:ln>
                <a:noFill/>
              </a:ln>
            </p:spPr>
            <p:txBody>
              <a:bodyPr/>
              <a:lstStyle/>
              <a:p>
                <a:endParaRPr lang="zh-CN" altLang="en-US" sz="2000" dirty="0"/>
              </a:p>
            </p:txBody>
          </p:sp>
          <p:sp>
            <p:nvSpPr>
              <p:cNvPr id="116" name="Freeform 17"/>
              <p:cNvSpPr>
                <a:spLocks noEditPoints="1"/>
              </p:cNvSpPr>
              <p:nvPr/>
            </p:nvSpPr>
            <p:spPr bwMode="auto">
              <a:xfrm>
                <a:off x="12945" y="4650"/>
                <a:ext cx="433" cy="418"/>
              </a:xfrm>
              <a:custGeom>
                <a:avLst/>
                <a:gdLst>
                  <a:gd name="T0" fmla="*/ 38 w 75"/>
                  <a:gd name="T1" fmla="*/ 20 h 77"/>
                  <a:gd name="T2" fmla="*/ 55 w 75"/>
                  <a:gd name="T3" fmla="*/ 38 h 77"/>
                  <a:gd name="T4" fmla="*/ 60 w 75"/>
                  <a:gd name="T5" fmla="*/ 34 h 77"/>
                  <a:gd name="T6" fmla="*/ 42 w 75"/>
                  <a:gd name="T7" fmla="*/ 16 h 77"/>
                  <a:gd name="T8" fmla="*/ 38 w 75"/>
                  <a:gd name="T9" fmla="*/ 20 h 77"/>
                  <a:gd name="T10" fmla="*/ 53 w 75"/>
                  <a:gd name="T11" fmla="*/ 40 h 77"/>
                  <a:gd name="T12" fmla="*/ 53 w 75"/>
                  <a:gd name="T13" fmla="*/ 40 h 77"/>
                  <a:gd name="T14" fmla="*/ 35 w 75"/>
                  <a:gd name="T15" fmla="*/ 23 h 77"/>
                  <a:gd name="T16" fmla="*/ 13 w 75"/>
                  <a:gd name="T17" fmla="*/ 45 h 77"/>
                  <a:gd name="T18" fmla="*/ 30 w 75"/>
                  <a:gd name="T19" fmla="*/ 63 h 77"/>
                  <a:gd name="T20" fmla="*/ 53 w 75"/>
                  <a:gd name="T21" fmla="*/ 40 h 77"/>
                  <a:gd name="T22" fmla="*/ 45 w 75"/>
                  <a:gd name="T23" fmla="*/ 5 h 77"/>
                  <a:gd name="T24" fmla="*/ 45 w 75"/>
                  <a:gd name="T25" fmla="*/ 5 h 77"/>
                  <a:gd name="T26" fmla="*/ 57 w 75"/>
                  <a:gd name="T27" fmla="*/ 1 h 77"/>
                  <a:gd name="T28" fmla="*/ 75 w 75"/>
                  <a:gd name="T29" fmla="*/ 19 h 77"/>
                  <a:gd name="T30" fmla="*/ 70 w 75"/>
                  <a:gd name="T31" fmla="*/ 32 h 77"/>
                  <a:gd name="T32" fmla="*/ 33 w 75"/>
                  <a:gd name="T33" fmla="*/ 68 h 77"/>
                  <a:gd name="T34" fmla="*/ 23 w 75"/>
                  <a:gd name="T35" fmla="*/ 73 h 77"/>
                  <a:gd name="T36" fmla="*/ 14 w 75"/>
                  <a:gd name="T37" fmla="*/ 72 h 77"/>
                  <a:gd name="T38" fmla="*/ 13 w 75"/>
                  <a:gd name="T39" fmla="*/ 73 h 77"/>
                  <a:gd name="T40" fmla="*/ 13 w 75"/>
                  <a:gd name="T41" fmla="*/ 73 h 77"/>
                  <a:gd name="T42" fmla="*/ 13 w 75"/>
                  <a:gd name="T43" fmla="*/ 73 h 77"/>
                  <a:gd name="T44" fmla="*/ 1 w 75"/>
                  <a:gd name="T45" fmla="*/ 71 h 77"/>
                  <a:gd name="T46" fmla="*/ 3 w 75"/>
                  <a:gd name="T47" fmla="*/ 63 h 77"/>
                  <a:gd name="T48" fmla="*/ 4 w 75"/>
                  <a:gd name="T49" fmla="*/ 62 h 77"/>
                  <a:gd name="T50" fmla="*/ 3 w 75"/>
                  <a:gd name="T51" fmla="*/ 53 h 77"/>
                  <a:gd name="T52" fmla="*/ 8 w 75"/>
                  <a:gd name="T53" fmla="*/ 42 h 77"/>
                  <a:gd name="T54" fmla="*/ 43 w 75"/>
                  <a:gd name="T55" fmla="*/ 7 h 77"/>
                  <a:gd name="T56" fmla="*/ 40 w 75"/>
                  <a:gd name="T57" fmla="*/ 5 h 77"/>
                  <a:gd name="T58" fmla="*/ 21 w 75"/>
                  <a:gd name="T59" fmla="*/ 25 h 77"/>
                  <a:gd name="T60" fmla="*/ 18 w 75"/>
                  <a:gd name="T61" fmla="*/ 25 h 77"/>
                  <a:gd name="T62" fmla="*/ 18 w 75"/>
                  <a:gd name="T63" fmla="*/ 22 h 77"/>
                  <a:gd name="T64" fmla="*/ 39 w 75"/>
                  <a:gd name="T65" fmla="*/ 1 h 77"/>
                  <a:gd name="T66" fmla="*/ 41 w 75"/>
                  <a:gd name="T67" fmla="*/ 1 h 77"/>
                  <a:gd name="T68" fmla="*/ 45 w 75"/>
                  <a:gd name="T69" fmla="*/ 5 h 77"/>
                  <a:gd name="T70" fmla="*/ 57 w 75"/>
                  <a:gd name="T71" fmla="*/ 7 h 77"/>
                  <a:gd name="T72" fmla="*/ 57 w 75"/>
                  <a:gd name="T73" fmla="*/ 7 h 77"/>
                  <a:gd name="T74" fmla="*/ 48 w 75"/>
                  <a:gd name="T75" fmla="*/ 10 h 77"/>
                  <a:gd name="T76" fmla="*/ 48 w 75"/>
                  <a:gd name="T77" fmla="*/ 10 h 77"/>
                  <a:gd name="T78" fmla="*/ 45 w 75"/>
                  <a:gd name="T79" fmla="*/ 14 h 77"/>
                  <a:gd name="T80" fmla="*/ 62 w 75"/>
                  <a:gd name="T81" fmla="*/ 31 h 77"/>
                  <a:gd name="T82" fmla="*/ 66 w 75"/>
                  <a:gd name="T83" fmla="*/ 28 h 77"/>
                  <a:gd name="T84" fmla="*/ 69 w 75"/>
                  <a:gd name="T85" fmla="*/ 19 h 77"/>
                  <a:gd name="T86" fmla="*/ 57 w 75"/>
                  <a:gd name="T87" fmla="*/ 7 h 77"/>
                  <a:gd name="T88" fmla="*/ 11 w 75"/>
                  <a:gd name="T89" fmla="*/ 48 h 77"/>
                  <a:gd name="T90" fmla="*/ 11 w 75"/>
                  <a:gd name="T91" fmla="*/ 48 h 77"/>
                  <a:gd name="T92" fmla="*/ 8 w 75"/>
                  <a:gd name="T93" fmla="*/ 54 h 77"/>
                  <a:gd name="T94" fmla="*/ 10 w 75"/>
                  <a:gd name="T95" fmla="*/ 61 h 77"/>
                  <a:gd name="T96" fmla="*/ 9 w 75"/>
                  <a:gd name="T97" fmla="*/ 65 h 77"/>
                  <a:gd name="T98" fmla="*/ 7 w 75"/>
                  <a:gd name="T99" fmla="*/ 67 h 77"/>
                  <a:gd name="T100" fmla="*/ 7 w 75"/>
                  <a:gd name="T101" fmla="*/ 67 h 77"/>
                  <a:gd name="T102" fmla="*/ 9 w 75"/>
                  <a:gd name="T103" fmla="*/ 69 h 77"/>
                  <a:gd name="T104" fmla="*/ 11 w 75"/>
                  <a:gd name="T105" fmla="*/ 67 h 77"/>
                  <a:gd name="T106" fmla="*/ 15 w 75"/>
                  <a:gd name="T107" fmla="*/ 66 h 77"/>
                  <a:gd name="T108" fmla="*/ 22 w 75"/>
                  <a:gd name="T109" fmla="*/ 67 h 77"/>
                  <a:gd name="T110" fmla="*/ 28 w 75"/>
                  <a:gd name="T111" fmla="*/ 65 h 77"/>
                  <a:gd name="T112" fmla="*/ 11 w 75"/>
                  <a:gd name="T113" fmla="*/ 4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5" h="77">
                    <a:moveTo>
                      <a:pt x="38" y="20"/>
                    </a:moveTo>
                    <a:cubicBezTo>
                      <a:pt x="55" y="38"/>
                      <a:pt x="55" y="38"/>
                      <a:pt x="55" y="38"/>
                    </a:cubicBezTo>
                    <a:cubicBezTo>
                      <a:pt x="60" y="34"/>
                      <a:pt x="60" y="34"/>
                      <a:pt x="60" y="34"/>
                    </a:cubicBezTo>
                    <a:cubicBezTo>
                      <a:pt x="42" y="16"/>
                      <a:pt x="42" y="16"/>
                      <a:pt x="42" y="16"/>
                    </a:cubicBezTo>
                    <a:cubicBezTo>
                      <a:pt x="38" y="20"/>
                      <a:pt x="38" y="20"/>
                      <a:pt x="38" y="20"/>
                    </a:cubicBezTo>
                    <a:close/>
                    <a:moveTo>
                      <a:pt x="53" y="40"/>
                    </a:moveTo>
                    <a:cubicBezTo>
                      <a:pt x="53" y="40"/>
                      <a:pt x="53" y="40"/>
                      <a:pt x="53" y="40"/>
                    </a:cubicBezTo>
                    <a:cubicBezTo>
                      <a:pt x="35" y="23"/>
                      <a:pt x="35" y="23"/>
                      <a:pt x="35" y="23"/>
                    </a:cubicBezTo>
                    <a:cubicBezTo>
                      <a:pt x="13" y="45"/>
                      <a:pt x="13" y="45"/>
                      <a:pt x="13" y="45"/>
                    </a:cubicBezTo>
                    <a:cubicBezTo>
                      <a:pt x="30" y="63"/>
                      <a:pt x="30" y="63"/>
                      <a:pt x="30" y="63"/>
                    </a:cubicBezTo>
                    <a:cubicBezTo>
                      <a:pt x="53" y="40"/>
                      <a:pt x="53" y="40"/>
                      <a:pt x="53" y="40"/>
                    </a:cubicBezTo>
                    <a:close/>
                    <a:moveTo>
                      <a:pt x="45" y="5"/>
                    </a:moveTo>
                    <a:cubicBezTo>
                      <a:pt x="45" y="5"/>
                      <a:pt x="45" y="5"/>
                      <a:pt x="45" y="5"/>
                    </a:cubicBezTo>
                    <a:cubicBezTo>
                      <a:pt x="49" y="2"/>
                      <a:pt x="53" y="1"/>
                      <a:pt x="57" y="1"/>
                    </a:cubicBezTo>
                    <a:cubicBezTo>
                      <a:pt x="67" y="1"/>
                      <a:pt x="75" y="9"/>
                      <a:pt x="75" y="19"/>
                    </a:cubicBezTo>
                    <a:cubicBezTo>
                      <a:pt x="75" y="24"/>
                      <a:pt x="73" y="28"/>
                      <a:pt x="70" y="32"/>
                    </a:cubicBezTo>
                    <a:cubicBezTo>
                      <a:pt x="33" y="68"/>
                      <a:pt x="33" y="68"/>
                      <a:pt x="33" y="68"/>
                    </a:cubicBezTo>
                    <a:cubicBezTo>
                      <a:pt x="30" y="71"/>
                      <a:pt x="27" y="73"/>
                      <a:pt x="23" y="73"/>
                    </a:cubicBezTo>
                    <a:cubicBezTo>
                      <a:pt x="20" y="74"/>
                      <a:pt x="17" y="73"/>
                      <a:pt x="14" y="72"/>
                    </a:cubicBezTo>
                    <a:cubicBezTo>
                      <a:pt x="13" y="73"/>
                      <a:pt x="13" y="73"/>
                      <a:pt x="13" y="73"/>
                    </a:cubicBezTo>
                    <a:cubicBezTo>
                      <a:pt x="13" y="73"/>
                      <a:pt x="13" y="73"/>
                      <a:pt x="13" y="73"/>
                    </a:cubicBezTo>
                    <a:cubicBezTo>
                      <a:pt x="13" y="73"/>
                      <a:pt x="13" y="73"/>
                      <a:pt x="13" y="73"/>
                    </a:cubicBezTo>
                    <a:cubicBezTo>
                      <a:pt x="9" y="77"/>
                      <a:pt x="3" y="75"/>
                      <a:pt x="1" y="71"/>
                    </a:cubicBezTo>
                    <a:cubicBezTo>
                      <a:pt x="0" y="68"/>
                      <a:pt x="0" y="65"/>
                      <a:pt x="3" y="63"/>
                    </a:cubicBezTo>
                    <a:cubicBezTo>
                      <a:pt x="4" y="62"/>
                      <a:pt x="4" y="62"/>
                      <a:pt x="4" y="62"/>
                    </a:cubicBezTo>
                    <a:cubicBezTo>
                      <a:pt x="2" y="59"/>
                      <a:pt x="2" y="56"/>
                      <a:pt x="3" y="53"/>
                    </a:cubicBezTo>
                    <a:cubicBezTo>
                      <a:pt x="3" y="49"/>
                      <a:pt x="5" y="45"/>
                      <a:pt x="8" y="42"/>
                    </a:cubicBezTo>
                    <a:cubicBezTo>
                      <a:pt x="43" y="7"/>
                      <a:pt x="43" y="7"/>
                      <a:pt x="43" y="7"/>
                    </a:cubicBezTo>
                    <a:cubicBezTo>
                      <a:pt x="40" y="5"/>
                      <a:pt x="40" y="5"/>
                      <a:pt x="40" y="5"/>
                    </a:cubicBezTo>
                    <a:cubicBezTo>
                      <a:pt x="21" y="25"/>
                      <a:pt x="21" y="25"/>
                      <a:pt x="21" y="25"/>
                    </a:cubicBezTo>
                    <a:cubicBezTo>
                      <a:pt x="20" y="25"/>
                      <a:pt x="19" y="25"/>
                      <a:pt x="18" y="25"/>
                    </a:cubicBezTo>
                    <a:cubicBezTo>
                      <a:pt x="17" y="24"/>
                      <a:pt x="17" y="23"/>
                      <a:pt x="18" y="22"/>
                    </a:cubicBezTo>
                    <a:cubicBezTo>
                      <a:pt x="39" y="1"/>
                      <a:pt x="39" y="1"/>
                      <a:pt x="39" y="1"/>
                    </a:cubicBezTo>
                    <a:cubicBezTo>
                      <a:pt x="40" y="0"/>
                      <a:pt x="41" y="0"/>
                      <a:pt x="41" y="1"/>
                    </a:cubicBezTo>
                    <a:cubicBezTo>
                      <a:pt x="45" y="5"/>
                      <a:pt x="45" y="5"/>
                      <a:pt x="45" y="5"/>
                    </a:cubicBezTo>
                    <a:close/>
                    <a:moveTo>
                      <a:pt x="57" y="7"/>
                    </a:moveTo>
                    <a:cubicBezTo>
                      <a:pt x="57" y="7"/>
                      <a:pt x="57" y="7"/>
                      <a:pt x="57" y="7"/>
                    </a:cubicBezTo>
                    <a:cubicBezTo>
                      <a:pt x="54" y="7"/>
                      <a:pt x="51" y="8"/>
                      <a:pt x="48" y="10"/>
                    </a:cubicBezTo>
                    <a:cubicBezTo>
                      <a:pt x="48" y="10"/>
                      <a:pt x="48" y="10"/>
                      <a:pt x="48" y="10"/>
                    </a:cubicBezTo>
                    <a:cubicBezTo>
                      <a:pt x="45" y="14"/>
                      <a:pt x="45" y="14"/>
                      <a:pt x="45" y="14"/>
                    </a:cubicBezTo>
                    <a:cubicBezTo>
                      <a:pt x="62" y="31"/>
                      <a:pt x="62" y="31"/>
                      <a:pt x="62" y="31"/>
                    </a:cubicBezTo>
                    <a:cubicBezTo>
                      <a:pt x="66" y="28"/>
                      <a:pt x="66" y="28"/>
                      <a:pt x="66" y="28"/>
                    </a:cubicBezTo>
                    <a:cubicBezTo>
                      <a:pt x="68" y="25"/>
                      <a:pt x="69" y="22"/>
                      <a:pt x="69" y="19"/>
                    </a:cubicBezTo>
                    <a:cubicBezTo>
                      <a:pt x="69" y="12"/>
                      <a:pt x="64" y="7"/>
                      <a:pt x="57" y="7"/>
                    </a:cubicBezTo>
                    <a:close/>
                    <a:moveTo>
                      <a:pt x="11" y="48"/>
                    </a:moveTo>
                    <a:cubicBezTo>
                      <a:pt x="11" y="48"/>
                      <a:pt x="11" y="48"/>
                      <a:pt x="11" y="48"/>
                    </a:cubicBezTo>
                    <a:cubicBezTo>
                      <a:pt x="9" y="50"/>
                      <a:pt x="9" y="52"/>
                      <a:pt x="8" y="54"/>
                    </a:cubicBezTo>
                    <a:cubicBezTo>
                      <a:pt x="8" y="56"/>
                      <a:pt x="8" y="59"/>
                      <a:pt x="10" y="61"/>
                    </a:cubicBezTo>
                    <a:cubicBezTo>
                      <a:pt x="10" y="62"/>
                      <a:pt x="10" y="64"/>
                      <a:pt x="9" y="65"/>
                    </a:cubicBezTo>
                    <a:cubicBezTo>
                      <a:pt x="7" y="67"/>
                      <a:pt x="7" y="67"/>
                      <a:pt x="7" y="67"/>
                    </a:cubicBezTo>
                    <a:cubicBezTo>
                      <a:pt x="7" y="67"/>
                      <a:pt x="7" y="67"/>
                      <a:pt x="7" y="67"/>
                    </a:cubicBezTo>
                    <a:cubicBezTo>
                      <a:pt x="5" y="68"/>
                      <a:pt x="7" y="70"/>
                      <a:pt x="9" y="69"/>
                    </a:cubicBezTo>
                    <a:cubicBezTo>
                      <a:pt x="11" y="67"/>
                      <a:pt x="11" y="67"/>
                      <a:pt x="11" y="67"/>
                    </a:cubicBezTo>
                    <a:cubicBezTo>
                      <a:pt x="12" y="66"/>
                      <a:pt x="13" y="65"/>
                      <a:pt x="15" y="66"/>
                    </a:cubicBezTo>
                    <a:cubicBezTo>
                      <a:pt x="17" y="67"/>
                      <a:pt x="20" y="68"/>
                      <a:pt x="22" y="67"/>
                    </a:cubicBezTo>
                    <a:cubicBezTo>
                      <a:pt x="24" y="67"/>
                      <a:pt x="26" y="66"/>
                      <a:pt x="28" y="65"/>
                    </a:cubicBezTo>
                    <a:cubicBezTo>
                      <a:pt x="11" y="48"/>
                      <a:pt x="11" y="48"/>
                      <a:pt x="11" y="48"/>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000" dirty="0"/>
              </a:p>
            </p:txBody>
          </p:sp>
        </p:grpSp>
      </p:grpSp>
      <p:grpSp>
        <p:nvGrpSpPr>
          <p:cNvPr id="13" name="组合 12"/>
          <p:cNvGrpSpPr/>
          <p:nvPr/>
        </p:nvGrpSpPr>
        <p:grpSpPr>
          <a:xfrm>
            <a:off x="6511501" y="2363470"/>
            <a:ext cx="1580515" cy="2353310"/>
            <a:chOff x="14173" y="4911"/>
            <a:chExt cx="2489" cy="3706"/>
          </a:xfrm>
        </p:grpSpPr>
        <p:sp>
          <p:nvSpPr>
            <p:cNvPr id="107" name="Oval 34"/>
            <p:cNvSpPr>
              <a:spLocks noChangeArrowheads="1"/>
            </p:cNvSpPr>
            <p:nvPr/>
          </p:nvSpPr>
          <p:spPr bwMode="auto">
            <a:xfrm>
              <a:off x="15254" y="6928"/>
              <a:ext cx="323" cy="302"/>
            </a:xfrm>
            <a:prstGeom prst="ellipse">
              <a:avLst/>
            </a:prstGeom>
            <a:solidFill>
              <a:srgbClr val="D8A941"/>
            </a:solidFill>
            <a:ln w="12700">
              <a:solidFill>
                <a:srgbClr val="FFFFFF"/>
              </a:solidFill>
              <a:round/>
            </a:ln>
          </p:spPr>
          <p:txBody>
            <a:bodyPr/>
            <a:lstStyle/>
            <a:p>
              <a:endParaRPr lang="zh-CN" altLang="en-US" sz="2000"/>
            </a:p>
          </p:txBody>
        </p:sp>
        <p:sp>
          <p:nvSpPr>
            <p:cNvPr id="108" name="Rectangle 55"/>
            <p:cNvSpPr>
              <a:spLocks noChangeArrowheads="1"/>
            </p:cNvSpPr>
            <p:nvPr/>
          </p:nvSpPr>
          <p:spPr bwMode="auto">
            <a:xfrm>
              <a:off x="14173" y="5781"/>
              <a:ext cx="2484"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buFont typeface="Arial" panose="020B0604020202020204" pitchFamily="34" charset="0"/>
                <a:buNone/>
              </a:pPr>
              <a:r>
                <a:rPr lang="zh-CN" altLang="en-US" sz="2000" b="1" dirty="0">
                  <a:solidFill>
                    <a:srgbClr val="D8A941"/>
                  </a:solidFill>
                  <a:latin typeface="微软雅黑" panose="020B0503020204020204" charset="-122"/>
                </a:rPr>
                <a:t>资金支付</a:t>
              </a:r>
              <a:endParaRPr lang="zh-CN" altLang="en-US" sz="2000" b="1" dirty="0">
                <a:solidFill>
                  <a:srgbClr val="D8A941"/>
                </a:solidFill>
                <a:latin typeface="微软雅黑" panose="020B0503020204020204" charset="-122"/>
              </a:endParaRPr>
            </a:p>
            <a:p>
              <a:pPr algn="ctr">
                <a:lnSpc>
                  <a:spcPct val="120000"/>
                </a:lnSpc>
                <a:buFont typeface="Arial" panose="020B0604020202020204" pitchFamily="34" charset="0"/>
                <a:buNone/>
              </a:pPr>
              <a:r>
                <a:rPr lang="zh-CN" altLang="en-US" sz="2000" b="1" dirty="0">
                  <a:solidFill>
                    <a:srgbClr val="D8A941"/>
                  </a:solidFill>
                  <a:latin typeface="微软雅黑" panose="020B0503020204020204" charset="-122"/>
                </a:rPr>
                <a:t>与档案移交</a:t>
              </a:r>
              <a:endParaRPr lang="zh-CN" altLang="en-US" sz="2000" b="1" dirty="0">
                <a:solidFill>
                  <a:srgbClr val="D8A941"/>
                </a:solidFill>
                <a:latin typeface="微软雅黑" panose="020B0503020204020204" charset="-122"/>
              </a:endParaRPr>
            </a:p>
          </p:txBody>
        </p:sp>
        <p:sp>
          <p:nvSpPr>
            <p:cNvPr id="109" name="Rectangle 56"/>
            <p:cNvSpPr>
              <a:spLocks noChangeArrowheads="1"/>
            </p:cNvSpPr>
            <p:nvPr/>
          </p:nvSpPr>
          <p:spPr bwMode="auto">
            <a:xfrm>
              <a:off x="14224" y="7465"/>
              <a:ext cx="2438" cy="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2000" b="1" dirty="0">
                  <a:latin typeface="微软雅黑" panose="020B0503020204020204" charset="-122"/>
                </a:rPr>
                <a:t>协议签署后</a:t>
              </a:r>
              <a:r>
                <a:rPr lang="en-US" altLang="zh-CN" sz="2000" b="1" dirty="0">
                  <a:latin typeface="微软雅黑" panose="020B0503020204020204" charset="-122"/>
                </a:rPr>
                <a:t>20</a:t>
              </a:r>
              <a:r>
                <a:rPr lang="zh-CN" altLang="en-US" sz="2000" b="1" dirty="0">
                  <a:latin typeface="微软雅黑" panose="020B0503020204020204" charset="-122"/>
                  <a:sym typeface="+mn-ea"/>
                </a:rPr>
                <a:t>个工作日</a:t>
              </a:r>
              <a:endParaRPr lang="zh-CN" altLang="en-US" sz="2000" b="1" dirty="0">
                <a:latin typeface="微软雅黑" panose="020B0503020204020204" charset="-122"/>
                <a:sym typeface="+mn-ea"/>
              </a:endParaRPr>
            </a:p>
          </p:txBody>
        </p:sp>
        <p:grpSp>
          <p:nvGrpSpPr>
            <p:cNvPr id="8" name="组合 7"/>
            <p:cNvGrpSpPr/>
            <p:nvPr/>
          </p:nvGrpSpPr>
          <p:grpSpPr>
            <a:xfrm>
              <a:off x="14968" y="4911"/>
              <a:ext cx="894" cy="838"/>
              <a:chOff x="14968" y="4409"/>
              <a:chExt cx="894" cy="838"/>
            </a:xfrm>
          </p:grpSpPr>
          <p:sp>
            <p:nvSpPr>
              <p:cNvPr id="61" name="Oval 33"/>
              <p:cNvSpPr>
                <a:spLocks noChangeArrowheads="1"/>
              </p:cNvSpPr>
              <p:nvPr/>
            </p:nvSpPr>
            <p:spPr bwMode="auto">
              <a:xfrm>
                <a:off x="14968" y="4409"/>
                <a:ext cx="894" cy="838"/>
              </a:xfrm>
              <a:prstGeom prst="ellipse">
                <a:avLst/>
              </a:prstGeom>
              <a:solidFill>
                <a:srgbClr val="D8A940"/>
              </a:solidFill>
              <a:ln>
                <a:noFill/>
              </a:ln>
            </p:spPr>
            <p:txBody>
              <a:bodyPr/>
              <a:lstStyle/>
              <a:p>
                <a:endParaRPr lang="zh-CN" altLang="en-US" sz="2000" dirty="0"/>
              </a:p>
            </p:txBody>
          </p:sp>
          <p:sp>
            <p:nvSpPr>
              <p:cNvPr id="117" name="Shape 2533"/>
              <p:cNvSpPr>
                <a:spLocks noChangeAspect="1"/>
              </p:cNvSpPr>
              <p:nvPr/>
            </p:nvSpPr>
            <p:spPr>
              <a:xfrm>
                <a:off x="15186" y="4588"/>
                <a:ext cx="447" cy="490"/>
              </a:xfrm>
              <a:custGeom>
                <a:avLst/>
                <a:gdLst/>
                <a:ahLst/>
                <a:cxnLst>
                  <a:cxn ang="0">
                    <a:pos x="wd2" y="hd2"/>
                  </a:cxn>
                  <a:cxn ang="5400000">
                    <a:pos x="wd2" y="hd2"/>
                  </a:cxn>
                  <a:cxn ang="10800000">
                    <a:pos x="wd2" y="hd2"/>
                  </a:cxn>
                  <a:cxn ang="16200000">
                    <a:pos x="wd2" y="hd2"/>
                  </a:cxn>
                </a:cxnLst>
                <a:rect l="0" t="0" r="r" b="b"/>
                <a:pathLst>
                  <a:path w="21600" h="21600" extrusionOk="0">
                    <a:moveTo>
                      <a:pt x="10800" y="8836"/>
                    </a:moveTo>
                    <a:lnTo>
                      <a:pt x="10800" y="5967"/>
                    </a:lnTo>
                    <a:lnTo>
                      <a:pt x="13929" y="8836"/>
                    </a:lnTo>
                    <a:cubicBezTo>
                      <a:pt x="13929" y="8836"/>
                      <a:pt x="10800" y="8836"/>
                      <a:pt x="10800" y="8836"/>
                    </a:cubicBezTo>
                    <a:close/>
                    <a:moveTo>
                      <a:pt x="14400" y="19636"/>
                    </a:moveTo>
                    <a:cubicBezTo>
                      <a:pt x="14400" y="20179"/>
                      <a:pt x="13862" y="20618"/>
                      <a:pt x="13200" y="20618"/>
                    </a:cubicBezTo>
                    <a:lnTo>
                      <a:pt x="2400" y="20618"/>
                    </a:lnTo>
                    <a:cubicBezTo>
                      <a:pt x="1738" y="20618"/>
                      <a:pt x="1200" y="20179"/>
                      <a:pt x="1200" y="19636"/>
                    </a:cubicBezTo>
                    <a:lnTo>
                      <a:pt x="1200" y="6873"/>
                    </a:lnTo>
                    <a:cubicBezTo>
                      <a:pt x="1200" y="6331"/>
                      <a:pt x="1738" y="5891"/>
                      <a:pt x="2400" y="5891"/>
                    </a:cubicBezTo>
                    <a:lnTo>
                      <a:pt x="9600" y="5891"/>
                    </a:lnTo>
                    <a:lnTo>
                      <a:pt x="9600" y="8836"/>
                    </a:lnTo>
                    <a:cubicBezTo>
                      <a:pt x="9600" y="9378"/>
                      <a:pt x="10138" y="9818"/>
                      <a:pt x="10800" y="9818"/>
                    </a:cubicBezTo>
                    <a:lnTo>
                      <a:pt x="14400" y="9818"/>
                    </a:lnTo>
                    <a:cubicBezTo>
                      <a:pt x="14400" y="9818"/>
                      <a:pt x="14400" y="19636"/>
                      <a:pt x="14400" y="19636"/>
                    </a:cubicBezTo>
                    <a:close/>
                    <a:moveTo>
                      <a:pt x="2400" y="4909"/>
                    </a:moveTo>
                    <a:cubicBezTo>
                      <a:pt x="1075" y="4909"/>
                      <a:pt x="0" y="5788"/>
                      <a:pt x="0" y="6873"/>
                    </a:cubicBezTo>
                    <a:lnTo>
                      <a:pt x="0" y="19636"/>
                    </a:lnTo>
                    <a:cubicBezTo>
                      <a:pt x="0" y="20721"/>
                      <a:pt x="1075" y="21600"/>
                      <a:pt x="2400" y="21600"/>
                    </a:cubicBezTo>
                    <a:lnTo>
                      <a:pt x="13200" y="21600"/>
                    </a:lnTo>
                    <a:cubicBezTo>
                      <a:pt x="14525" y="21600"/>
                      <a:pt x="15600" y="20721"/>
                      <a:pt x="15600" y="19636"/>
                    </a:cubicBezTo>
                    <a:lnTo>
                      <a:pt x="15600" y="8836"/>
                    </a:lnTo>
                    <a:lnTo>
                      <a:pt x="11400" y="4909"/>
                    </a:lnTo>
                    <a:cubicBezTo>
                      <a:pt x="11400" y="4909"/>
                      <a:pt x="2400" y="4909"/>
                      <a:pt x="2400" y="4909"/>
                    </a:cubicBezTo>
                    <a:close/>
                    <a:moveTo>
                      <a:pt x="16800" y="3927"/>
                    </a:moveTo>
                    <a:lnTo>
                      <a:pt x="16800" y="1058"/>
                    </a:lnTo>
                    <a:lnTo>
                      <a:pt x="19929" y="3927"/>
                    </a:lnTo>
                    <a:cubicBezTo>
                      <a:pt x="19929" y="3927"/>
                      <a:pt x="16800" y="3927"/>
                      <a:pt x="16800" y="3927"/>
                    </a:cubicBezTo>
                    <a:close/>
                    <a:moveTo>
                      <a:pt x="17400" y="0"/>
                    </a:moveTo>
                    <a:lnTo>
                      <a:pt x="8400" y="0"/>
                    </a:lnTo>
                    <a:cubicBezTo>
                      <a:pt x="7075" y="0"/>
                      <a:pt x="6000" y="879"/>
                      <a:pt x="6000" y="1964"/>
                    </a:cubicBezTo>
                    <a:lnTo>
                      <a:pt x="6000" y="3436"/>
                    </a:lnTo>
                    <a:cubicBezTo>
                      <a:pt x="6000" y="3708"/>
                      <a:pt x="6268" y="3927"/>
                      <a:pt x="6600" y="3927"/>
                    </a:cubicBezTo>
                    <a:cubicBezTo>
                      <a:pt x="6932" y="3927"/>
                      <a:pt x="7200" y="3708"/>
                      <a:pt x="7200" y="3436"/>
                    </a:cubicBezTo>
                    <a:lnTo>
                      <a:pt x="7200" y="1964"/>
                    </a:lnTo>
                    <a:cubicBezTo>
                      <a:pt x="7200" y="1422"/>
                      <a:pt x="7738" y="982"/>
                      <a:pt x="8400" y="982"/>
                    </a:cubicBezTo>
                    <a:lnTo>
                      <a:pt x="15600" y="982"/>
                    </a:lnTo>
                    <a:lnTo>
                      <a:pt x="15600" y="3927"/>
                    </a:lnTo>
                    <a:cubicBezTo>
                      <a:pt x="15600" y="4469"/>
                      <a:pt x="16138" y="4909"/>
                      <a:pt x="16800" y="4909"/>
                    </a:cubicBezTo>
                    <a:lnTo>
                      <a:pt x="20400" y="4909"/>
                    </a:lnTo>
                    <a:lnTo>
                      <a:pt x="20400" y="14727"/>
                    </a:lnTo>
                    <a:cubicBezTo>
                      <a:pt x="20400" y="15269"/>
                      <a:pt x="19862" y="15709"/>
                      <a:pt x="19200" y="15709"/>
                    </a:cubicBezTo>
                    <a:lnTo>
                      <a:pt x="17400" y="15709"/>
                    </a:lnTo>
                    <a:cubicBezTo>
                      <a:pt x="17068" y="15709"/>
                      <a:pt x="16800" y="15929"/>
                      <a:pt x="16800" y="16200"/>
                    </a:cubicBezTo>
                    <a:cubicBezTo>
                      <a:pt x="16800" y="16472"/>
                      <a:pt x="17068" y="16691"/>
                      <a:pt x="17400" y="16691"/>
                    </a:cubicBezTo>
                    <a:lnTo>
                      <a:pt x="19200" y="16691"/>
                    </a:lnTo>
                    <a:cubicBezTo>
                      <a:pt x="20525" y="16691"/>
                      <a:pt x="21600" y="15812"/>
                      <a:pt x="21600" y="14727"/>
                    </a:cubicBezTo>
                    <a:lnTo>
                      <a:pt x="21600" y="3927"/>
                    </a:lnTo>
                    <a:cubicBezTo>
                      <a:pt x="21600" y="3927"/>
                      <a:pt x="17400" y="0"/>
                      <a:pt x="17400" y="0"/>
                    </a:cubicBezTo>
                    <a:close/>
                    <a:moveTo>
                      <a:pt x="3600" y="12273"/>
                    </a:moveTo>
                    <a:cubicBezTo>
                      <a:pt x="3600" y="12544"/>
                      <a:pt x="3868" y="12764"/>
                      <a:pt x="4200" y="12764"/>
                    </a:cubicBezTo>
                    <a:lnTo>
                      <a:pt x="11400" y="12764"/>
                    </a:lnTo>
                    <a:cubicBezTo>
                      <a:pt x="11732" y="12764"/>
                      <a:pt x="12000" y="12544"/>
                      <a:pt x="12000" y="12273"/>
                    </a:cubicBezTo>
                    <a:cubicBezTo>
                      <a:pt x="12000" y="12002"/>
                      <a:pt x="11732" y="11782"/>
                      <a:pt x="11400" y="11782"/>
                    </a:cubicBezTo>
                    <a:lnTo>
                      <a:pt x="4200" y="11782"/>
                    </a:lnTo>
                    <a:cubicBezTo>
                      <a:pt x="3868" y="11782"/>
                      <a:pt x="3600" y="12002"/>
                      <a:pt x="3600" y="12273"/>
                    </a:cubicBezTo>
                    <a:moveTo>
                      <a:pt x="4200" y="9818"/>
                    </a:moveTo>
                    <a:lnTo>
                      <a:pt x="6600" y="9818"/>
                    </a:lnTo>
                    <a:cubicBezTo>
                      <a:pt x="6932" y="9818"/>
                      <a:pt x="7200" y="9599"/>
                      <a:pt x="7200" y="9327"/>
                    </a:cubicBezTo>
                    <a:cubicBezTo>
                      <a:pt x="7200" y="9056"/>
                      <a:pt x="6932" y="8836"/>
                      <a:pt x="6600" y="8836"/>
                    </a:cubicBezTo>
                    <a:lnTo>
                      <a:pt x="4200" y="8836"/>
                    </a:lnTo>
                    <a:cubicBezTo>
                      <a:pt x="3868" y="8836"/>
                      <a:pt x="3600" y="9056"/>
                      <a:pt x="3600" y="9327"/>
                    </a:cubicBezTo>
                    <a:cubicBezTo>
                      <a:pt x="3600" y="9599"/>
                      <a:pt x="3868" y="9818"/>
                      <a:pt x="4200" y="9818"/>
                    </a:cubicBezTo>
                    <a:moveTo>
                      <a:pt x="9000" y="17673"/>
                    </a:moveTo>
                    <a:lnTo>
                      <a:pt x="4200" y="17673"/>
                    </a:lnTo>
                    <a:cubicBezTo>
                      <a:pt x="3868" y="17673"/>
                      <a:pt x="3600" y="17893"/>
                      <a:pt x="3600" y="18164"/>
                    </a:cubicBezTo>
                    <a:cubicBezTo>
                      <a:pt x="3600" y="18435"/>
                      <a:pt x="3868" y="18655"/>
                      <a:pt x="4200" y="18655"/>
                    </a:cubicBezTo>
                    <a:lnTo>
                      <a:pt x="9000" y="18655"/>
                    </a:lnTo>
                    <a:cubicBezTo>
                      <a:pt x="9332" y="18655"/>
                      <a:pt x="9600" y="18435"/>
                      <a:pt x="9600" y="18164"/>
                    </a:cubicBezTo>
                    <a:cubicBezTo>
                      <a:pt x="9600" y="17893"/>
                      <a:pt x="9332" y="17673"/>
                      <a:pt x="9000" y="17673"/>
                    </a:cubicBezTo>
                    <a:moveTo>
                      <a:pt x="11400" y="14727"/>
                    </a:moveTo>
                    <a:lnTo>
                      <a:pt x="4200" y="14727"/>
                    </a:lnTo>
                    <a:cubicBezTo>
                      <a:pt x="3868" y="14727"/>
                      <a:pt x="3600" y="14947"/>
                      <a:pt x="3600" y="15218"/>
                    </a:cubicBezTo>
                    <a:cubicBezTo>
                      <a:pt x="3600" y="15490"/>
                      <a:pt x="3868" y="15709"/>
                      <a:pt x="4200" y="15709"/>
                    </a:cubicBezTo>
                    <a:lnTo>
                      <a:pt x="11400" y="15709"/>
                    </a:lnTo>
                    <a:cubicBezTo>
                      <a:pt x="11732" y="15709"/>
                      <a:pt x="12000" y="15490"/>
                      <a:pt x="12000" y="15218"/>
                    </a:cubicBezTo>
                    <a:cubicBezTo>
                      <a:pt x="12000" y="14947"/>
                      <a:pt x="11732" y="14727"/>
                      <a:pt x="11400" y="14727"/>
                    </a:cubicBezTo>
                  </a:path>
                </a:pathLst>
              </a:custGeom>
              <a:solidFill>
                <a:schemeClr val="bg1"/>
              </a:solidFill>
              <a:ln w="12700">
                <a:miter lim="400000"/>
              </a:ln>
            </p:spPr>
            <p:txBody>
              <a:bodyPr lIns="38091" tIns="38091" rIns="38091" bIns="38091" anchor="ctr"/>
              <a:lstStyle/>
              <a:p>
                <a:pPr defTabSz="456565">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000" dirty="0">
                  <a:latin typeface="微软雅黑" panose="020B0503020204020204" charset="-122"/>
                  <a:cs typeface="Source Sans Pro Regular" charset="0"/>
                </a:endParaRPr>
              </a:p>
            </p:txBody>
          </p:sp>
        </p:grpSp>
      </p:grpSp>
      <p:grpSp>
        <p:nvGrpSpPr>
          <p:cNvPr id="18" name="组合 17"/>
          <p:cNvGrpSpPr/>
          <p:nvPr/>
        </p:nvGrpSpPr>
        <p:grpSpPr>
          <a:xfrm>
            <a:off x="8827770" y="2363470"/>
            <a:ext cx="1582420" cy="1473200"/>
            <a:chOff x="16584" y="4911"/>
            <a:chExt cx="2492" cy="2320"/>
          </a:xfrm>
        </p:grpSpPr>
        <p:sp>
          <p:nvSpPr>
            <p:cNvPr id="120" name="Oval 34"/>
            <p:cNvSpPr>
              <a:spLocks noChangeArrowheads="1"/>
            </p:cNvSpPr>
            <p:nvPr/>
          </p:nvSpPr>
          <p:spPr bwMode="auto">
            <a:xfrm>
              <a:off x="17669" y="6929"/>
              <a:ext cx="323" cy="302"/>
            </a:xfrm>
            <a:prstGeom prst="ellipse">
              <a:avLst/>
            </a:prstGeom>
            <a:solidFill>
              <a:srgbClr val="D8A941"/>
            </a:solidFill>
            <a:ln w="12700">
              <a:solidFill>
                <a:srgbClr val="FFFFFF"/>
              </a:solidFill>
              <a:round/>
            </a:ln>
          </p:spPr>
          <p:txBody>
            <a:bodyPr/>
            <a:lstStyle/>
            <a:p>
              <a:endParaRPr lang="zh-CN" altLang="en-US" sz="2000"/>
            </a:p>
          </p:txBody>
        </p:sp>
        <p:grpSp>
          <p:nvGrpSpPr>
            <p:cNvPr id="9" name="组合 8"/>
            <p:cNvGrpSpPr/>
            <p:nvPr/>
          </p:nvGrpSpPr>
          <p:grpSpPr>
            <a:xfrm>
              <a:off x="17387" y="4911"/>
              <a:ext cx="888" cy="838"/>
              <a:chOff x="16869" y="4435"/>
              <a:chExt cx="888" cy="838"/>
            </a:xfrm>
          </p:grpSpPr>
          <p:sp>
            <p:nvSpPr>
              <p:cNvPr id="121" name="Oval 31"/>
              <p:cNvSpPr>
                <a:spLocks noChangeArrowheads="1"/>
              </p:cNvSpPr>
              <p:nvPr/>
            </p:nvSpPr>
            <p:spPr bwMode="auto">
              <a:xfrm>
                <a:off x="16869" y="4435"/>
                <a:ext cx="888" cy="838"/>
              </a:xfrm>
              <a:prstGeom prst="ellipse">
                <a:avLst/>
              </a:prstGeom>
              <a:solidFill>
                <a:srgbClr val="D6AA42"/>
              </a:solidFill>
              <a:ln>
                <a:noFill/>
              </a:ln>
            </p:spPr>
            <p:txBody>
              <a:bodyPr/>
              <a:lstStyle/>
              <a:p>
                <a:endParaRPr lang="zh-CN" altLang="en-US" sz="2000" dirty="0"/>
              </a:p>
            </p:txBody>
          </p:sp>
          <p:sp>
            <p:nvSpPr>
              <p:cNvPr id="122" name="Freeform 49"/>
              <p:cNvSpPr>
                <a:spLocks noEditPoints="1"/>
              </p:cNvSpPr>
              <p:nvPr/>
            </p:nvSpPr>
            <p:spPr bwMode="auto">
              <a:xfrm>
                <a:off x="17055" y="4636"/>
                <a:ext cx="519" cy="402"/>
              </a:xfrm>
              <a:custGeom>
                <a:avLst/>
                <a:gdLst>
                  <a:gd name="T0" fmla="*/ 65 w 90"/>
                  <a:gd name="T1" fmla="*/ 17 h 74"/>
                  <a:gd name="T2" fmla="*/ 81 w 90"/>
                  <a:gd name="T3" fmla="*/ 21 h 74"/>
                  <a:gd name="T4" fmla="*/ 81 w 90"/>
                  <a:gd name="T5" fmla="*/ 43 h 74"/>
                  <a:gd name="T6" fmla="*/ 89 w 90"/>
                  <a:gd name="T7" fmla="*/ 52 h 74"/>
                  <a:gd name="T8" fmla="*/ 90 w 90"/>
                  <a:gd name="T9" fmla="*/ 64 h 74"/>
                  <a:gd name="T10" fmla="*/ 85 w 90"/>
                  <a:gd name="T11" fmla="*/ 69 h 74"/>
                  <a:gd name="T12" fmla="*/ 81 w 90"/>
                  <a:gd name="T13" fmla="*/ 69 h 74"/>
                  <a:gd name="T14" fmla="*/ 78 w 90"/>
                  <a:gd name="T15" fmla="*/ 74 h 74"/>
                  <a:gd name="T16" fmla="*/ 12 w 90"/>
                  <a:gd name="T17" fmla="*/ 74 h 74"/>
                  <a:gd name="T18" fmla="*/ 9 w 90"/>
                  <a:gd name="T19" fmla="*/ 69 h 74"/>
                  <a:gd name="T20" fmla="*/ 5 w 90"/>
                  <a:gd name="T21" fmla="*/ 69 h 74"/>
                  <a:gd name="T22" fmla="*/ 0 w 90"/>
                  <a:gd name="T23" fmla="*/ 64 h 74"/>
                  <a:gd name="T24" fmla="*/ 1 w 90"/>
                  <a:gd name="T25" fmla="*/ 52 h 74"/>
                  <a:gd name="T26" fmla="*/ 9 w 90"/>
                  <a:gd name="T27" fmla="*/ 43 h 74"/>
                  <a:gd name="T28" fmla="*/ 9 w 90"/>
                  <a:gd name="T29" fmla="*/ 21 h 74"/>
                  <a:gd name="T30" fmla="*/ 25 w 90"/>
                  <a:gd name="T31" fmla="*/ 17 h 74"/>
                  <a:gd name="T32" fmla="*/ 45 w 90"/>
                  <a:gd name="T33" fmla="*/ 68 h 74"/>
                  <a:gd name="T34" fmla="*/ 54 w 90"/>
                  <a:gd name="T35" fmla="*/ 68 h 74"/>
                  <a:gd name="T36" fmla="*/ 56 w 90"/>
                  <a:gd name="T37" fmla="*/ 53 h 74"/>
                  <a:gd name="T38" fmla="*/ 57 w 90"/>
                  <a:gd name="T39" fmla="*/ 62 h 74"/>
                  <a:gd name="T40" fmla="*/ 65 w 90"/>
                  <a:gd name="T41" fmla="*/ 62 h 74"/>
                  <a:gd name="T42" fmla="*/ 54 w 90"/>
                  <a:gd name="T43" fmla="*/ 38 h 74"/>
                  <a:gd name="T44" fmla="*/ 36 w 90"/>
                  <a:gd name="T45" fmla="*/ 38 h 74"/>
                  <a:gd name="T46" fmla="*/ 25 w 90"/>
                  <a:gd name="T47" fmla="*/ 62 h 74"/>
                  <a:gd name="T48" fmla="*/ 32 w 90"/>
                  <a:gd name="T49" fmla="*/ 62 h 74"/>
                  <a:gd name="T50" fmla="*/ 34 w 90"/>
                  <a:gd name="T51" fmla="*/ 53 h 74"/>
                  <a:gd name="T52" fmla="*/ 36 w 90"/>
                  <a:gd name="T53" fmla="*/ 68 h 74"/>
                  <a:gd name="T54" fmla="*/ 45 w 90"/>
                  <a:gd name="T55" fmla="*/ 34 h 74"/>
                  <a:gd name="T56" fmla="*/ 59 w 90"/>
                  <a:gd name="T57" fmla="*/ 20 h 74"/>
                  <a:gd name="T58" fmla="*/ 31 w 90"/>
                  <a:gd name="T59" fmla="*/ 20 h 74"/>
                  <a:gd name="T60" fmla="*/ 14 w 90"/>
                  <a:gd name="T61" fmla="*/ 68 h 74"/>
                  <a:gd name="T62" fmla="*/ 23 w 90"/>
                  <a:gd name="T63" fmla="*/ 68 h 74"/>
                  <a:gd name="T64" fmla="*/ 19 w 90"/>
                  <a:gd name="T65" fmla="*/ 62 h 74"/>
                  <a:gd name="T66" fmla="*/ 20 w 90"/>
                  <a:gd name="T67" fmla="*/ 48 h 74"/>
                  <a:gd name="T68" fmla="*/ 7 w 90"/>
                  <a:gd name="T69" fmla="*/ 55 h 74"/>
                  <a:gd name="T70" fmla="*/ 7 w 90"/>
                  <a:gd name="T71" fmla="*/ 55 h 74"/>
                  <a:gd name="T72" fmla="*/ 6 w 90"/>
                  <a:gd name="T73" fmla="*/ 64 h 74"/>
                  <a:gd name="T74" fmla="*/ 11 w 90"/>
                  <a:gd name="T75" fmla="*/ 59 h 74"/>
                  <a:gd name="T76" fmla="*/ 14 w 90"/>
                  <a:gd name="T77" fmla="*/ 59 h 74"/>
                  <a:gd name="T78" fmla="*/ 25 w 90"/>
                  <a:gd name="T79" fmla="*/ 23 h 74"/>
                  <a:gd name="T80" fmla="*/ 24 w 90"/>
                  <a:gd name="T81" fmla="*/ 23 h 74"/>
                  <a:gd name="T82" fmla="*/ 13 w 90"/>
                  <a:gd name="T83" fmla="*/ 25 h 74"/>
                  <a:gd name="T84" fmla="*/ 13 w 90"/>
                  <a:gd name="T85" fmla="*/ 39 h 74"/>
                  <a:gd name="T86" fmla="*/ 24 w 90"/>
                  <a:gd name="T87" fmla="*/ 42 h 74"/>
                  <a:gd name="T88" fmla="*/ 25 w 90"/>
                  <a:gd name="T89" fmla="*/ 23 h 74"/>
                  <a:gd name="T90" fmla="*/ 76 w 90"/>
                  <a:gd name="T91" fmla="*/ 68 h 74"/>
                  <a:gd name="T92" fmla="*/ 77 w 90"/>
                  <a:gd name="T93" fmla="*/ 57 h 74"/>
                  <a:gd name="T94" fmla="*/ 79 w 90"/>
                  <a:gd name="T95" fmla="*/ 64 h 74"/>
                  <a:gd name="T96" fmla="*/ 84 w 90"/>
                  <a:gd name="T97" fmla="*/ 59 h 74"/>
                  <a:gd name="T98" fmla="*/ 81 w 90"/>
                  <a:gd name="T99" fmla="*/ 51 h 74"/>
                  <a:gd name="T100" fmla="*/ 70 w 90"/>
                  <a:gd name="T101" fmla="*/ 48 h 74"/>
                  <a:gd name="T102" fmla="*/ 71 w 90"/>
                  <a:gd name="T103" fmla="*/ 62 h 74"/>
                  <a:gd name="T104" fmla="*/ 67 w 90"/>
                  <a:gd name="T105" fmla="*/ 68 h 74"/>
                  <a:gd name="T106" fmla="*/ 65 w 90"/>
                  <a:gd name="T107" fmla="*/ 23 h 74"/>
                  <a:gd name="T108" fmla="*/ 59 w 90"/>
                  <a:gd name="T109" fmla="*/ 34 h 74"/>
                  <a:gd name="T110" fmla="*/ 67 w 90"/>
                  <a:gd name="T111" fmla="*/ 42 h 74"/>
                  <a:gd name="T112" fmla="*/ 77 w 90"/>
                  <a:gd name="T113" fmla="*/ 39 h 74"/>
                  <a:gd name="T114" fmla="*/ 77 w 90"/>
                  <a:gd name="T115" fmla="*/ 25 h 74"/>
                  <a:gd name="T116" fmla="*/ 66 w 90"/>
                  <a:gd name="T117" fmla="*/ 2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0" h="74">
                    <a:moveTo>
                      <a:pt x="45" y="0"/>
                    </a:moveTo>
                    <a:cubicBezTo>
                      <a:pt x="55" y="0"/>
                      <a:pt x="63" y="7"/>
                      <a:pt x="65" y="17"/>
                    </a:cubicBezTo>
                    <a:cubicBezTo>
                      <a:pt x="66" y="17"/>
                      <a:pt x="68" y="16"/>
                      <a:pt x="69" y="16"/>
                    </a:cubicBezTo>
                    <a:cubicBezTo>
                      <a:pt x="74" y="16"/>
                      <a:pt x="78" y="18"/>
                      <a:pt x="81" y="21"/>
                    </a:cubicBezTo>
                    <a:cubicBezTo>
                      <a:pt x="84" y="24"/>
                      <a:pt x="85" y="28"/>
                      <a:pt x="85" y="32"/>
                    </a:cubicBezTo>
                    <a:cubicBezTo>
                      <a:pt x="85" y="36"/>
                      <a:pt x="84" y="40"/>
                      <a:pt x="81" y="43"/>
                    </a:cubicBezTo>
                    <a:cubicBezTo>
                      <a:pt x="85" y="47"/>
                      <a:pt x="85" y="47"/>
                      <a:pt x="85" y="47"/>
                    </a:cubicBezTo>
                    <a:cubicBezTo>
                      <a:pt x="86" y="49"/>
                      <a:pt x="88" y="50"/>
                      <a:pt x="89" y="52"/>
                    </a:cubicBezTo>
                    <a:cubicBezTo>
                      <a:pt x="89" y="55"/>
                      <a:pt x="90" y="57"/>
                      <a:pt x="90" y="59"/>
                    </a:cubicBezTo>
                    <a:cubicBezTo>
                      <a:pt x="90" y="64"/>
                      <a:pt x="90" y="64"/>
                      <a:pt x="90" y="64"/>
                    </a:cubicBezTo>
                    <a:cubicBezTo>
                      <a:pt x="90" y="65"/>
                      <a:pt x="90" y="66"/>
                      <a:pt x="89" y="67"/>
                    </a:cubicBezTo>
                    <a:cubicBezTo>
                      <a:pt x="88" y="69"/>
                      <a:pt x="87" y="69"/>
                      <a:pt x="85" y="69"/>
                    </a:cubicBezTo>
                    <a:cubicBezTo>
                      <a:pt x="85" y="69"/>
                      <a:pt x="85" y="69"/>
                      <a:pt x="85" y="69"/>
                    </a:cubicBezTo>
                    <a:cubicBezTo>
                      <a:pt x="81" y="69"/>
                      <a:pt x="81" y="69"/>
                      <a:pt x="81" y="69"/>
                    </a:cubicBezTo>
                    <a:cubicBezTo>
                      <a:pt x="81" y="71"/>
                      <a:pt x="81" y="71"/>
                      <a:pt x="81" y="71"/>
                    </a:cubicBezTo>
                    <a:cubicBezTo>
                      <a:pt x="81" y="72"/>
                      <a:pt x="80" y="74"/>
                      <a:pt x="78" y="74"/>
                    </a:cubicBezTo>
                    <a:cubicBezTo>
                      <a:pt x="45" y="74"/>
                      <a:pt x="45" y="74"/>
                      <a:pt x="45" y="74"/>
                    </a:cubicBezTo>
                    <a:cubicBezTo>
                      <a:pt x="12" y="74"/>
                      <a:pt x="12" y="74"/>
                      <a:pt x="12" y="74"/>
                    </a:cubicBezTo>
                    <a:cubicBezTo>
                      <a:pt x="10" y="74"/>
                      <a:pt x="9" y="72"/>
                      <a:pt x="9" y="71"/>
                    </a:cubicBezTo>
                    <a:cubicBezTo>
                      <a:pt x="9" y="69"/>
                      <a:pt x="9" y="69"/>
                      <a:pt x="9" y="69"/>
                    </a:cubicBezTo>
                    <a:cubicBezTo>
                      <a:pt x="5" y="69"/>
                      <a:pt x="5" y="69"/>
                      <a:pt x="5" y="69"/>
                    </a:cubicBezTo>
                    <a:cubicBezTo>
                      <a:pt x="5" y="69"/>
                      <a:pt x="5" y="69"/>
                      <a:pt x="5" y="69"/>
                    </a:cubicBezTo>
                    <a:cubicBezTo>
                      <a:pt x="3" y="69"/>
                      <a:pt x="2" y="69"/>
                      <a:pt x="1" y="67"/>
                    </a:cubicBezTo>
                    <a:cubicBezTo>
                      <a:pt x="1" y="66"/>
                      <a:pt x="0" y="65"/>
                      <a:pt x="0" y="64"/>
                    </a:cubicBezTo>
                    <a:cubicBezTo>
                      <a:pt x="0" y="59"/>
                      <a:pt x="0" y="59"/>
                      <a:pt x="0" y="59"/>
                    </a:cubicBezTo>
                    <a:cubicBezTo>
                      <a:pt x="0" y="57"/>
                      <a:pt x="1" y="55"/>
                      <a:pt x="1" y="52"/>
                    </a:cubicBezTo>
                    <a:cubicBezTo>
                      <a:pt x="1" y="52"/>
                      <a:pt x="1" y="52"/>
                      <a:pt x="1" y="52"/>
                    </a:cubicBezTo>
                    <a:cubicBezTo>
                      <a:pt x="3" y="49"/>
                      <a:pt x="6" y="46"/>
                      <a:pt x="9" y="43"/>
                    </a:cubicBezTo>
                    <a:cubicBezTo>
                      <a:pt x="6" y="40"/>
                      <a:pt x="5" y="36"/>
                      <a:pt x="5" y="32"/>
                    </a:cubicBezTo>
                    <a:cubicBezTo>
                      <a:pt x="5" y="28"/>
                      <a:pt x="6" y="24"/>
                      <a:pt x="9" y="21"/>
                    </a:cubicBezTo>
                    <a:cubicBezTo>
                      <a:pt x="12" y="18"/>
                      <a:pt x="16" y="16"/>
                      <a:pt x="21" y="16"/>
                    </a:cubicBezTo>
                    <a:cubicBezTo>
                      <a:pt x="22" y="16"/>
                      <a:pt x="24" y="17"/>
                      <a:pt x="25" y="17"/>
                    </a:cubicBezTo>
                    <a:cubicBezTo>
                      <a:pt x="27" y="7"/>
                      <a:pt x="35" y="0"/>
                      <a:pt x="45" y="0"/>
                    </a:cubicBezTo>
                    <a:close/>
                    <a:moveTo>
                      <a:pt x="45" y="68"/>
                    </a:moveTo>
                    <a:cubicBezTo>
                      <a:pt x="45" y="68"/>
                      <a:pt x="45" y="68"/>
                      <a:pt x="45" y="68"/>
                    </a:cubicBezTo>
                    <a:cubicBezTo>
                      <a:pt x="54" y="68"/>
                      <a:pt x="54" y="68"/>
                      <a:pt x="54" y="68"/>
                    </a:cubicBezTo>
                    <a:cubicBezTo>
                      <a:pt x="54" y="63"/>
                      <a:pt x="54" y="59"/>
                      <a:pt x="54" y="55"/>
                    </a:cubicBezTo>
                    <a:cubicBezTo>
                      <a:pt x="54" y="54"/>
                      <a:pt x="55" y="53"/>
                      <a:pt x="56" y="53"/>
                    </a:cubicBezTo>
                    <a:cubicBezTo>
                      <a:pt x="57" y="53"/>
                      <a:pt x="57" y="54"/>
                      <a:pt x="57" y="55"/>
                    </a:cubicBezTo>
                    <a:cubicBezTo>
                      <a:pt x="57" y="62"/>
                      <a:pt x="57" y="62"/>
                      <a:pt x="57" y="62"/>
                    </a:cubicBezTo>
                    <a:cubicBezTo>
                      <a:pt x="65" y="62"/>
                      <a:pt x="65" y="62"/>
                      <a:pt x="65" y="62"/>
                    </a:cubicBezTo>
                    <a:cubicBezTo>
                      <a:pt x="65" y="62"/>
                      <a:pt x="65" y="62"/>
                      <a:pt x="65" y="62"/>
                    </a:cubicBezTo>
                    <a:cubicBezTo>
                      <a:pt x="65" y="55"/>
                      <a:pt x="65" y="55"/>
                      <a:pt x="65" y="55"/>
                    </a:cubicBezTo>
                    <a:cubicBezTo>
                      <a:pt x="65" y="47"/>
                      <a:pt x="60" y="43"/>
                      <a:pt x="54" y="38"/>
                    </a:cubicBezTo>
                    <a:cubicBezTo>
                      <a:pt x="51" y="39"/>
                      <a:pt x="48" y="40"/>
                      <a:pt x="45" y="40"/>
                    </a:cubicBezTo>
                    <a:cubicBezTo>
                      <a:pt x="42" y="40"/>
                      <a:pt x="39" y="39"/>
                      <a:pt x="36" y="38"/>
                    </a:cubicBezTo>
                    <a:cubicBezTo>
                      <a:pt x="30" y="43"/>
                      <a:pt x="25" y="47"/>
                      <a:pt x="25" y="55"/>
                    </a:cubicBezTo>
                    <a:cubicBezTo>
                      <a:pt x="25" y="62"/>
                      <a:pt x="25" y="62"/>
                      <a:pt x="25" y="62"/>
                    </a:cubicBezTo>
                    <a:cubicBezTo>
                      <a:pt x="25" y="62"/>
                      <a:pt x="25" y="62"/>
                      <a:pt x="25" y="62"/>
                    </a:cubicBezTo>
                    <a:cubicBezTo>
                      <a:pt x="32" y="62"/>
                      <a:pt x="32" y="62"/>
                      <a:pt x="32" y="62"/>
                    </a:cubicBezTo>
                    <a:cubicBezTo>
                      <a:pt x="32" y="55"/>
                      <a:pt x="32" y="55"/>
                      <a:pt x="32" y="55"/>
                    </a:cubicBezTo>
                    <a:cubicBezTo>
                      <a:pt x="32" y="54"/>
                      <a:pt x="33" y="53"/>
                      <a:pt x="34" y="53"/>
                    </a:cubicBezTo>
                    <a:cubicBezTo>
                      <a:pt x="35" y="53"/>
                      <a:pt x="36" y="54"/>
                      <a:pt x="36" y="55"/>
                    </a:cubicBezTo>
                    <a:cubicBezTo>
                      <a:pt x="36" y="59"/>
                      <a:pt x="36" y="63"/>
                      <a:pt x="36" y="68"/>
                    </a:cubicBezTo>
                    <a:cubicBezTo>
                      <a:pt x="45" y="68"/>
                      <a:pt x="45" y="68"/>
                      <a:pt x="45" y="68"/>
                    </a:cubicBezTo>
                    <a:close/>
                    <a:moveTo>
                      <a:pt x="45" y="34"/>
                    </a:moveTo>
                    <a:cubicBezTo>
                      <a:pt x="45" y="34"/>
                      <a:pt x="45" y="34"/>
                      <a:pt x="45" y="34"/>
                    </a:cubicBezTo>
                    <a:cubicBezTo>
                      <a:pt x="53" y="34"/>
                      <a:pt x="59" y="28"/>
                      <a:pt x="59" y="20"/>
                    </a:cubicBezTo>
                    <a:cubicBezTo>
                      <a:pt x="59" y="12"/>
                      <a:pt x="53" y="6"/>
                      <a:pt x="45" y="6"/>
                    </a:cubicBezTo>
                    <a:cubicBezTo>
                      <a:pt x="37" y="6"/>
                      <a:pt x="31" y="12"/>
                      <a:pt x="31" y="20"/>
                    </a:cubicBezTo>
                    <a:cubicBezTo>
                      <a:pt x="31" y="28"/>
                      <a:pt x="37" y="34"/>
                      <a:pt x="45" y="34"/>
                    </a:cubicBezTo>
                    <a:close/>
                    <a:moveTo>
                      <a:pt x="14" y="68"/>
                    </a:moveTo>
                    <a:cubicBezTo>
                      <a:pt x="14" y="68"/>
                      <a:pt x="14" y="68"/>
                      <a:pt x="14" y="68"/>
                    </a:cubicBezTo>
                    <a:cubicBezTo>
                      <a:pt x="23" y="68"/>
                      <a:pt x="23" y="68"/>
                      <a:pt x="23" y="68"/>
                    </a:cubicBezTo>
                    <a:cubicBezTo>
                      <a:pt x="22" y="67"/>
                      <a:pt x="21" y="67"/>
                      <a:pt x="20" y="66"/>
                    </a:cubicBezTo>
                    <a:cubicBezTo>
                      <a:pt x="19" y="65"/>
                      <a:pt x="19" y="63"/>
                      <a:pt x="19" y="62"/>
                    </a:cubicBezTo>
                    <a:cubicBezTo>
                      <a:pt x="19" y="55"/>
                      <a:pt x="19" y="55"/>
                      <a:pt x="19" y="55"/>
                    </a:cubicBezTo>
                    <a:cubicBezTo>
                      <a:pt x="19" y="53"/>
                      <a:pt x="19" y="50"/>
                      <a:pt x="20" y="48"/>
                    </a:cubicBezTo>
                    <a:cubicBezTo>
                      <a:pt x="18" y="48"/>
                      <a:pt x="16" y="48"/>
                      <a:pt x="14" y="47"/>
                    </a:cubicBezTo>
                    <a:cubicBezTo>
                      <a:pt x="11" y="49"/>
                      <a:pt x="8" y="51"/>
                      <a:pt x="7" y="55"/>
                    </a:cubicBezTo>
                    <a:cubicBezTo>
                      <a:pt x="7" y="55"/>
                      <a:pt x="7" y="55"/>
                      <a:pt x="7" y="55"/>
                    </a:cubicBezTo>
                    <a:cubicBezTo>
                      <a:pt x="7" y="55"/>
                      <a:pt x="7" y="55"/>
                      <a:pt x="7" y="55"/>
                    </a:cubicBezTo>
                    <a:cubicBezTo>
                      <a:pt x="6" y="56"/>
                      <a:pt x="6" y="58"/>
                      <a:pt x="6" y="59"/>
                    </a:cubicBezTo>
                    <a:cubicBezTo>
                      <a:pt x="6" y="64"/>
                      <a:pt x="6" y="64"/>
                      <a:pt x="6" y="64"/>
                    </a:cubicBezTo>
                    <a:cubicBezTo>
                      <a:pt x="11" y="64"/>
                      <a:pt x="11" y="64"/>
                      <a:pt x="11" y="64"/>
                    </a:cubicBezTo>
                    <a:cubicBezTo>
                      <a:pt x="11" y="59"/>
                      <a:pt x="11" y="59"/>
                      <a:pt x="11" y="59"/>
                    </a:cubicBezTo>
                    <a:cubicBezTo>
                      <a:pt x="11" y="58"/>
                      <a:pt x="12" y="57"/>
                      <a:pt x="13" y="57"/>
                    </a:cubicBezTo>
                    <a:cubicBezTo>
                      <a:pt x="14" y="57"/>
                      <a:pt x="14" y="58"/>
                      <a:pt x="14" y="59"/>
                    </a:cubicBezTo>
                    <a:cubicBezTo>
                      <a:pt x="14" y="68"/>
                      <a:pt x="14" y="68"/>
                      <a:pt x="14" y="68"/>
                    </a:cubicBezTo>
                    <a:close/>
                    <a:moveTo>
                      <a:pt x="25" y="23"/>
                    </a:moveTo>
                    <a:cubicBezTo>
                      <a:pt x="25" y="23"/>
                      <a:pt x="25" y="23"/>
                      <a:pt x="25" y="23"/>
                    </a:cubicBezTo>
                    <a:cubicBezTo>
                      <a:pt x="25" y="23"/>
                      <a:pt x="24" y="23"/>
                      <a:pt x="24" y="23"/>
                    </a:cubicBezTo>
                    <a:cubicBezTo>
                      <a:pt x="23" y="22"/>
                      <a:pt x="22" y="22"/>
                      <a:pt x="21" y="22"/>
                    </a:cubicBezTo>
                    <a:cubicBezTo>
                      <a:pt x="18" y="22"/>
                      <a:pt x="15" y="23"/>
                      <a:pt x="13" y="25"/>
                    </a:cubicBezTo>
                    <a:cubicBezTo>
                      <a:pt x="12" y="27"/>
                      <a:pt x="11" y="30"/>
                      <a:pt x="11" y="32"/>
                    </a:cubicBezTo>
                    <a:cubicBezTo>
                      <a:pt x="11" y="35"/>
                      <a:pt x="12" y="38"/>
                      <a:pt x="13" y="39"/>
                    </a:cubicBezTo>
                    <a:cubicBezTo>
                      <a:pt x="15" y="41"/>
                      <a:pt x="18" y="42"/>
                      <a:pt x="21" y="42"/>
                    </a:cubicBezTo>
                    <a:cubicBezTo>
                      <a:pt x="22" y="42"/>
                      <a:pt x="23" y="42"/>
                      <a:pt x="24" y="42"/>
                    </a:cubicBezTo>
                    <a:cubicBezTo>
                      <a:pt x="26" y="39"/>
                      <a:pt x="29" y="37"/>
                      <a:pt x="31" y="34"/>
                    </a:cubicBezTo>
                    <a:cubicBezTo>
                      <a:pt x="28" y="31"/>
                      <a:pt x="26" y="28"/>
                      <a:pt x="25" y="23"/>
                    </a:cubicBezTo>
                    <a:close/>
                    <a:moveTo>
                      <a:pt x="76" y="68"/>
                    </a:moveTo>
                    <a:cubicBezTo>
                      <a:pt x="76" y="68"/>
                      <a:pt x="76" y="68"/>
                      <a:pt x="76" y="68"/>
                    </a:cubicBezTo>
                    <a:cubicBezTo>
                      <a:pt x="76" y="59"/>
                      <a:pt x="76" y="59"/>
                      <a:pt x="76" y="59"/>
                    </a:cubicBezTo>
                    <a:cubicBezTo>
                      <a:pt x="76" y="58"/>
                      <a:pt x="76" y="57"/>
                      <a:pt x="77" y="57"/>
                    </a:cubicBezTo>
                    <a:cubicBezTo>
                      <a:pt x="78" y="57"/>
                      <a:pt x="79" y="58"/>
                      <a:pt x="79" y="59"/>
                    </a:cubicBezTo>
                    <a:cubicBezTo>
                      <a:pt x="79" y="64"/>
                      <a:pt x="79" y="64"/>
                      <a:pt x="79" y="64"/>
                    </a:cubicBezTo>
                    <a:cubicBezTo>
                      <a:pt x="84" y="64"/>
                      <a:pt x="84" y="64"/>
                      <a:pt x="84" y="64"/>
                    </a:cubicBezTo>
                    <a:cubicBezTo>
                      <a:pt x="84" y="59"/>
                      <a:pt x="84" y="59"/>
                      <a:pt x="84" y="59"/>
                    </a:cubicBezTo>
                    <a:cubicBezTo>
                      <a:pt x="84" y="58"/>
                      <a:pt x="84" y="56"/>
                      <a:pt x="83" y="55"/>
                    </a:cubicBezTo>
                    <a:cubicBezTo>
                      <a:pt x="83" y="53"/>
                      <a:pt x="82" y="52"/>
                      <a:pt x="81" y="51"/>
                    </a:cubicBezTo>
                    <a:cubicBezTo>
                      <a:pt x="76" y="47"/>
                      <a:pt x="76" y="47"/>
                      <a:pt x="76" y="47"/>
                    </a:cubicBezTo>
                    <a:cubicBezTo>
                      <a:pt x="74" y="48"/>
                      <a:pt x="72" y="48"/>
                      <a:pt x="70" y="48"/>
                    </a:cubicBezTo>
                    <a:cubicBezTo>
                      <a:pt x="71" y="50"/>
                      <a:pt x="71" y="53"/>
                      <a:pt x="71" y="55"/>
                    </a:cubicBezTo>
                    <a:cubicBezTo>
                      <a:pt x="71" y="62"/>
                      <a:pt x="71" y="62"/>
                      <a:pt x="71" y="62"/>
                    </a:cubicBezTo>
                    <a:cubicBezTo>
                      <a:pt x="71" y="63"/>
                      <a:pt x="71" y="65"/>
                      <a:pt x="70" y="66"/>
                    </a:cubicBezTo>
                    <a:cubicBezTo>
                      <a:pt x="69" y="67"/>
                      <a:pt x="68" y="67"/>
                      <a:pt x="67" y="68"/>
                    </a:cubicBezTo>
                    <a:cubicBezTo>
                      <a:pt x="76" y="68"/>
                      <a:pt x="76" y="68"/>
                      <a:pt x="76" y="68"/>
                    </a:cubicBezTo>
                    <a:close/>
                    <a:moveTo>
                      <a:pt x="65" y="23"/>
                    </a:moveTo>
                    <a:cubicBezTo>
                      <a:pt x="65" y="23"/>
                      <a:pt x="65" y="23"/>
                      <a:pt x="65" y="23"/>
                    </a:cubicBezTo>
                    <a:cubicBezTo>
                      <a:pt x="64" y="28"/>
                      <a:pt x="62" y="31"/>
                      <a:pt x="59" y="34"/>
                    </a:cubicBezTo>
                    <a:cubicBezTo>
                      <a:pt x="61" y="37"/>
                      <a:pt x="64" y="39"/>
                      <a:pt x="66" y="42"/>
                    </a:cubicBezTo>
                    <a:cubicBezTo>
                      <a:pt x="66" y="42"/>
                      <a:pt x="67" y="42"/>
                      <a:pt x="67" y="42"/>
                    </a:cubicBezTo>
                    <a:cubicBezTo>
                      <a:pt x="68" y="42"/>
                      <a:pt x="69" y="42"/>
                      <a:pt x="69" y="42"/>
                    </a:cubicBezTo>
                    <a:cubicBezTo>
                      <a:pt x="72" y="42"/>
                      <a:pt x="75" y="41"/>
                      <a:pt x="77" y="39"/>
                    </a:cubicBezTo>
                    <a:cubicBezTo>
                      <a:pt x="78" y="38"/>
                      <a:pt x="79" y="35"/>
                      <a:pt x="79" y="32"/>
                    </a:cubicBezTo>
                    <a:cubicBezTo>
                      <a:pt x="79" y="30"/>
                      <a:pt x="78" y="27"/>
                      <a:pt x="77" y="25"/>
                    </a:cubicBezTo>
                    <a:cubicBezTo>
                      <a:pt x="75" y="23"/>
                      <a:pt x="72" y="22"/>
                      <a:pt x="69" y="22"/>
                    </a:cubicBezTo>
                    <a:cubicBezTo>
                      <a:pt x="68" y="22"/>
                      <a:pt x="67" y="22"/>
                      <a:pt x="66" y="23"/>
                    </a:cubicBezTo>
                    <a:cubicBezTo>
                      <a:pt x="66" y="23"/>
                      <a:pt x="65" y="23"/>
                      <a:pt x="65" y="2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2000"/>
              </a:p>
            </p:txBody>
          </p:sp>
        </p:grpSp>
        <p:sp>
          <p:nvSpPr>
            <p:cNvPr id="123" name="Rectangle 53"/>
            <p:cNvSpPr>
              <a:spLocks noChangeArrowheads="1"/>
            </p:cNvSpPr>
            <p:nvPr/>
          </p:nvSpPr>
          <p:spPr bwMode="auto">
            <a:xfrm>
              <a:off x="16584" y="6069"/>
              <a:ext cx="2493"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2000" b="1" dirty="0">
                  <a:solidFill>
                    <a:srgbClr val="D6AA42"/>
                  </a:solidFill>
                  <a:latin typeface="微软雅黑" panose="020B0503020204020204" charset="-122"/>
                  <a:sym typeface="Calibri" panose="020F0502020204030204" charset="0"/>
                </a:rPr>
                <a:t>转让结果公告</a:t>
              </a:r>
              <a:endParaRPr lang="zh-CN" altLang="en-US" sz="2000" b="1" dirty="0">
                <a:solidFill>
                  <a:srgbClr val="D6AA42"/>
                </a:solidFill>
                <a:latin typeface="微软雅黑" panose="020B0503020204020204" charset="-122"/>
                <a:sym typeface="Calibri" panose="020F0502020204030204" charset="0"/>
              </a:endParaRPr>
            </a:p>
          </p:txBody>
        </p:sp>
      </p:grpSp>
      <p:sp>
        <p:nvSpPr>
          <p:cNvPr id="3" name="Rectangle 56"/>
          <p:cNvSpPr>
            <a:spLocks noChangeArrowheads="1"/>
          </p:cNvSpPr>
          <p:nvPr/>
        </p:nvSpPr>
        <p:spPr bwMode="auto">
          <a:xfrm>
            <a:off x="8827770" y="4002405"/>
            <a:ext cx="1638935" cy="731520"/>
          </a:xfrm>
          <a:prstGeom prst="rect">
            <a:avLst/>
          </a:prstGeom>
          <a:noFill/>
          <a:ln>
            <a:noFill/>
          </a:ln>
          <a:extLst>
            <a:ext uri="{909E8E84-426E-40DD-AFC4-6F175D3DCCD1}">
              <a14:hiddenFill xmlns:a14="http://schemas.microsoft.com/office/drawing/2010/main">
                <a:solidFill>
                  <a:srgbClr val="FFFFFF"/>
                </a:solidFill>
              </a14:hiddenFill>
            </a:ext>
          </a:extLst>
        </p:spPr>
        <p:txBody>
          <a:bodyPr wrap="square" lIns="0" tIns="0" rIns="0" bIns="0">
            <a:spAutoFit/>
          </a:bodyPr>
          <a:lstStyle/>
          <a:p>
            <a:pPr lvl="0" algn="ctr">
              <a:lnSpc>
                <a:spcPct val="120000"/>
              </a:lnSpc>
            </a:pPr>
            <a:r>
              <a:rPr lang="zh-CN" altLang="en-US" sz="2000" b="1" dirty="0">
                <a:latin typeface="微软雅黑" panose="020B0503020204020204" charset="-122"/>
                <a:sym typeface="+mn-ea"/>
              </a:rPr>
              <a:t>档案移交后</a:t>
            </a:r>
            <a:endParaRPr lang="zh-CN" altLang="en-US" sz="2000" b="1" dirty="0">
              <a:latin typeface="微软雅黑" panose="020B0503020204020204" charset="-122"/>
              <a:sym typeface="+mn-ea"/>
            </a:endParaRPr>
          </a:p>
          <a:p>
            <a:pPr lvl="0" algn="ctr">
              <a:lnSpc>
                <a:spcPct val="120000"/>
              </a:lnSpc>
            </a:pPr>
            <a:r>
              <a:rPr lang="zh-CN" altLang="en-US" sz="2000" b="1" dirty="0">
                <a:latin typeface="微软雅黑" panose="020B0503020204020204" charset="-122"/>
                <a:sym typeface="+mn-ea"/>
              </a:rPr>
              <a:t>3个工作日</a:t>
            </a:r>
            <a:endParaRPr lang="zh-CN" altLang="en-US" sz="2000" b="1" dirty="0">
              <a:latin typeface="微软雅黑" panose="020B0503020204020204" charset="-122"/>
              <a:sym typeface="+mn-ea"/>
            </a:endParaRPr>
          </a:p>
        </p:txBody>
      </p:sp>
    </p:spTree>
    <p:custDataLst>
      <p:tags r:id="rId1"/>
    </p:custDataLst>
  </p:cSld>
  <p:clrMapOvr>
    <a:masterClrMapping/>
  </p:clrMapOvr>
  <p:transition>
    <p:fade/>
  </p:transition>
</p:sld>
</file>

<file path=ppt/tags/tag1.xml><?xml version="1.0" encoding="utf-8"?>
<p:tagLst xmlns:p="http://schemas.openxmlformats.org/presentationml/2006/main">
  <p:tag name="ISLIDE.DIAGRAM" val="#345290;"/>
  <p:tag name="ISLIDE.ICON" val="#404883;#404883;#399341;#393963;#393963;#399341;#399341;#379676;#404883;"/>
</p:tagLst>
</file>

<file path=ppt/tags/tag2.xml><?xml version="1.0" encoding="utf-8"?>
<p:tagLst xmlns:p="http://schemas.openxmlformats.org/presentationml/2006/main">
  <p:tag name="ISLIDE.DIAGRAM" val="#345290;"/>
  <p:tag name="ISLIDE.ICON" val="#404883;#404883;#399341;#393963;#393963;#399341;#399341;#379676;#404883;"/>
</p:tagLst>
</file>

<file path=ppt/tags/tag3.xml><?xml version="1.0" encoding="utf-8"?>
<p:tagLst xmlns:p="http://schemas.openxmlformats.org/presentationml/2006/main">
  <p:tag name="ISLIDE.DIAGRAM" val="#345290;"/>
  <p:tag name="ISLIDE.ICON" val="#404883;#404883;#399341;#393963;#393963;#399341;#399341;#379676;#404883;"/>
</p:tagLst>
</file>

<file path=ppt/tags/tag4.xml><?xml version="1.0" encoding="utf-8"?>
<p:tagLst xmlns:p="http://schemas.openxmlformats.org/presentationml/2006/main">
  <p:tag name="ISLIDE.DIAGRAM" val="#345290;"/>
  <p:tag name="ISLIDE.ICON" val="#404883;#404883;#399341;#393963;#393963;#399341;#399341;#379676;#404883;"/>
</p:tagLst>
</file>

<file path=ppt/tags/tag5.xml><?xml version="1.0" encoding="utf-8"?>
<p:tagLst xmlns:p="http://schemas.openxmlformats.org/presentationml/2006/main">
  <p:tag name="ISLIDE.DIAGRAM" val="#345290;"/>
  <p:tag name="ISLIDE.ICON" val="#404883;#404883;#399341;#393963;#393963;#399341;#399341;#379676;#404883;"/>
</p:tagLst>
</file>

<file path=ppt/tags/tag6.xml><?xml version="1.0" encoding="utf-8"?>
<p:tagLst xmlns:p="http://schemas.openxmlformats.org/presentationml/2006/main">
  <p:tag name="ISLIDE.DIAGRAM" val="#345290;"/>
  <p:tag name="ISLIDE.ICON" val="#404883;#404883;#399341;#393963;#393963;#399341;#399341;#379676;#404883;"/>
</p:tagLst>
</file>

<file path=ppt/tags/tag7.xml><?xml version="1.0" encoding="utf-8"?>
<p:tagLst xmlns:p="http://schemas.openxmlformats.org/presentationml/2006/main">
  <p:tag name="ISLIDE.DIAGRAM" val="#345290;"/>
  <p:tag name="ISLIDE.ICON" val="#404883;#404883;#399341;#393963;#393963;#399341;#399341;#379676;#404883;"/>
</p:tagLst>
</file>

<file path=ppt/theme/theme1.xml><?xml version="1.0" encoding="utf-8"?>
<a:theme xmlns:a="http://schemas.openxmlformats.org/drawingml/2006/main" name="1_默认设计模板_3">
  <a:themeElements>
    <a:clrScheme name="默认设计模板_3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fontScheme name="默认设计模板_3">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_3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3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3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3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3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3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3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3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3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3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3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3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1076</Words>
  <Application>WPS 演示</Application>
  <PresentationFormat>宽屏</PresentationFormat>
  <Paragraphs>228</Paragraphs>
  <Slides>7</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7</vt:i4>
      </vt:variant>
    </vt:vector>
  </HeadingPairs>
  <TitlesOfParts>
    <vt:vector size="22" baseType="lpstr">
      <vt:lpstr>Arial</vt:lpstr>
      <vt:lpstr>宋体</vt:lpstr>
      <vt:lpstr>Wingdings</vt:lpstr>
      <vt:lpstr>Arial Unicode MS</vt:lpstr>
      <vt:lpstr>Arial Black</vt:lpstr>
      <vt:lpstr>微软雅黑</vt:lpstr>
      <vt:lpstr>黑体</vt:lpstr>
      <vt:lpstr>Tw Cen MT</vt:lpstr>
      <vt:lpstr>华文仿宋</vt:lpstr>
      <vt:lpstr>Calibri</vt:lpstr>
      <vt:lpstr>Gill Sans</vt:lpstr>
      <vt:lpstr>Source Sans Pro Regular</vt:lpstr>
      <vt:lpstr>Segoe Print</vt:lpstr>
      <vt:lpstr>Arial</vt:lpstr>
      <vt:lpstr>1_默认设计模板_3</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孟繁强</dc:creator>
  <cp:lastModifiedBy>孟繁强</cp:lastModifiedBy>
  <cp:revision>3</cp:revision>
  <dcterms:created xsi:type="dcterms:W3CDTF">2019-09-19T02:01:00Z</dcterms:created>
  <dcterms:modified xsi:type="dcterms:W3CDTF">2024-03-22T00:29:58Z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2052-11.8.2.9022</vt:lpwstr>
  </property>
</Properties>
</file>